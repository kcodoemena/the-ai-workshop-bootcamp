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018" autoAdjust="0"/>
  </p:normalViewPr>
  <p:slideViewPr>
    <p:cSldViewPr snapToGrid="0" snapToObjects="1">
      <p:cViewPr varScale="1">
        <p:scale>
          <a:sx n="95" d="100"/>
          <a:sy n="95" d="100"/>
        </p:scale>
        <p:origin x="11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04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 everyone, welcome back. Good to see you all on a Saturday afternoon.</a:t>
            </a:r>
          </a:p>
          <a:p>
            <a:r>
              <a:rPr lang="en-GB" dirty="0"/>
              <a:t>Quick reintroduction for anyone who hasn't met me before, or who's new to the bootcamp. I'm Kelechi. I'm a Technical Lead and Senior Analytics Engineer at a healthcare SaaS company called Carradale Futures, based here in London. We build data and AI tools used by clinical teams across the UK and Australia. And honestly, the stuff we're covering today, data profiling, that's probably the single most important habit I've picked up in my career. I do it pretty much every day at work.</a:t>
            </a:r>
          </a:p>
          <a:p>
            <a:endParaRPr lang="en-GB" dirty="0"/>
          </a:p>
          <a:p>
            <a:r>
              <a:rPr lang="en-GB" dirty="0"/>
              <a:t>Right, this is Week 10. We're now ten weeks into a fourteen-week journey. Up to now we've been writing queries that pull data out and shape it. Today we flip the question round. Today is about looking at data and asking, can I actually trust this before I do anything with it?</a:t>
            </a:r>
          </a:p>
          <a:p>
            <a:r>
              <a:rPr lang="en-GB" dirty="0"/>
              <a:t>Right,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 orientation. We are ten weeks into a fourteen-week journey, four weeks left after today.</a:t>
            </a:r>
          </a:p>
          <a:p>
            <a:r>
              <a:rPr lang="en-GB" dirty="0"/>
              <a:t>Last week we did Subqueries and CTEs. Those gave us tools for composing complex queries from smaller, readable pieces. Useful skill, and we're going to use that same pattern today.</a:t>
            </a:r>
          </a:p>
          <a:p>
            <a:r>
              <a:rPr lang="en-GB" dirty="0"/>
              <a:t>This week we shift focus completely. Today is not about pulling data out of a database. It's about looking at data already in front of you and asking a different question. Can I trust this? What's in here? What's missing? What's weird?</a:t>
            </a:r>
          </a:p>
          <a:p>
            <a:r>
              <a:rPr lang="en-GB" dirty="0"/>
              <a:t>And next week we extend today's findings into something more formal. Quality checks you can automate and run on a schedule. So this and next week are really a two-part story.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 walk-through of the agenda. Seven things on the list.</a:t>
            </a:r>
          </a:p>
          <a:p>
            <a:r>
              <a:rPr lang="en-GB" dirty="0"/>
              <a:t>The first half is conceptual. The four lenses framework, then the anomaly detection patterns. Both with live SQL on our BootcampDB.</a:t>
            </a:r>
          </a:p>
          <a:p>
            <a:r>
              <a:rPr lang="en-GB" dirty="0"/>
              <a:t>The second half is hands-on. You'll write your own profile queries, and we'll do an AI demo where I'll show you how to turn a vague request into a usable, production-grade query in seconds.</a:t>
            </a:r>
          </a:p>
          <a:p>
            <a:r>
              <a:rPr lang="en-GB" dirty="0"/>
              <a:t>If you have to drop off early, no stress. The slides, the SQL files, and the cheat sheet will all be in the GitHub repo right after this session. Right, let's get into the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me set up the why first, because profiling is one of those skills where the value is invisible until something goes wrong.</a:t>
            </a:r>
          </a:p>
          <a:p>
            <a:r>
              <a:rPr lang="en-GB" dirty="0"/>
              <a:t>Picture this. You join a new team. Your manager hands you a dataset and says, build us a dashboard from this. So you crack on, you write your queries, you build the dashboard. Looks great. Goes live.</a:t>
            </a:r>
          </a:p>
          <a:p>
            <a:r>
              <a:rPr lang="en-GB" dirty="0"/>
              <a:t>Two weeks later, the head of operations is in your manager's office asking why the numbers are wrong. And they are wrong. Because thirty percent of the rows in that source table had NULL in the column you were averaging. Or because the system uses 9999-12-31 to mean 'not discharged yet', and your max date calculation includes it. Or because the same patient shows up twice with slightly different spellings of their name.</a:t>
            </a:r>
          </a:p>
          <a:p>
            <a:r>
              <a:rPr lang="en-GB" dirty="0"/>
              <a:t>Look at the right side of the slide. With profiling, you catch all that stuff in the first hour. Before you've written a single line of analysis. Before the dashboard goes live. Before your name's on it.</a:t>
            </a:r>
          </a:p>
          <a:p>
            <a:r>
              <a:rPr lang="en-GB" dirty="0"/>
              <a:t>Profiling is the cheap insurance policy. Twenty minutes of profiling saves you two weeks of debugging.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this is the mental model for the whole session. The four lenses.</a:t>
            </a:r>
          </a:p>
          <a:p>
            <a:r>
              <a:rPr lang="en-GB" dirty="0"/>
              <a:t>Every dataset you encounter, for the rest of your career, gets put through these four questions, in this order.</a:t>
            </a:r>
          </a:p>
          <a:p>
            <a:r>
              <a:rPr lang="en-GB" dirty="0"/>
              <a:t>Shape. How big is it. Just a COUNT star.</a:t>
            </a:r>
          </a:p>
          <a:p>
            <a:r>
              <a:rPr lang="en-GB" dirty="0"/>
              <a:t>Completeness. How much is missing. The CASE-WHEN-IS-NULL pattern, one per column.</a:t>
            </a:r>
          </a:p>
          <a:p>
            <a:r>
              <a:rPr lang="en-GB" dirty="0"/>
              <a:t>Uniqueness. How varied is each column. COUNT DISTINCT.</a:t>
            </a:r>
          </a:p>
          <a:p>
            <a:r>
              <a:rPr lang="en-GB" dirty="0"/>
              <a:t>Range. Where do values fall. Min, max, average, standard deviation.</a:t>
            </a:r>
          </a:p>
          <a:p>
            <a:r>
              <a:rPr lang="en-GB" dirty="0"/>
              <a:t>That's it. The whole framework. If you do these four for any new dataset before you do anything else with it, you will catch ninety percent of the bugs that would otherwise reach production. The rest of today is really just unpacking each of these in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before we write any profile queries, quick refresher on the schema. Same BootcampDB we've been using all bootcamp. Four tables.</a:t>
            </a:r>
          </a:p>
          <a:p>
            <a:r>
              <a:rPr lang="en-GB" dirty="0"/>
              <a:t>Now I've marked each table with the bit that's juicy for profiling, highlighted in amber at the bottom of each card.</a:t>
            </a:r>
          </a:p>
          <a:p>
            <a:r>
              <a:rPr lang="en-GB" dirty="0"/>
              <a:t>Patients has the format-validation goldmine. NHS numbers, postcodes, dates of birth. Lots to check.</a:t>
            </a:r>
          </a:p>
          <a:p>
            <a:r>
              <a:rPr lang="en-GB" dirty="0"/>
              <a:t>Wards is small but Site has a NULL in our seed data. Easy spot.</a:t>
            </a:r>
          </a:p>
          <a:p>
            <a:r>
              <a:rPr lang="en-GB" dirty="0"/>
              <a:t>Admissions has missing DischargeDate where patients are still in hospital. Plus only three distinct AdmissionTypes, so we can do cardinality analysis.</a:t>
            </a:r>
          </a:p>
          <a:p>
            <a:r>
              <a:rPr lang="en-GB" dirty="0"/>
              <a:t>And Observations is the most interesting. ObsValue is stored as text, so it has BP readings like 145 slash 90, percentages like 88%, decimals like 38.2 all in the same column. Beautiful mess. Real-world data looks like this all the time.</a:t>
            </a:r>
          </a:p>
          <a:p>
            <a:r>
              <a:rPr lang="en-GB" dirty="0"/>
              <a:t>These are the natural quirks I'll be pointing at as we go through each lens. Keep this schema in mind.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Lens one. Shape. The very first thing you do with any new dataset. Count the rows.</a:t>
            </a:r>
          </a:p>
          <a:p>
            <a:r>
              <a:rPr lang="en-GB" dirty="0"/>
              <a:t>Sounds basic, and it is. But you'd be surprised how often this single step surfaces something useful.</a:t>
            </a:r>
          </a:p>
          <a:p>
            <a:r>
              <a:rPr lang="en-GB" dirty="0"/>
              <a:t>Look at the question list on the left. Is the size what you expected? If your manager says we serve a thousand patients a year and the table has twelve, something's wrong. Either the data's filtered, the table's wrong, or your manager's wrong.</a:t>
            </a:r>
          </a:p>
          <a:p>
            <a:r>
              <a:rPr lang="en-GB" dirty="0"/>
              <a:t>Do related tables agree in shape? Observations should always be bigger than admissions, because each admission has multiple readings. If observations is smaller, something's missing.</a:t>
            </a:r>
          </a:p>
          <a:p>
            <a:r>
              <a:rPr lang="en-GB" dirty="0"/>
              <a:t>Has the size changed since yesterday? This is the one that catches broken pipelines. Yesterday a thousand rows, today fifty. Something failed silently overnight.</a:t>
            </a:r>
          </a:p>
          <a:p>
            <a:r>
              <a:rPr lang="en-GB" dirty="0"/>
              <a:t>The query on the right is the pattern I use all the time. Tagged UNION ALL gives you a shape report for the whole database in one go. I'll run that live now.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Lens two. Completeness. NULL profiling.</a:t>
            </a:r>
          </a:p>
          <a:p>
            <a:r>
              <a:rPr lang="en-GB" dirty="0"/>
              <a:t>Before we get into the SQL, I want you to reframe how you think about NULLs. A NULL doesn't mean the data is broken. It means the value is unknown. That's information. The question isn't, are there NULLs. The question is, what's the PATTERN of NULLs?</a:t>
            </a:r>
          </a:p>
          <a:p>
            <a:r>
              <a:rPr lang="en-GB" dirty="0"/>
              <a:t>Look at the cards on the left. Ten percent NULL on an optional field is normal. Document it and move on. Fifty percent is a red flag. Either the field is meaningless or there's a bug somewhere upstream. A hundred percent is a dead column.</a:t>
            </a:r>
          </a:p>
          <a:p>
            <a:r>
              <a:rPr lang="en-GB" dirty="0"/>
              <a:t>And this is the one people miss. Zero percent NULL on a NULLABLE column is also suspicious. Why? Because it usually means the source system is filling in sentinel values instead of leaving things blank. Things like the date 1900-01-01 or the string 'N/A'. So you don't have NULLs in your data, you have NULLs in disguise.</a:t>
            </a:r>
          </a:p>
          <a:p>
            <a:r>
              <a:rPr lang="en-GB" dirty="0"/>
              <a:t>The query on the right is the pattern I want you to memorise. One SUM with a CASE per column, all in a single SELECT. Returns one row with the whole NULL profile. Beautiful. Let me run it live.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Lens three. Uniqueness. Also called cardinality.</a:t>
            </a:r>
          </a:p>
          <a:p>
            <a:r>
              <a:rPr lang="en-GB" dirty="0"/>
              <a:t>The question is, for each column, how many distinct values are there? And that count tells you what KIND of column you're dealing with.</a:t>
            </a:r>
          </a:p>
          <a:p>
            <a:r>
              <a:rPr lang="en-GB" dirty="0"/>
              <a:t>Low cardinality, two to ten distinct values, those are categories. Gender, admission type, ward type. You can list them all on one screen.</a:t>
            </a:r>
          </a:p>
          <a:p>
            <a:r>
              <a:rPr lang="en-GB" dirty="0"/>
              <a:t>Medium cardinality, ten to a thousand, those are enumerated lists. Diagnoses, wards, GPs. Too many to list but still a fixed set.</a:t>
            </a:r>
          </a:p>
          <a:p>
            <a:r>
              <a:rPr lang="en-GB" dirty="0"/>
              <a:t>High cardinality, a thousand or more, those are near-unique columns. Patient IDs, NHS numbers. Each row is more or less distinct.</a:t>
            </a:r>
          </a:p>
          <a:p>
            <a:r>
              <a:rPr lang="en-GB" dirty="0"/>
              <a:t>Knowing which type you're looking at changes what you do next. For low cardinality columns, you want a frequency table like the one at the bottom of the slide. For high cardinality columns, you don't want a frequency table at all, you want a TOP N most common, or a distinct count.</a:t>
            </a:r>
          </a:p>
          <a:p>
            <a:r>
              <a:rPr lang="en-GB" dirty="0"/>
              <a:t>Quick note on the SQL at the bottom. That SUM-COUNT-OVER trick is lovely. It sums the per-group counts across the entire result set, which gives you the grand total. Then you divide by it to get a percentage. All in one pass, no subquery. Worth committing to memory.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Lens four. Range and distribution. The fourth and final lens.</a:t>
            </a:r>
          </a:p>
          <a:p>
            <a:r>
              <a:rPr lang="en-GB" dirty="0"/>
              <a:t>Start simple. MIN and MAX give you the boundaries. AVG gives you the centre of mass. STDEV gives you the spread.</a:t>
            </a:r>
          </a:p>
          <a:p>
            <a:r>
              <a:rPr lang="en-GB" dirty="0"/>
              <a:t>But what you really care about is the DISTRIBUTION. Are the values clustered tightly around the mean? Are they uniformly spread out? Are they skewed, with a long tail in one direction?</a:t>
            </a:r>
          </a:p>
          <a:p>
            <a:r>
              <a:rPr lang="en-GB" dirty="0"/>
              <a:t>That's what the histogram on the left is showing. We bucket the data into bands and count how many fall into each. We'll write the SQL for that on the next slide.</a:t>
            </a:r>
          </a:p>
          <a:p>
            <a:r>
              <a:rPr lang="en-GB" dirty="0"/>
              <a:t>One quick tip. Always run MIN and MAX BEFORE you design your histogram buckets. If you guess at the buckets and your data is from 18 to 50, but you bucket from 0 to 100 in tens, you'll waste half your buckets. Look at the boundaries first, then bucket sensibly.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so how do we actually build a distribution in SQL? The CASE bucket pattern. This is the technique you use all the time.</a:t>
            </a:r>
          </a:p>
          <a:p>
            <a:r>
              <a:rPr lang="en-GB" dirty="0"/>
              <a:t>Look at the query on the left. We're computing the patient's age, then we bucket them into four bands. Under forty, forty to fifty-nine, sixty to seventy-nine, eighty plus. Then we group by the bucket and count.</a:t>
            </a:r>
          </a:p>
          <a:p>
            <a:r>
              <a:rPr lang="en-GB" dirty="0"/>
              <a:t>One thing to watch out for. The CASE has to appear in both SELECT and GROUP BY. That feels repetitive. If it bothers you, wrap the CASE in a CTE first, then group by the alias. We covered CTEs last week, so you can definitely do that.</a:t>
            </a:r>
          </a:p>
          <a:p>
            <a:r>
              <a:rPr lang="en-GB" dirty="0"/>
              <a:t>And here's the key insight. The numeric result on its own is hard to interpret. But once you SEE the distribution, like the bar chart on the right, you can read the shape of your data at a glance. Heavily middle-aged in this case. That tells you something about your patient population that no average could ever tell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lens four covered. Now we move into anomaly detection. Three sub-topics, this is the first.</a:t>
            </a:r>
          </a:p>
          <a:p>
            <a:r>
              <a:rPr lang="en-GB" dirty="0"/>
              <a:t>Statistical outliers. The values that are mathematically extreme compared to the rest of the distribution.</a:t>
            </a:r>
          </a:p>
          <a:p>
            <a:r>
              <a:rPr lang="en-GB" dirty="0"/>
              <a:t>Three common methods. Z-score is the most common, it measures how many standard deviations a value is from the mean. Anything beyond two is typically called an outlier.</a:t>
            </a:r>
          </a:p>
          <a:p>
            <a:r>
              <a:rPr lang="en-GB" dirty="0"/>
              <a:t>IQR is the interquartile range method. More robust to skewed data than z-score. You compute the first and third quartile, anything outside Q1 minus one-and-a-half IQRs, or Q3 plus one-and-a-half IQRs, is an outlier. Same definition as a box plot whisker.</a:t>
            </a:r>
          </a:p>
          <a:p>
            <a:r>
              <a:rPr lang="en-GB" dirty="0"/>
              <a:t>Percentile is the simplest. Just say, bottom one percent and top one percent are outliers. Useful when you have a lot of data and don't want to assume a particular distribution shape.</a:t>
            </a:r>
          </a:p>
          <a:p>
            <a:r>
              <a:rPr lang="en-GB" dirty="0"/>
              <a:t>The query at the bottom shows the z-score approach using a CTE. Notice how the CTE pattern from last week makes this readable. Compute the stats once, join them in, calculate the z-score. The NULLIF guards against divide-by-zero when the standard deviation is exactly zero, which happens when all values are identical.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Second type of anomaly. Pattern and format.</a:t>
            </a:r>
          </a:p>
          <a:p>
            <a:r>
              <a:rPr lang="en-GB" dirty="0"/>
              <a:t>Not every anomaly shows up as a big number or a small number. Some show up because the SHAPE of the value is wrong. The string is too short. There's a letter where a digit should be. The whitespace is off. The postcode doesn't look like a postcode.</a:t>
            </a:r>
          </a:p>
          <a:p>
            <a:r>
              <a:rPr lang="en-GB" dirty="0"/>
              <a:t>Look at the table. NHS numbers should be exactly ten digits. If they're not, flag them. Postcodes should match a UK pattern. If they don't, flag them. Numeric values stored as text, like our ObsValue column, should be parseable as numbers. TRY_CAST is your friend here. It returns NULL if the cast fails, so any NULL after a TRY_CAST tells you the value isn't numeric.</a:t>
            </a:r>
          </a:p>
          <a:p>
            <a:r>
              <a:rPr lang="en-GB" dirty="0"/>
              <a:t>And whitespace is the silent killer. Leading or trailing spaces will make 'Male' not equal 'Male ' in your WHERE clauses. The check on the last row catches that.</a:t>
            </a:r>
          </a:p>
          <a:p>
            <a:r>
              <a:rPr lang="en-GB" dirty="0"/>
              <a:t>Our Observations table is a beautiful example of mixed formats. Percentages, blood pressure readings as fractions, plain decimals, all in the same column. Let me show you how to profile that live.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third anomaly type. Sentinel values. Or as I call them, NULLs in disguise.</a:t>
            </a:r>
          </a:p>
          <a:p>
            <a:r>
              <a:rPr lang="en-GB" dirty="0"/>
              <a:t>Sometimes a source system doesn't allow NULLs in a column. The field is mandatory at the database level. But the data isn't always known. So whoever's keying it in has to put SOMETHING. And they put a placeholder. And those placeholders pollute your dataset.</a:t>
            </a:r>
          </a:p>
          <a:p>
            <a:r>
              <a:rPr lang="en-GB" dirty="0"/>
              <a:t>Look at the four categories. Dates: 1900-01-01 is the classic. Why? Because SQL Server's default DATETIME starts at 1753, but a lot of applications use 1900 as a default. 9999-12-31 means 'not yet, end of time, still active'. Both of these will completely break your MAX calculations.</a:t>
            </a:r>
          </a:p>
          <a:p>
            <a:r>
              <a:rPr lang="en-GB" dirty="0"/>
              <a:t>Numbers: minus one, zero, 9999 are all common 'I don't know' codes.</a:t>
            </a:r>
          </a:p>
          <a:p>
            <a:r>
              <a:rPr lang="en-GB" dirty="0"/>
              <a:t>Strings: 'N/A', 'Unknown', a question mark, 'TBC'. People type all sorts of things.</a:t>
            </a:r>
          </a:p>
          <a:p>
            <a:r>
              <a:rPr lang="en-GB" dirty="0"/>
              <a:t>And IDs: test data with ID equal to zero, or strings of all zeros, or literally the string 'TEST'.</a:t>
            </a:r>
          </a:p>
          <a:p>
            <a:r>
              <a:rPr lang="en-GB" dirty="0"/>
              <a:t>Your profile MUST look for these explicitly. Not just NULLs. WHERE col equals 'N/A' is a real, valuable query.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Fourth and final anomaly type. Cross-field consistency.</a:t>
            </a:r>
          </a:p>
          <a:p>
            <a:r>
              <a:rPr lang="en-GB" dirty="0"/>
              <a:t>This is the sneaky one. Every individual column can pass every single check, NULL profile, format profile, range profile, all clean. And the dataset can STILL be wrong, because the columns disagree with each other.</a:t>
            </a:r>
          </a:p>
          <a:p>
            <a:r>
              <a:rPr lang="en-GB" dirty="0"/>
              <a:t>Three examples on the slide. First, logical impossibility. A discharge date BEFORE the admission date. Both dates are valid dates. Both are in a sensible range. But together they say someone left hospital before they arrived. That's broken.</a:t>
            </a:r>
          </a:p>
          <a:p>
            <a:r>
              <a:rPr lang="en-GB" dirty="0"/>
              <a:t>Second, out of window. An observation recorded before the patient was admitted, or after they were discharged. Each timestamp is fine on its own. The relationship is broken.</a:t>
            </a:r>
          </a:p>
          <a:p>
            <a:r>
              <a:rPr lang="en-GB" dirty="0"/>
              <a:t>Third, reference mismatch. A patient is recorded as currently admitted, but has no ward assigned. Each column is individually plausible. Together, impossible.</a:t>
            </a:r>
          </a:p>
          <a:p>
            <a:r>
              <a:rPr lang="en-GB" dirty="0"/>
              <a:t>These cross-field checks are what separate the casual profiler from the rigorous one. And they're often the bugs that cause the most damage downstream, because they pass all the simple single-column checks.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let me speed through five pitfalls I see all the time. About ten seconds each. The point isn't to memorise them. It's to recognise them later.</a:t>
            </a:r>
          </a:p>
          <a:p>
            <a:r>
              <a:rPr lang="en-GB" dirty="0"/>
              <a:t>One. Profiling one table at a time. Bugs hide at the joins. Always profile related tables together.</a:t>
            </a:r>
          </a:p>
          <a:p>
            <a:r>
              <a:rPr lang="en-GB" dirty="0"/>
              <a:t>Two. Trusting COUNT star. It includes rows of pure NULL data. If you want to know how many rows have real data, COUNT a non-null column.</a:t>
            </a:r>
          </a:p>
          <a:p>
            <a:r>
              <a:rPr lang="en-GB" dirty="0"/>
              <a:t>Three. NULL is not equal to NULL. WHERE column equals NULL returns nothing. Always use IS NULL. This bites everyone at least once.</a:t>
            </a:r>
          </a:p>
          <a:p>
            <a:r>
              <a:rPr lang="en-GB" dirty="0"/>
              <a:t>Four. Bucketing without seeing min and max first. You'll pick the wrong boundaries and waste half your buckets.</a:t>
            </a:r>
          </a:p>
          <a:p>
            <a:r>
              <a:rPr lang="en-GB" dirty="0"/>
              <a:t>Five. Profiling once and then forgetting about it. Data drifts. Schedule a re-profile after every load.</a:t>
            </a:r>
          </a:p>
          <a:p>
            <a:r>
              <a:rPr lang="en-GB" dirty="0"/>
              <a:t>Bookmark this slide. The cheat sheet has the same 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this is the AI demo slide. The same five-part template you saw in Week 8, applied to profiling.</a:t>
            </a:r>
          </a:p>
          <a:p>
            <a:r>
              <a:rPr lang="en-GB" dirty="0"/>
              <a:t>I'm going to flip to Claude in a second and run both these prompts side by side. Live. So you can see the difference.</a:t>
            </a:r>
          </a:p>
          <a:p>
            <a:r>
              <a:rPr lang="en-GB" dirty="0"/>
              <a:t>The vague prompt on the left, 'profile my admissions table', is what everyone types the first time. The AI has to guess your dialect, your schema, what profile even means to you. So it gives you something generic that you'll have to rewrite anyway.</a:t>
            </a:r>
          </a:p>
          <a:p>
            <a:r>
              <a:rPr lang="en-GB" dirty="0"/>
              <a:t>The structured prompt on the right gives the AI everything it needs. Dialect, schema, specific goal, quality bar, and a verification ask. Same template I showed you in Week 8 for joins, just applied to a different problem.</a:t>
            </a:r>
          </a:p>
          <a:p>
            <a:r>
              <a:rPr lang="en-GB" dirty="0"/>
              <a:t>The result is a query you can paste straight into your editor and run.</a:t>
            </a:r>
          </a:p>
          <a:p>
            <a:r>
              <a:rPr lang="en-GB" dirty="0"/>
              <a:t>And the same rule applies as before. This isn't AI replacing your thinking. It's AI doing the typing while you do the thinking. You still have to read the query, run it, and verify the result. AI gets you the first draft. You make sure it's right.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other ways AI helps with profiling. These go beyond just writing the SQL.</a:t>
            </a:r>
          </a:p>
          <a:p>
            <a:r>
              <a:rPr lang="en-GB" dirty="0"/>
              <a:t>One. Suggest profile checks for a new dataset. Paste in the schema, ask 'what should I check first'. AI is genuinely good at this. It will remind you of checks you'd have skipped under time pressure.</a:t>
            </a:r>
          </a:p>
          <a:p>
            <a:r>
              <a:rPr lang="en-GB" dirty="0"/>
              <a:t>Two. Explain a weird distribution. This is brilliant. You run a histogram, the shape looks strange, you don't know why. Paste the output back to the AI and ask 'what might cause this shape?' It won't always be right, but it surfaces hypotheses you can then test.</a:t>
            </a:r>
          </a:p>
          <a:p>
            <a:r>
              <a:rPr lang="en-GB" dirty="0"/>
              <a:t>Three. Cross-field checks. The hardest type of check to invent manually, easiest for AI to generate. Describe the two columns and the rule that should hold. AI writes the WHERE clause.</a:t>
            </a:r>
          </a:p>
          <a:p>
            <a:r>
              <a:rPr lang="en-GB" dirty="0"/>
              <a:t>Same rule as ever. Verify. Read the SQL, run it, sanity-check the output by hand. AI is fast, not infallible.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your turn. Time to actually write some profile queries.</a:t>
            </a:r>
          </a:p>
          <a:p>
            <a:r>
              <a:rPr lang="en-GB" dirty="0"/>
              <a:t>I'm dropping the exercises file in the chat now. You'll have about twelve to fifteen minutes. We'll work through one to four together. Five, six, and seven are homework.</a:t>
            </a:r>
          </a:p>
          <a:p>
            <a:r>
              <a:rPr lang="en-GB" dirty="0"/>
              <a:t>Use AI if you want, but I'd really encourage you to try writing these yourself first. Profile queries are repetitive on purpose. The whole point is muscle memory. The first time you write a NULL profile by hand it'll feel awkward. By the tenth time it'll be automatic.</a:t>
            </a:r>
          </a:p>
          <a:p>
            <a:r>
              <a:rPr lang="en-GB" dirty="0"/>
              <a:t>Run it. Read the result. Compare it to what you expected. If you get stuck for more than two minutes, drop a question in the chat or ask AI. Off you go.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let me walk through Exercise three with you. There's a really nice subtlety in here.</a:t>
            </a:r>
          </a:p>
          <a:p>
            <a:r>
              <a:rPr lang="en-GB" dirty="0"/>
              <a:t>The question is at the top. For each WardType, return the frequency and what percentage of the total it represents.</a:t>
            </a:r>
          </a:p>
          <a:p>
            <a:r>
              <a:rPr lang="en-GB" dirty="0"/>
              <a:t>The query on the left does both in one pass. No subquery, no CTE. The magic ingredient is that SUM-COUNT-OVER trick.</a:t>
            </a:r>
          </a:p>
          <a:p>
            <a:r>
              <a:rPr lang="en-GB" dirty="0"/>
              <a:t>Let me read it slowly. COUNT star gives the frequency per group, because we're inside GROUP BY. Then SUM of COUNT star, with OVER and empty parentheses, takes those per-group counts and sums them across the entire result set. So in our case, with three WardTypes of counts three, two, and one, the OVER bit returns six on every row. Divide each frequency by six, multiply by a hundred, you've got percentages.</a:t>
            </a:r>
          </a:p>
          <a:p>
            <a:r>
              <a:rPr lang="en-GB" dirty="0"/>
              <a:t>And here's the bit at the bottom. The gotcha. If you try to write SUM of COUNT star WITHOUT the OVER, you'll get a syntax error. SQL doesn't let you nest aggregates directly. The OVER turns it into a windowed aggregate, which CAN be summed. That little bit of syntax is the unlock.</a:t>
            </a:r>
          </a:p>
          <a:p>
            <a:r>
              <a:rPr lang="en-GB" dirty="0"/>
              <a:t>Type this out. Run it. Then change it. Try GROUP BY a different column and see what shifts. That's how this sticks.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two-minute recap and a tease for next week.</a:t>
            </a:r>
          </a:p>
          <a:p>
            <a:r>
              <a:rPr lang="en-GB" dirty="0"/>
              <a:t>Five takeaways from today. Profile before you query. The four lenses, shape, completeness, uniqueness, range. Anomalies wear disguises, they're not all numerical. Repeat the profile because data drifts. AI is a partner, not a substitute.</a:t>
            </a:r>
          </a:p>
          <a:p>
            <a:r>
              <a:rPr lang="en-GB" dirty="0"/>
              <a:t>If you remember nothing else from today, remember those five things.</a:t>
            </a:r>
          </a:p>
          <a:p>
            <a:r>
              <a:rPr lang="en-GB" dirty="0"/>
              <a:t>Next week we extend this into formal quality checks. Today we LOOKED at data. Next week we turn each finding into a check we can automate and run on a schedule. So if you noticed something dodgy in today's exercises, hold onto that observation, you'll need it next week.</a:t>
            </a:r>
          </a:p>
          <a:p>
            <a:r>
              <a:rPr lang="en-GB" dirty="0"/>
              <a:t>For homework, finish exercises five, six, and seven. Read the cheat sheet. And, the one I'd really love you to do, bring one profile finding from your OWN data to next week's session. Could be from work, could be from a personal project, could be a public dataset. Something where you ran a profile query and learned something. Sharing those will make next week ten times more useful.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opening the floor. Drop your questions in the chat, or come off mute, whichever you prefer. No question is too basic. Honestly the most useful questions in this topic are usually the most basic ones.</a:t>
            </a:r>
          </a:p>
          <a:p>
            <a:r>
              <a:rPr lang="en-GB" dirty="0"/>
              <a:t>If we get silence, here's the question I'll throw back at you. What's one column in a dataset you work with that you've never properly profiled? That's the one to go and profile this week.</a:t>
            </a:r>
          </a:p>
          <a:p>
            <a:r>
              <a:rPr lang="en-GB" dirty="0"/>
              <a:t>Right, while you're thinking, thank you all for being here on a Saturday afternoon. I really appreciate it. The deck, the SQL files, and the cheat sheet will be in the GitHub repo today. See you next Saturday for Profiling for Data Quality. Have a great rest of your weekend.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051560"/>
            <a:ext cx="7315200" cy="365760"/>
          </a:xfrm>
          <a:prstGeom prst="rect">
            <a:avLst/>
          </a:prstGeom>
          <a:noFill/>
          <a:ln/>
        </p:spPr>
        <p:txBody>
          <a:bodyPr wrap="square" lIns="0" tIns="0" rIns="0" bIns="0" rtlCol="0" anchor="ctr"/>
          <a:lstStyle/>
          <a:p>
            <a:pPr marL="0" indent="0">
              <a:buNone/>
            </a:pPr>
            <a:r>
              <a:rPr lang="en-US" sz="1300" b="1" kern="0" spc="600" dirty="0">
                <a:solidFill>
                  <a:srgbClr val="06B6D4"/>
                </a:solidFill>
                <a:latin typeface="Calibri" pitchFamily="34" charset="0"/>
                <a:ea typeface="Calibri" pitchFamily="34" charset="-122"/>
                <a:cs typeface="Calibri" pitchFamily="34" charset="-120"/>
              </a:rPr>
              <a:t>WEEK 10   |   SQL BOOTCAMP</a:t>
            </a:r>
            <a:endParaRPr lang="en-US" sz="1300" dirty="0"/>
          </a:p>
        </p:txBody>
      </p:sp>
      <p:sp>
        <p:nvSpPr>
          <p:cNvPr id="3" name="Text 1"/>
          <p:cNvSpPr/>
          <p:nvPr/>
        </p:nvSpPr>
        <p:spPr>
          <a:xfrm>
            <a:off x="640080" y="1508760"/>
            <a:ext cx="8229600" cy="1463040"/>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Data Profiling</a:t>
            </a:r>
            <a:endParaRPr lang="en-US" sz="7200" dirty="0"/>
          </a:p>
        </p:txBody>
      </p:sp>
      <p:sp>
        <p:nvSpPr>
          <p:cNvPr id="4" name="Text 2"/>
          <p:cNvSpPr/>
          <p:nvPr/>
        </p:nvSpPr>
        <p:spPr>
          <a:xfrm>
            <a:off x="640080" y="2926080"/>
            <a:ext cx="8229600" cy="548640"/>
          </a:xfrm>
          <a:prstGeom prst="rect">
            <a:avLst/>
          </a:prstGeom>
          <a:noFill/>
          <a:ln/>
        </p:spPr>
        <p:txBody>
          <a:bodyPr wrap="square" lIns="0" tIns="0" rIns="0" bIns="0" rtlCol="0" anchor="ctr"/>
          <a:lstStyle/>
          <a:p>
            <a:pPr marL="0" indent="0">
              <a:buNone/>
            </a:pPr>
            <a:r>
              <a:rPr lang="en-US" sz="2400" i="1" dirty="0">
                <a:solidFill>
                  <a:srgbClr val="CBD5E1"/>
                </a:solidFill>
                <a:latin typeface="Calibri" pitchFamily="34" charset="0"/>
                <a:ea typeface="Calibri" pitchFamily="34" charset="-122"/>
                <a:cs typeface="Calibri" pitchFamily="34" charset="-120"/>
              </a:rPr>
              <a:t>Understanding your data before you trust it</a:t>
            </a:r>
            <a:endParaRPr lang="en-US" sz="2400" dirty="0"/>
          </a:p>
        </p:txBody>
      </p:sp>
      <p:sp>
        <p:nvSpPr>
          <p:cNvPr id="5" name="Shape 3"/>
          <p:cNvSpPr/>
          <p:nvPr/>
        </p:nvSpPr>
        <p:spPr>
          <a:xfrm>
            <a:off x="640080" y="3703320"/>
            <a:ext cx="1280160" cy="54864"/>
          </a:xfrm>
          <a:prstGeom prst="rect">
            <a:avLst/>
          </a:prstGeom>
          <a:solidFill>
            <a:srgbClr val="F59E0B"/>
          </a:solidFill>
          <a:ln/>
        </p:spPr>
        <p:txBody>
          <a:bodyPr/>
          <a:lstStyle/>
          <a:p>
            <a:endParaRPr lang="en-GB"/>
          </a:p>
        </p:txBody>
      </p:sp>
      <p:sp>
        <p:nvSpPr>
          <p:cNvPr id="6" name="Text 4"/>
          <p:cNvSpPr/>
          <p:nvPr/>
        </p:nvSpPr>
        <p:spPr>
          <a:xfrm>
            <a:off x="640080" y="3886200"/>
            <a:ext cx="7315200" cy="36576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Tutor:  </a:t>
            </a:r>
            <a:r>
              <a:rPr lang="en-US" sz="1600" b="1" dirty="0">
                <a:solidFill>
                  <a:srgbClr val="FFFFFF"/>
                </a:solidFill>
                <a:latin typeface="Calibri" pitchFamily="34" charset="0"/>
                <a:ea typeface="Calibri" pitchFamily="34" charset="-122"/>
                <a:cs typeface="Calibri" pitchFamily="34" charset="-120"/>
              </a:rPr>
              <a:t>Kelechi Odoemena</a:t>
            </a:r>
            <a:endParaRPr lang="en-US" sz="1600" dirty="0"/>
          </a:p>
        </p:txBody>
      </p:sp>
      <p:sp>
        <p:nvSpPr>
          <p:cNvPr id="7" name="Text 5"/>
          <p:cNvSpPr/>
          <p:nvPr/>
        </p:nvSpPr>
        <p:spPr>
          <a:xfrm>
            <a:off x="640080" y="4251960"/>
            <a:ext cx="73152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Saturday, 23 May 2026   |   1:00 PM UK Time   |   Zoom</a:t>
            </a:r>
            <a:endParaRPr lang="en-US" sz="1400" dirty="0"/>
          </a:p>
        </p:txBody>
      </p:sp>
      <p:sp>
        <p:nvSpPr>
          <p:cNvPr id="8" name="Shape 6"/>
          <p:cNvSpPr/>
          <p:nvPr/>
        </p:nvSpPr>
        <p:spPr>
          <a:xfrm>
            <a:off x="8686800" y="3291840"/>
            <a:ext cx="261257" cy="822960"/>
          </a:xfrm>
          <a:prstGeom prst="rect">
            <a:avLst/>
          </a:prstGeom>
          <a:solidFill>
            <a:srgbClr val="06B6D4"/>
          </a:solidFill>
          <a:ln/>
        </p:spPr>
        <p:txBody>
          <a:bodyPr/>
          <a:lstStyle/>
          <a:p>
            <a:endParaRPr lang="en-GB"/>
          </a:p>
        </p:txBody>
      </p:sp>
      <p:sp>
        <p:nvSpPr>
          <p:cNvPr id="9" name="Shape 7"/>
          <p:cNvSpPr/>
          <p:nvPr/>
        </p:nvSpPr>
        <p:spPr>
          <a:xfrm>
            <a:off x="9078686" y="2834640"/>
            <a:ext cx="261257" cy="1280160"/>
          </a:xfrm>
          <a:prstGeom prst="rect">
            <a:avLst/>
          </a:prstGeom>
          <a:solidFill>
            <a:srgbClr val="06B6D4"/>
          </a:solidFill>
          <a:ln/>
        </p:spPr>
        <p:txBody>
          <a:bodyPr/>
          <a:lstStyle/>
          <a:p>
            <a:endParaRPr lang="en-GB"/>
          </a:p>
        </p:txBody>
      </p:sp>
      <p:sp>
        <p:nvSpPr>
          <p:cNvPr id="10" name="Shape 8"/>
          <p:cNvSpPr/>
          <p:nvPr/>
        </p:nvSpPr>
        <p:spPr>
          <a:xfrm>
            <a:off x="9470571" y="2377440"/>
            <a:ext cx="261257" cy="1737360"/>
          </a:xfrm>
          <a:prstGeom prst="rect">
            <a:avLst/>
          </a:prstGeom>
          <a:solidFill>
            <a:srgbClr val="06B6D4"/>
          </a:solidFill>
          <a:ln/>
        </p:spPr>
        <p:txBody>
          <a:bodyPr/>
          <a:lstStyle/>
          <a:p>
            <a:endParaRPr lang="en-GB"/>
          </a:p>
        </p:txBody>
      </p:sp>
      <p:sp>
        <p:nvSpPr>
          <p:cNvPr id="11" name="Shape 9"/>
          <p:cNvSpPr/>
          <p:nvPr/>
        </p:nvSpPr>
        <p:spPr>
          <a:xfrm>
            <a:off x="9862457" y="2651760"/>
            <a:ext cx="261257" cy="1463040"/>
          </a:xfrm>
          <a:prstGeom prst="rect">
            <a:avLst/>
          </a:prstGeom>
          <a:solidFill>
            <a:srgbClr val="06B6D4"/>
          </a:solidFill>
          <a:ln/>
        </p:spPr>
        <p:txBody>
          <a:bodyPr/>
          <a:lstStyle/>
          <a:p>
            <a:endParaRPr lang="en-GB"/>
          </a:p>
        </p:txBody>
      </p:sp>
      <p:sp>
        <p:nvSpPr>
          <p:cNvPr id="12" name="Shape 10"/>
          <p:cNvSpPr/>
          <p:nvPr/>
        </p:nvSpPr>
        <p:spPr>
          <a:xfrm>
            <a:off x="10254343" y="3108960"/>
            <a:ext cx="261257" cy="1005840"/>
          </a:xfrm>
          <a:prstGeom prst="rect">
            <a:avLst/>
          </a:prstGeom>
          <a:solidFill>
            <a:srgbClr val="06B6D4"/>
          </a:solidFill>
          <a:ln/>
        </p:spPr>
        <p:txBody>
          <a:bodyPr/>
          <a:lstStyle/>
          <a:p>
            <a:endParaRPr lang="en-GB"/>
          </a:p>
        </p:txBody>
      </p:sp>
      <p:sp>
        <p:nvSpPr>
          <p:cNvPr id="13" name="Shape 11"/>
          <p:cNvSpPr/>
          <p:nvPr/>
        </p:nvSpPr>
        <p:spPr>
          <a:xfrm>
            <a:off x="10646229" y="3474720"/>
            <a:ext cx="261257" cy="640080"/>
          </a:xfrm>
          <a:prstGeom prst="rect">
            <a:avLst/>
          </a:prstGeom>
          <a:solidFill>
            <a:srgbClr val="06B6D4"/>
          </a:solidFill>
          <a:ln/>
        </p:spPr>
        <p:txBody>
          <a:bodyPr/>
          <a:lstStyle/>
          <a:p>
            <a:endParaRPr lang="en-GB"/>
          </a:p>
        </p:txBody>
      </p:sp>
      <p:sp>
        <p:nvSpPr>
          <p:cNvPr id="14" name="Shape 12"/>
          <p:cNvSpPr/>
          <p:nvPr/>
        </p:nvSpPr>
        <p:spPr>
          <a:xfrm>
            <a:off x="11038114" y="3749040"/>
            <a:ext cx="261257" cy="365760"/>
          </a:xfrm>
          <a:prstGeom prst="rect">
            <a:avLst/>
          </a:prstGeom>
          <a:solidFill>
            <a:srgbClr val="06B6D4"/>
          </a:solidFill>
          <a:ln/>
        </p:spPr>
        <p:txBody>
          <a:bodyPr/>
          <a:lstStyle/>
          <a:p>
            <a:endParaRPr lang="en-GB"/>
          </a:p>
        </p:txBody>
      </p:sp>
      <p:sp>
        <p:nvSpPr>
          <p:cNvPr id="15" name="Shape 13"/>
          <p:cNvSpPr/>
          <p:nvPr/>
        </p:nvSpPr>
        <p:spPr>
          <a:xfrm>
            <a:off x="8686800" y="4114800"/>
            <a:ext cx="2743200" cy="18288"/>
          </a:xfrm>
          <a:prstGeom prst="rect">
            <a:avLst/>
          </a:prstGeom>
          <a:solidFill>
            <a:srgbClr val="06B6D4"/>
          </a:solidFill>
          <a:ln/>
        </p:spPr>
        <p:txBody>
          <a:bodyPr/>
          <a:lstStyle/>
          <a:p>
            <a:endParaRPr lang="en-GB"/>
          </a:p>
        </p:txBody>
      </p:sp>
      <p:sp>
        <p:nvSpPr>
          <p:cNvPr id="16" name="Shape 14"/>
          <p:cNvSpPr/>
          <p:nvPr/>
        </p:nvSpPr>
        <p:spPr>
          <a:xfrm>
            <a:off x="8961120" y="2103120"/>
            <a:ext cx="1828800" cy="1828800"/>
          </a:xfrm>
          <a:prstGeom prst="ellipse">
            <a:avLst/>
          </a:prstGeom>
          <a:solidFill>
            <a:srgbClr val="0F172A">
              <a:alpha val="70000"/>
            </a:srgbClr>
          </a:solidFill>
          <a:ln w="50800">
            <a:solidFill>
              <a:srgbClr val="F59E0B"/>
            </a:solidFill>
            <a:prstDash val="solid"/>
          </a:ln>
        </p:spPr>
        <p:txBody>
          <a:bodyPr/>
          <a:lstStyle/>
          <a:p>
            <a:endParaRPr lang="en-GB"/>
          </a:p>
        </p:txBody>
      </p:sp>
      <p:sp>
        <p:nvSpPr>
          <p:cNvPr id="17" name="Shape 15"/>
          <p:cNvSpPr/>
          <p:nvPr/>
        </p:nvSpPr>
        <p:spPr>
          <a:xfrm>
            <a:off x="9235440" y="2331720"/>
            <a:ext cx="457200" cy="274320"/>
          </a:xfrm>
          <a:prstGeom prst="ellipse">
            <a:avLst/>
          </a:prstGeom>
          <a:solidFill>
            <a:srgbClr val="FFFFFF">
              <a:alpha val="30000"/>
            </a:srgbClr>
          </a:solidFill>
          <a:ln/>
        </p:spPr>
        <p:txBody>
          <a:bodyPr/>
          <a:lstStyle/>
          <a:p>
            <a:endParaRPr lang="en-GB"/>
          </a:p>
        </p:txBody>
      </p:sp>
      <p:sp>
        <p:nvSpPr>
          <p:cNvPr id="18" name="Shape 16"/>
          <p:cNvSpPr/>
          <p:nvPr/>
        </p:nvSpPr>
        <p:spPr>
          <a:xfrm>
            <a:off x="10469880" y="3611880"/>
            <a:ext cx="731520" cy="731520"/>
          </a:xfrm>
          <a:prstGeom prst="line">
            <a:avLst/>
          </a:prstGeom>
          <a:noFill/>
          <a:ln w="76200">
            <a:solidFill>
              <a:srgbClr val="F59E0B"/>
            </a:solidFill>
            <a:prstDash val="solid"/>
          </a:ln>
        </p:spPr>
        <p:txBody>
          <a:bodyPr/>
          <a:lstStyle/>
          <a:p>
            <a:endParaRPr lang="en-GB"/>
          </a:p>
        </p:txBody>
      </p:sp>
      <p:sp>
        <p:nvSpPr>
          <p:cNvPr id="19" name="Text 17"/>
          <p:cNvSpPr/>
          <p:nvPr/>
        </p:nvSpPr>
        <p:spPr>
          <a:xfrm>
            <a:off x="640080" y="6126480"/>
            <a:ext cx="73152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The AI Workshop  |  www.theaiworkshop.co.uk</a:t>
            </a:r>
            <a:endParaRPr lang="en-US" sz="1100" dirty="0"/>
          </a:p>
        </p:txBody>
      </p:sp>
      <p:sp>
        <p:nvSpPr>
          <p:cNvPr id="21" name="Shape 18"/>
          <p:cNvSpPr/>
          <p:nvPr/>
        </p:nvSpPr>
        <p:spPr>
          <a:xfrm>
            <a:off x="0" y="6583680"/>
            <a:ext cx="12191695" cy="18288"/>
          </a:xfrm>
          <a:prstGeom prst="rect">
            <a:avLst/>
          </a:prstGeom>
          <a:solidFill>
            <a:srgbClr val="E2E8F0"/>
          </a:solidFill>
          <a:ln/>
        </p:spPr>
        <p:txBody>
          <a:bodyPr/>
          <a:lstStyle/>
          <a:p>
            <a:endParaRPr lang="en-GB"/>
          </a:p>
        </p:txBody>
      </p:sp>
      <p:sp>
        <p:nvSpPr>
          <p:cNvPr id="22" name="Text 19"/>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3" name="Text 20"/>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 / 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WHERE WE ARE IN THE JOURNEY</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Welcome Back</a:t>
            </a:r>
            <a:endParaRPr lang="en-US" sz="3600" dirty="0"/>
          </a:p>
        </p:txBody>
      </p:sp>
      <p:sp>
        <p:nvSpPr>
          <p:cNvPr id="4" name="Shape 2"/>
          <p:cNvSpPr/>
          <p:nvPr/>
        </p:nvSpPr>
        <p:spPr>
          <a:xfrm>
            <a:off x="457200" y="2788920"/>
            <a:ext cx="11247120" cy="45720"/>
          </a:xfrm>
          <a:prstGeom prst="rect">
            <a:avLst/>
          </a:prstGeom>
          <a:solidFill>
            <a:srgbClr val="E2E8F0"/>
          </a:solidFill>
          <a:ln/>
        </p:spPr>
        <p:txBody>
          <a:bodyPr/>
          <a:lstStyle/>
          <a:p>
            <a:endParaRPr lang="en-GB"/>
          </a:p>
        </p:txBody>
      </p:sp>
      <p:sp>
        <p:nvSpPr>
          <p:cNvPr id="5" name="Shape 3"/>
          <p:cNvSpPr/>
          <p:nvPr/>
        </p:nvSpPr>
        <p:spPr>
          <a:xfrm>
            <a:off x="457200" y="2788920"/>
            <a:ext cx="8122920" cy="45720"/>
          </a:xfrm>
          <a:prstGeom prst="rect">
            <a:avLst/>
          </a:prstGeom>
          <a:solidFill>
            <a:srgbClr val="06B6D4"/>
          </a:solidFill>
          <a:ln/>
        </p:spPr>
        <p:txBody>
          <a:bodyPr/>
          <a:lstStyle/>
          <a:p>
            <a:endParaRPr lang="en-GB"/>
          </a:p>
        </p:txBody>
      </p:sp>
      <p:sp>
        <p:nvSpPr>
          <p:cNvPr id="6" name="Shape 4"/>
          <p:cNvSpPr/>
          <p:nvPr/>
        </p:nvSpPr>
        <p:spPr>
          <a:xfrm>
            <a:off x="972312" y="2724912"/>
            <a:ext cx="219456" cy="219456"/>
          </a:xfrm>
          <a:prstGeom prst="ellipse">
            <a:avLst/>
          </a:prstGeom>
          <a:solidFill>
            <a:srgbClr val="06B6D4"/>
          </a:solidFill>
          <a:ln/>
        </p:spPr>
        <p:txBody>
          <a:bodyPr/>
          <a:lstStyle/>
          <a:p>
            <a:endParaRPr lang="en-GB"/>
          </a:p>
        </p:txBody>
      </p:sp>
      <p:sp>
        <p:nvSpPr>
          <p:cNvPr id="7" name="Text 5"/>
          <p:cNvSpPr/>
          <p:nvPr/>
        </p:nvSpPr>
        <p:spPr>
          <a:xfrm>
            <a:off x="45720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1-2</a:t>
            </a:r>
            <a:endParaRPr lang="en-US" sz="1400" dirty="0"/>
          </a:p>
        </p:txBody>
      </p:sp>
      <p:sp>
        <p:nvSpPr>
          <p:cNvPr id="8" name="Text 6"/>
          <p:cNvSpPr/>
          <p:nvPr/>
        </p:nvSpPr>
        <p:spPr>
          <a:xfrm>
            <a:off x="45720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Setup &amp; Landscape</a:t>
            </a:r>
            <a:endParaRPr lang="en-US" sz="1000" dirty="0"/>
          </a:p>
        </p:txBody>
      </p:sp>
      <p:sp>
        <p:nvSpPr>
          <p:cNvPr id="9" name="Shape 7"/>
          <p:cNvSpPr/>
          <p:nvPr/>
        </p:nvSpPr>
        <p:spPr>
          <a:xfrm>
            <a:off x="2221992" y="2724912"/>
            <a:ext cx="219456" cy="219456"/>
          </a:xfrm>
          <a:prstGeom prst="ellipse">
            <a:avLst/>
          </a:prstGeom>
          <a:solidFill>
            <a:srgbClr val="06B6D4"/>
          </a:solidFill>
          <a:ln/>
        </p:spPr>
        <p:txBody>
          <a:bodyPr/>
          <a:lstStyle/>
          <a:p>
            <a:endParaRPr lang="en-GB"/>
          </a:p>
        </p:txBody>
      </p:sp>
      <p:sp>
        <p:nvSpPr>
          <p:cNvPr id="10" name="Text 8"/>
          <p:cNvSpPr/>
          <p:nvPr/>
        </p:nvSpPr>
        <p:spPr>
          <a:xfrm>
            <a:off x="170688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3-4</a:t>
            </a:r>
            <a:endParaRPr lang="en-US" sz="1400" dirty="0"/>
          </a:p>
        </p:txBody>
      </p:sp>
      <p:sp>
        <p:nvSpPr>
          <p:cNvPr id="11" name="Text 9"/>
          <p:cNvSpPr/>
          <p:nvPr/>
        </p:nvSpPr>
        <p:spPr>
          <a:xfrm>
            <a:off x="170688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SQL Foundations</a:t>
            </a:r>
            <a:endParaRPr lang="en-US" sz="1000" dirty="0"/>
          </a:p>
        </p:txBody>
      </p:sp>
      <p:sp>
        <p:nvSpPr>
          <p:cNvPr id="12" name="Shape 10"/>
          <p:cNvSpPr/>
          <p:nvPr/>
        </p:nvSpPr>
        <p:spPr>
          <a:xfrm>
            <a:off x="3471672" y="2724912"/>
            <a:ext cx="219456" cy="219456"/>
          </a:xfrm>
          <a:prstGeom prst="ellipse">
            <a:avLst/>
          </a:prstGeom>
          <a:solidFill>
            <a:srgbClr val="06B6D4"/>
          </a:solidFill>
          <a:ln/>
        </p:spPr>
        <p:txBody>
          <a:bodyPr/>
          <a:lstStyle/>
          <a:p>
            <a:endParaRPr lang="en-GB"/>
          </a:p>
        </p:txBody>
      </p:sp>
      <p:sp>
        <p:nvSpPr>
          <p:cNvPr id="13" name="Text 11"/>
          <p:cNvSpPr/>
          <p:nvPr/>
        </p:nvSpPr>
        <p:spPr>
          <a:xfrm>
            <a:off x="295656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5-6</a:t>
            </a:r>
            <a:endParaRPr lang="en-US" sz="1400" dirty="0"/>
          </a:p>
        </p:txBody>
      </p:sp>
      <p:sp>
        <p:nvSpPr>
          <p:cNvPr id="14" name="Text 12"/>
          <p:cNvSpPr/>
          <p:nvPr/>
        </p:nvSpPr>
        <p:spPr>
          <a:xfrm>
            <a:off x="295656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Aggregate &amp; Filter</a:t>
            </a:r>
            <a:endParaRPr lang="en-US" sz="1000" dirty="0"/>
          </a:p>
        </p:txBody>
      </p:sp>
      <p:sp>
        <p:nvSpPr>
          <p:cNvPr id="15" name="Shape 13"/>
          <p:cNvSpPr/>
          <p:nvPr/>
        </p:nvSpPr>
        <p:spPr>
          <a:xfrm>
            <a:off x="4721352" y="2724912"/>
            <a:ext cx="219456" cy="219456"/>
          </a:xfrm>
          <a:prstGeom prst="ellipse">
            <a:avLst/>
          </a:prstGeom>
          <a:solidFill>
            <a:srgbClr val="06B6D4"/>
          </a:solidFill>
          <a:ln/>
        </p:spPr>
        <p:txBody>
          <a:bodyPr/>
          <a:lstStyle/>
          <a:p>
            <a:endParaRPr lang="en-GB"/>
          </a:p>
        </p:txBody>
      </p:sp>
      <p:sp>
        <p:nvSpPr>
          <p:cNvPr id="16" name="Text 14"/>
          <p:cNvSpPr/>
          <p:nvPr/>
        </p:nvSpPr>
        <p:spPr>
          <a:xfrm>
            <a:off x="420624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7</a:t>
            </a:r>
            <a:endParaRPr lang="en-US" sz="1400" dirty="0"/>
          </a:p>
        </p:txBody>
      </p:sp>
      <p:sp>
        <p:nvSpPr>
          <p:cNvPr id="17" name="Text 15"/>
          <p:cNvSpPr/>
          <p:nvPr/>
        </p:nvSpPr>
        <p:spPr>
          <a:xfrm>
            <a:off x="420624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Conditional Logic</a:t>
            </a:r>
            <a:endParaRPr lang="en-US" sz="1000" dirty="0"/>
          </a:p>
        </p:txBody>
      </p:sp>
      <p:sp>
        <p:nvSpPr>
          <p:cNvPr id="18" name="Shape 16"/>
          <p:cNvSpPr/>
          <p:nvPr/>
        </p:nvSpPr>
        <p:spPr>
          <a:xfrm>
            <a:off x="5971032" y="2724912"/>
            <a:ext cx="219456" cy="219456"/>
          </a:xfrm>
          <a:prstGeom prst="ellipse">
            <a:avLst/>
          </a:prstGeom>
          <a:solidFill>
            <a:srgbClr val="06B6D4"/>
          </a:solidFill>
          <a:ln/>
        </p:spPr>
        <p:txBody>
          <a:bodyPr/>
          <a:lstStyle/>
          <a:p>
            <a:endParaRPr lang="en-GB"/>
          </a:p>
        </p:txBody>
      </p:sp>
      <p:sp>
        <p:nvSpPr>
          <p:cNvPr id="19" name="Text 17"/>
          <p:cNvSpPr/>
          <p:nvPr/>
        </p:nvSpPr>
        <p:spPr>
          <a:xfrm>
            <a:off x="545592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8</a:t>
            </a:r>
            <a:endParaRPr lang="en-US" sz="1400" dirty="0"/>
          </a:p>
        </p:txBody>
      </p:sp>
      <p:sp>
        <p:nvSpPr>
          <p:cNvPr id="20" name="Text 18"/>
          <p:cNvSpPr/>
          <p:nvPr/>
        </p:nvSpPr>
        <p:spPr>
          <a:xfrm>
            <a:off x="545592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Joins</a:t>
            </a:r>
            <a:endParaRPr lang="en-US" sz="1000" dirty="0"/>
          </a:p>
        </p:txBody>
      </p:sp>
      <p:sp>
        <p:nvSpPr>
          <p:cNvPr id="21" name="Shape 19"/>
          <p:cNvSpPr/>
          <p:nvPr/>
        </p:nvSpPr>
        <p:spPr>
          <a:xfrm>
            <a:off x="7220712" y="2724912"/>
            <a:ext cx="219456" cy="219456"/>
          </a:xfrm>
          <a:prstGeom prst="ellipse">
            <a:avLst/>
          </a:prstGeom>
          <a:solidFill>
            <a:srgbClr val="06B6D4"/>
          </a:solidFill>
          <a:ln/>
        </p:spPr>
        <p:txBody>
          <a:bodyPr/>
          <a:lstStyle/>
          <a:p>
            <a:endParaRPr lang="en-GB"/>
          </a:p>
        </p:txBody>
      </p:sp>
      <p:sp>
        <p:nvSpPr>
          <p:cNvPr id="22" name="Text 20"/>
          <p:cNvSpPr/>
          <p:nvPr/>
        </p:nvSpPr>
        <p:spPr>
          <a:xfrm>
            <a:off x="670560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9</a:t>
            </a:r>
            <a:endParaRPr lang="en-US" sz="1400" dirty="0"/>
          </a:p>
        </p:txBody>
      </p:sp>
      <p:sp>
        <p:nvSpPr>
          <p:cNvPr id="23" name="Text 21"/>
          <p:cNvSpPr/>
          <p:nvPr/>
        </p:nvSpPr>
        <p:spPr>
          <a:xfrm>
            <a:off x="670560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Subqueries &amp; CTEs</a:t>
            </a:r>
            <a:endParaRPr lang="en-US" sz="1000" dirty="0"/>
          </a:p>
        </p:txBody>
      </p:sp>
      <p:sp>
        <p:nvSpPr>
          <p:cNvPr id="24" name="Shape 22"/>
          <p:cNvSpPr/>
          <p:nvPr/>
        </p:nvSpPr>
        <p:spPr>
          <a:xfrm>
            <a:off x="8470392" y="2724912"/>
            <a:ext cx="219456" cy="219456"/>
          </a:xfrm>
          <a:prstGeom prst="ellipse">
            <a:avLst/>
          </a:prstGeom>
          <a:solidFill>
            <a:srgbClr val="06B6D4"/>
          </a:solidFill>
          <a:ln/>
        </p:spPr>
        <p:txBody>
          <a:bodyPr/>
          <a:lstStyle/>
          <a:p>
            <a:endParaRPr lang="en-GB"/>
          </a:p>
        </p:txBody>
      </p:sp>
      <p:sp>
        <p:nvSpPr>
          <p:cNvPr id="25" name="Shape 23"/>
          <p:cNvSpPr/>
          <p:nvPr/>
        </p:nvSpPr>
        <p:spPr>
          <a:xfrm>
            <a:off x="8378952" y="2633472"/>
            <a:ext cx="402336" cy="402336"/>
          </a:xfrm>
          <a:prstGeom prst="ellipse">
            <a:avLst/>
          </a:prstGeom>
          <a:solidFill>
            <a:srgbClr val="F59E0B">
              <a:alpha val="40000"/>
            </a:srgbClr>
          </a:solidFill>
          <a:ln w="25400">
            <a:solidFill>
              <a:srgbClr val="F59E0B"/>
            </a:solidFill>
            <a:prstDash val="solid"/>
          </a:ln>
        </p:spPr>
        <p:txBody>
          <a:bodyPr/>
          <a:lstStyle/>
          <a:p>
            <a:endParaRPr lang="en-GB"/>
          </a:p>
        </p:txBody>
      </p:sp>
      <p:sp>
        <p:nvSpPr>
          <p:cNvPr id="26" name="Text 24"/>
          <p:cNvSpPr/>
          <p:nvPr/>
        </p:nvSpPr>
        <p:spPr>
          <a:xfrm>
            <a:off x="7955280" y="2286000"/>
            <a:ext cx="1249680" cy="365760"/>
          </a:xfrm>
          <a:prstGeom prst="rect">
            <a:avLst/>
          </a:prstGeom>
          <a:no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10</a:t>
            </a:r>
            <a:endParaRPr lang="en-US" sz="1400" dirty="0"/>
          </a:p>
        </p:txBody>
      </p:sp>
      <p:sp>
        <p:nvSpPr>
          <p:cNvPr id="27" name="Text 25"/>
          <p:cNvSpPr/>
          <p:nvPr/>
        </p:nvSpPr>
        <p:spPr>
          <a:xfrm>
            <a:off x="7955280" y="3063240"/>
            <a:ext cx="1249680" cy="640080"/>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Data Profiling</a:t>
            </a:r>
            <a:endParaRPr lang="en-US" sz="1000" dirty="0"/>
          </a:p>
        </p:txBody>
      </p:sp>
      <p:sp>
        <p:nvSpPr>
          <p:cNvPr id="28" name="Shape 26"/>
          <p:cNvSpPr/>
          <p:nvPr/>
        </p:nvSpPr>
        <p:spPr>
          <a:xfrm>
            <a:off x="9720072" y="2724912"/>
            <a:ext cx="219456" cy="219456"/>
          </a:xfrm>
          <a:prstGeom prst="ellipse">
            <a:avLst/>
          </a:prstGeom>
          <a:solidFill>
            <a:srgbClr val="E2E8F0"/>
          </a:solidFill>
          <a:ln/>
        </p:spPr>
        <p:txBody>
          <a:bodyPr/>
          <a:lstStyle/>
          <a:p>
            <a:endParaRPr lang="en-GB"/>
          </a:p>
        </p:txBody>
      </p:sp>
      <p:sp>
        <p:nvSpPr>
          <p:cNvPr id="29" name="Text 27"/>
          <p:cNvSpPr/>
          <p:nvPr/>
        </p:nvSpPr>
        <p:spPr>
          <a:xfrm>
            <a:off x="920496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11</a:t>
            </a:r>
            <a:endParaRPr lang="en-US" sz="1400" dirty="0"/>
          </a:p>
        </p:txBody>
      </p:sp>
      <p:sp>
        <p:nvSpPr>
          <p:cNvPr id="30" name="Text 28"/>
          <p:cNvSpPr/>
          <p:nvPr/>
        </p:nvSpPr>
        <p:spPr>
          <a:xfrm>
            <a:off x="920496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Profiling for Quality</a:t>
            </a:r>
            <a:endParaRPr lang="en-US" sz="1000" dirty="0"/>
          </a:p>
        </p:txBody>
      </p:sp>
      <p:sp>
        <p:nvSpPr>
          <p:cNvPr id="31" name="Shape 29"/>
          <p:cNvSpPr/>
          <p:nvPr/>
        </p:nvSpPr>
        <p:spPr>
          <a:xfrm>
            <a:off x="10969752" y="2724912"/>
            <a:ext cx="219456" cy="219456"/>
          </a:xfrm>
          <a:prstGeom prst="ellipse">
            <a:avLst/>
          </a:prstGeom>
          <a:solidFill>
            <a:srgbClr val="E2E8F0"/>
          </a:solidFill>
          <a:ln/>
        </p:spPr>
        <p:txBody>
          <a:bodyPr/>
          <a:lstStyle/>
          <a:p>
            <a:endParaRPr lang="en-GB"/>
          </a:p>
        </p:txBody>
      </p:sp>
      <p:sp>
        <p:nvSpPr>
          <p:cNvPr id="32" name="Text 30"/>
          <p:cNvSpPr/>
          <p:nvPr/>
        </p:nvSpPr>
        <p:spPr>
          <a:xfrm>
            <a:off x="10454640" y="2286000"/>
            <a:ext cx="1249680" cy="365760"/>
          </a:xfrm>
          <a:prstGeom prst="rect">
            <a:avLst/>
          </a:prstGeom>
          <a:noFill/>
          <a:ln/>
        </p:spPr>
        <p:txBody>
          <a:bodyPr wrap="square" lIns="0" tIns="0" rIns="0" bIns="0" rtlCol="0" anchor="ctr"/>
          <a:lstStyle/>
          <a:p>
            <a:pPr marL="0" indent="0" algn="ctr">
              <a:buNone/>
            </a:pPr>
            <a:r>
              <a:rPr lang="en-US" sz="1400" b="1" dirty="0">
                <a:solidFill>
                  <a:srgbClr val="475569"/>
                </a:solidFill>
                <a:latin typeface="Calibri" pitchFamily="34" charset="0"/>
                <a:ea typeface="Calibri" pitchFamily="34" charset="-122"/>
                <a:cs typeface="Calibri" pitchFamily="34" charset="-120"/>
              </a:rPr>
              <a:t>12-14</a:t>
            </a:r>
            <a:endParaRPr lang="en-US" sz="1400" dirty="0"/>
          </a:p>
        </p:txBody>
      </p:sp>
      <p:sp>
        <p:nvSpPr>
          <p:cNvPr id="33" name="Text 31"/>
          <p:cNvSpPr/>
          <p:nvPr/>
        </p:nvSpPr>
        <p:spPr>
          <a:xfrm>
            <a:off x="10454640" y="3063240"/>
            <a:ext cx="1249680" cy="64008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Windows &amp; AI Workflows</a:t>
            </a:r>
            <a:endParaRPr lang="en-US" sz="1000" dirty="0"/>
          </a:p>
        </p:txBody>
      </p:sp>
      <p:sp>
        <p:nvSpPr>
          <p:cNvPr id="34" name="Text 32"/>
          <p:cNvSpPr/>
          <p:nvPr/>
        </p:nvSpPr>
        <p:spPr>
          <a:xfrm>
            <a:off x="7955280" y="3703320"/>
            <a:ext cx="1249680" cy="274320"/>
          </a:xfrm>
          <a:prstGeom prst="rect">
            <a:avLst/>
          </a:prstGeom>
          <a:noFill/>
          <a:ln/>
        </p:spPr>
        <p:txBody>
          <a:bodyPr wrap="square" lIns="0" tIns="0" rIns="0" bIns="0" rtlCol="0" anchor="ctr"/>
          <a:lstStyle/>
          <a:p>
            <a:pPr marL="0" indent="0" algn="ctr">
              <a:buNone/>
            </a:pPr>
            <a:r>
              <a:rPr lang="en-US" sz="1000" b="1" i="1" dirty="0">
                <a:solidFill>
                  <a:srgbClr val="F59E0B"/>
                </a:solidFill>
                <a:latin typeface="Calibri" pitchFamily="34" charset="0"/>
                <a:ea typeface="Calibri" pitchFamily="34" charset="-122"/>
                <a:cs typeface="Calibri" pitchFamily="34" charset="-120"/>
              </a:rPr>
              <a:t>you are here</a:t>
            </a:r>
            <a:endParaRPr lang="en-US" sz="1000" dirty="0"/>
          </a:p>
        </p:txBody>
      </p:sp>
      <p:sp>
        <p:nvSpPr>
          <p:cNvPr id="35" name="Shape 33"/>
          <p:cNvSpPr/>
          <p:nvPr/>
        </p:nvSpPr>
        <p:spPr>
          <a:xfrm>
            <a:off x="457200" y="4572000"/>
            <a:ext cx="3611880" cy="1783080"/>
          </a:xfrm>
          <a:prstGeom prst="rect">
            <a:avLst/>
          </a:prstGeom>
          <a:solidFill>
            <a:srgbClr val="FFFFFF"/>
          </a:solidFill>
          <a:ln w="12700">
            <a:solidFill>
              <a:srgbClr val="E2E8F0"/>
            </a:solidFill>
            <a:prstDash val="solid"/>
          </a:ln>
        </p:spPr>
        <p:txBody>
          <a:bodyPr/>
          <a:lstStyle/>
          <a:p>
            <a:endParaRPr lang="en-GB"/>
          </a:p>
        </p:txBody>
      </p:sp>
      <p:sp>
        <p:nvSpPr>
          <p:cNvPr id="36" name="Text 34"/>
          <p:cNvSpPr/>
          <p:nvPr/>
        </p:nvSpPr>
        <p:spPr>
          <a:xfrm>
            <a:off x="640080" y="4709160"/>
            <a:ext cx="32004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LAST WEEK</a:t>
            </a:r>
            <a:endParaRPr lang="en-US" sz="1000" dirty="0"/>
          </a:p>
        </p:txBody>
      </p:sp>
      <p:sp>
        <p:nvSpPr>
          <p:cNvPr id="37" name="Text 35"/>
          <p:cNvSpPr/>
          <p:nvPr/>
        </p:nvSpPr>
        <p:spPr>
          <a:xfrm>
            <a:off x="640080" y="4983480"/>
            <a:ext cx="3200400" cy="41148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Subqueries &amp; CTEs</a:t>
            </a:r>
            <a:endParaRPr lang="en-US" sz="1800" dirty="0"/>
          </a:p>
        </p:txBody>
      </p:sp>
      <p:sp>
        <p:nvSpPr>
          <p:cNvPr id="38" name="Text 36"/>
          <p:cNvSpPr/>
          <p:nvPr/>
        </p:nvSpPr>
        <p:spPr>
          <a:xfrm>
            <a:off x="640080" y="5486400"/>
            <a:ext cx="3200400" cy="7772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We learned to compose queries from smaller building blocks. Today we use those same patterns.</a:t>
            </a:r>
            <a:endParaRPr lang="en-US" sz="1100" dirty="0"/>
          </a:p>
        </p:txBody>
      </p:sp>
      <p:sp>
        <p:nvSpPr>
          <p:cNvPr id="39" name="Shape 37"/>
          <p:cNvSpPr/>
          <p:nvPr/>
        </p:nvSpPr>
        <p:spPr>
          <a:xfrm>
            <a:off x="4297680" y="4572000"/>
            <a:ext cx="3611880" cy="1783080"/>
          </a:xfrm>
          <a:prstGeom prst="rect">
            <a:avLst/>
          </a:prstGeom>
          <a:solidFill>
            <a:srgbClr val="0F172A"/>
          </a:solidFill>
          <a:ln w="12700">
            <a:solidFill>
              <a:srgbClr val="0F172A"/>
            </a:solidFill>
            <a:prstDash val="solid"/>
          </a:ln>
        </p:spPr>
        <p:txBody>
          <a:bodyPr/>
          <a:lstStyle/>
          <a:p>
            <a:endParaRPr lang="en-GB"/>
          </a:p>
        </p:txBody>
      </p:sp>
      <p:sp>
        <p:nvSpPr>
          <p:cNvPr id="40" name="Text 38"/>
          <p:cNvSpPr/>
          <p:nvPr/>
        </p:nvSpPr>
        <p:spPr>
          <a:xfrm>
            <a:off x="4480560" y="4709160"/>
            <a:ext cx="3200400" cy="274320"/>
          </a:xfrm>
          <a:prstGeom prst="rect">
            <a:avLst/>
          </a:prstGeom>
          <a:noFill/>
          <a:ln/>
        </p:spPr>
        <p:txBody>
          <a:bodyPr wrap="square" lIns="0" tIns="0" rIns="0" bIns="0" rtlCol="0" anchor="ctr"/>
          <a:lstStyle/>
          <a:p>
            <a:pPr marL="0" indent="0">
              <a:buNone/>
            </a:pPr>
            <a:r>
              <a:rPr lang="en-US" sz="1000" b="1" kern="0" spc="400" dirty="0">
                <a:solidFill>
                  <a:srgbClr val="F59E0B"/>
                </a:solidFill>
                <a:latin typeface="Calibri" pitchFamily="34" charset="0"/>
                <a:ea typeface="Calibri" pitchFamily="34" charset="-122"/>
                <a:cs typeface="Calibri" pitchFamily="34" charset="-120"/>
              </a:rPr>
              <a:t>TODAY</a:t>
            </a:r>
            <a:endParaRPr lang="en-US" sz="1000" dirty="0"/>
          </a:p>
        </p:txBody>
      </p:sp>
      <p:sp>
        <p:nvSpPr>
          <p:cNvPr id="41" name="Text 39"/>
          <p:cNvSpPr/>
          <p:nvPr/>
        </p:nvSpPr>
        <p:spPr>
          <a:xfrm>
            <a:off x="4480560" y="4983480"/>
            <a:ext cx="320040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 Profiling</a:t>
            </a:r>
            <a:endParaRPr lang="en-US" sz="1800" dirty="0"/>
          </a:p>
        </p:txBody>
      </p:sp>
      <p:sp>
        <p:nvSpPr>
          <p:cNvPr id="42" name="Text 40"/>
          <p:cNvSpPr/>
          <p:nvPr/>
        </p:nvSpPr>
        <p:spPr>
          <a:xfrm>
            <a:off x="4480560" y="5486400"/>
            <a:ext cx="3200400" cy="7772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Four lenses for understanding any dataset. Plus the anomaly patterns that bite in production.</a:t>
            </a:r>
            <a:endParaRPr lang="en-US" sz="1100" dirty="0"/>
          </a:p>
        </p:txBody>
      </p:sp>
      <p:sp>
        <p:nvSpPr>
          <p:cNvPr id="43" name="Shape 41"/>
          <p:cNvSpPr/>
          <p:nvPr/>
        </p:nvSpPr>
        <p:spPr>
          <a:xfrm>
            <a:off x="8138160" y="4572000"/>
            <a:ext cx="3611880" cy="1783080"/>
          </a:xfrm>
          <a:prstGeom prst="rect">
            <a:avLst/>
          </a:prstGeom>
          <a:solidFill>
            <a:srgbClr val="FFFFFF"/>
          </a:solidFill>
          <a:ln w="12700">
            <a:solidFill>
              <a:srgbClr val="E2E8F0"/>
            </a:solidFill>
            <a:prstDash val="solid"/>
          </a:ln>
        </p:spPr>
        <p:txBody>
          <a:bodyPr/>
          <a:lstStyle/>
          <a:p>
            <a:endParaRPr lang="en-GB"/>
          </a:p>
        </p:txBody>
      </p:sp>
      <p:sp>
        <p:nvSpPr>
          <p:cNvPr id="44" name="Text 42"/>
          <p:cNvSpPr/>
          <p:nvPr/>
        </p:nvSpPr>
        <p:spPr>
          <a:xfrm>
            <a:off x="8321040" y="4709160"/>
            <a:ext cx="32004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NEXT WEEK</a:t>
            </a:r>
            <a:endParaRPr lang="en-US" sz="1000" dirty="0"/>
          </a:p>
        </p:txBody>
      </p:sp>
      <p:sp>
        <p:nvSpPr>
          <p:cNvPr id="45" name="Text 43"/>
          <p:cNvSpPr/>
          <p:nvPr/>
        </p:nvSpPr>
        <p:spPr>
          <a:xfrm>
            <a:off x="8321040" y="4983480"/>
            <a:ext cx="3200400" cy="41148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Profiling for Quality</a:t>
            </a:r>
            <a:endParaRPr lang="en-US" sz="1800" dirty="0"/>
          </a:p>
        </p:txBody>
      </p:sp>
      <p:sp>
        <p:nvSpPr>
          <p:cNvPr id="46" name="Text 44"/>
          <p:cNvSpPr/>
          <p:nvPr/>
        </p:nvSpPr>
        <p:spPr>
          <a:xfrm>
            <a:off x="8321040" y="5486400"/>
            <a:ext cx="3200400" cy="7772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Today's findings turn into automated quality checks you can run on a schedule.</a:t>
            </a:r>
            <a:endParaRPr lang="en-US" sz="1100" dirty="0"/>
          </a:p>
        </p:txBody>
      </p:sp>
      <p:sp>
        <p:nvSpPr>
          <p:cNvPr id="48" name="Shape 45"/>
          <p:cNvSpPr/>
          <p:nvPr/>
        </p:nvSpPr>
        <p:spPr>
          <a:xfrm>
            <a:off x="0" y="6583680"/>
            <a:ext cx="12191695" cy="18288"/>
          </a:xfrm>
          <a:prstGeom prst="rect">
            <a:avLst/>
          </a:prstGeom>
          <a:solidFill>
            <a:srgbClr val="E2E8F0"/>
          </a:solidFill>
          <a:ln/>
        </p:spPr>
        <p:txBody>
          <a:bodyPr/>
          <a:lstStyle/>
          <a:p>
            <a:endParaRPr lang="en-GB"/>
          </a:p>
        </p:txBody>
      </p:sp>
      <p:sp>
        <p:nvSpPr>
          <p:cNvPr id="49" name="Text 46"/>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50" name="Text 47"/>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WHAT WE'LL COVER IN THE NEXT 75 MINUTES</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Today's Agenda</a:t>
            </a:r>
            <a:endParaRPr lang="en-US" sz="3600" dirty="0"/>
          </a:p>
        </p:txBody>
      </p:sp>
      <p:sp>
        <p:nvSpPr>
          <p:cNvPr id="4" name="Shape 2"/>
          <p:cNvSpPr/>
          <p:nvPr/>
        </p:nvSpPr>
        <p:spPr>
          <a:xfrm>
            <a:off x="457200" y="1828800"/>
            <a:ext cx="11247120" cy="54864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731520" y="1947672"/>
            <a:ext cx="310896" cy="310896"/>
          </a:xfrm>
          <a:prstGeom prst="ellipse">
            <a:avLst/>
          </a:prstGeom>
          <a:solidFill>
            <a:srgbClr val="06B6D4"/>
          </a:solidFill>
          <a:ln/>
        </p:spPr>
        <p:txBody>
          <a:bodyPr/>
          <a:lstStyle/>
          <a:p>
            <a:endParaRPr lang="en-GB"/>
          </a:p>
        </p:txBody>
      </p:sp>
      <p:sp>
        <p:nvSpPr>
          <p:cNvPr id="6" name="Text 4"/>
          <p:cNvSpPr/>
          <p:nvPr/>
        </p:nvSpPr>
        <p:spPr>
          <a:xfrm>
            <a:off x="731520" y="19476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89280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Why profile data</a:t>
            </a:r>
            <a:endParaRPr lang="en-US" sz="1500" dirty="0"/>
          </a:p>
        </p:txBody>
      </p:sp>
      <p:sp>
        <p:nvSpPr>
          <p:cNvPr id="8" name="Text 6"/>
          <p:cNvSpPr/>
          <p:nvPr/>
        </p:nvSpPr>
        <p:spPr>
          <a:xfrm>
            <a:off x="6400800" y="189280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 case for inspecting before analysing</a:t>
            </a:r>
            <a:endParaRPr lang="en-US" sz="1100" dirty="0"/>
          </a:p>
        </p:txBody>
      </p:sp>
      <p:sp>
        <p:nvSpPr>
          <p:cNvPr id="9" name="Shape 7"/>
          <p:cNvSpPr/>
          <p:nvPr/>
        </p:nvSpPr>
        <p:spPr>
          <a:xfrm>
            <a:off x="457200" y="2468880"/>
            <a:ext cx="11247120" cy="548640"/>
          </a:xfrm>
          <a:prstGeom prst="rect">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731520" y="2587752"/>
            <a:ext cx="310896" cy="310896"/>
          </a:xfrm>
          <a:prstGeom prst="ellipse">
            <a:avLst/>
          </a:prstGeom>
          <a:solidFill>
            <a:srgbClr val="06B6D4"/>
          </a:solidFill>
          <a:ln/>
        </p:spPr>
        <p:txBody>
          <a:bodyPr/>
          <a:lstStyle/>
          <a:p>
            <a:endParaRPr lang="en-GB"/>
          </a:p>
        </p:txBody>
      </p:sp>
      <p:sp>
        <p:nvSpPr>
          <p:cNvPr id="11" name="Text 9"/>
          <p:cNvSpPr/>
          <p:nvPr/>
        </p:nvSpPr>
        <p:spPr>
          <a:xfrm>
            <a:off x="731520" y="25877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80160" y="253288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The four lenses</a:t>
            </a:r>
            <a:endParaRPr lang="en-US" sz="1500" dirty="0"/>
          </a:p>
        </p:txBody>
      </p:sp>
      <p:sp>
        <p:nvSpPr>
          <p:cNvPr id="13" name="Text 11"/>
          <p:cNvSpPr/>
          <p:nvPr/>
        </p:nvSpPr>
        <p:spPr>
          <a:xfrm>
            <a:off x="6400800" y="253288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Shape, completeness, uniqueness, range</a:t>
            </a:r>
            <a:endParaRPr lang="en-US" sz="1100" dirty="0"/>
          </a:p>
        </p:txBody>
      </p:sp>
      <p:sp>
        <p:nvSpPr>
          <p:cNvPr id="14" name="Shape 12"/>
          <p:cNvSpPr/>
          <p:nvPr/>
        </p:nvSpPr>
        <p:spPr>
          <a:xfrm>
            <a:off x="457200" y="3108960"/>
            <a:ext cx="11247120" cy="54864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731520" y="3227832"/>
            <a:ext cx="310896" cy="310896"/>
          </a:xfrm>
          <a:prstGeom prst="ellipse">
            <a:avLst/>
          </a:prstGeom>
          <a:solidFill>
            <a:srgbClr val="06B6D4"/>
          </a:solidFill>
          <a:ln/>
        </p:spPr>
        <p:txBody>
          <a:bodyPr/>
          <a:lstStyle/>
          <a:p>
            <a:endParaRPr lang="en-GB"/>
          </a:p>
        </p:txBody>
      </p:sp>
      <p:sp>
        <p:nvSpPr>
          <p:cNvPr id="16" name="Text 14"/>
          <p:cNvSpPr/>
          <p:nvPr/>
        </p:nvSpPr>
        <p:spPr>
          <a:xfrm>
            <a:off x="731520" y="32278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80160" y="317296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Building distribution profiles</a:t>
            </a:r>
            <a:endParaRPr lang="en-US" sz="1500" dirty="0"/>
          </a:p>
        </p:txBody>
      </p:sp>
      <p:sp>
        <p:nvSpPr>
          <p:cNvPr id="18" name="Text 16"/>
          <p:cNvSpPr/>
          <p:nvPr/>
        </p:nvSpPr>
        <p:spPr>
          <a:xfrm>
            <a:off x="6400800" y="317296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Live queries against BootcampDB</a:t>
            </a:r>
            <a:endParaRPr lang="en-US" sz="1100" dirty="0"/>
          </a:p>
        </p:txBody>
      </p:sp>
      <p:sp>
        <p:nvSpPr>
          <p:cNvPr id="19" name="Shape 17"/>
          <p:cNvSpPr/>
          <p:nvPr/>
        </p:nvSpPr>
        <p:spPr>
          <a:xfrm>
            <a:off x="457200" y="3749040"/>
            <a:ext cx="11247120" cy="548640"/>
          </a:xfrm>
          <a:prstGeom prst="rect">
            <a:avLst/>
          </a:prstGeom>
          <a:solidFill>
            <a:srgbClr val="FFFFFF"/>
          </a:solidFill>
          <a:ln w="12700">
            <a:solidFill>
              <a:srgbClr val="E2E8F0"/>
            </a:solidFill>
            <a:prstDash val="solid"/>
          </a:ln>
        </p:spPr>
        <p:txBody>
          <a:bodyPr/>
          <a:lstStyle/>
          <a:p>
            <a:endParaRPr lang="en-GB"/>
          </a:p>
        </p:txBody>
      </p:sp>
      <p:sp>
        <p:nvSpPr>
          <p:cNvPr id="20" name="Shape 18"/>
          <p:cNvSpPr/>
          <p:nvPr/>
        </p:nvSpPr>
        <p:spPr>
          <a:xfrm>
            <a:off x="731520" y="3867912"/>
            <a:ext cx="310896" cy="310896"/>
          </a:xfrm>
          <a:prstGeom prst="ellipse">
            <a:avLst/>
          </a:prstGeom>
          <a:solidFill>
            <a:srgbClr val="06B6D4"/>
          </a:solidFill>
          <a:ln/>
        </p:spPr>
        <p:txBody>
          <a:bodyPr/>
          <a:lstStyle/>
          <a:p>
            <a:endParaRPr lang="en-GB"/>
          </a:p>
        </p:txBody>
      </p:sp>
      <p:sp>
        <p:nvSpPr>
          <p:cNvPr id="21" name="Text 19"/>
          <p:cNvSpPr/>
          <p:nvPr/>
        </p:nvSpPr>
        <p:spPr>
          <a:xfrm>
            <a:off x="731520" y="38679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80160" y="381304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Detecting anomalies and patterns</a:t>
            </a:r>
            <a:endParaRPr lang="en-US" sz="1500" dirty="0"/>
          </a:p>
        </p:txBody>
      </p:sp>
      <p:sp>
        <p:nvSpPr>
          <p:cNvPr id="23" name="Text 21"/>
          <p:cNvSpPr/>
          <p:nvPr/>
        </p:nvSpPr>
        <p:spPr>
          <a:xfrm>
            <a:off x="6400800" y="381304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Outliers, formats, sentinel values</a:t>
            </a:r>
            <a:endParaRPr lang="en-US" sz="1100" dirty="0"/>
          </a:p>
        </p:txBody>
      </p:sp>
      <p:sp>
        <p:nvSpPr>
          <p:cNvPr id="24" name="Shape 22"/>
          <p:cNvSpPr/>
          <p:nvPr/>
        </p:nvSpPr>
        <p:spPr>
          <a:xfrm>
            <a:off x="457200" y="4389120"/>
            <a:ext cx="11247120" cy="548640"/>
          </a:xfrm>
          <a:prstGeom prst="rect">
            <a:avLst/>
          </a:prstGeom>
          <a:solidFill>
            <a:srgbClr val="FFFFFF"/>
          </a:solidFill>
          <a:ln w="12700">
            <a:solidFill>
              <a:srgbClr val="E2E8F0"/>
            </a:solidFill>
            <a:prstDash val="solid"/>
          </a:ln>
        </p:spPr>
        <p:txBody>
          <a:bodyPr/>
          <a:lstStyle/>
          <a:p>
            <a:endParaRPr lang="en-GB"/>
          </a:p>
        </p:txBody>
      </p:sp>
      <p:sp>
        <p:nvSpPr>
          <p:cNvPr id="25" name="Shape 23"/>
          <p:cNvSpPr/>
          <p:nvPr/>
        </p:nvSpPr>
        <p:spPr>
          <a:xfrm>
            <a:off x="731520" y="4507992"/>
            <a:ext cx="310896" cy="310896"/>
          </a:xfrm>
          <a:prstGeom prst="ellipse">
            <a:avLst/>
          </a:prstGeom>
          <a:solidFill>
            <a:srgbClr val="06B6D4"/>
          </a:solidFill>
          <a:ln/>
        </p:spPr>
        <p:txBody>
          <a:bodyPr/>
          <a:lstStyle/>
          <a:p>
            <a:endParaRPr lang="en-GB"/>
          </a:p>
        </p:txBody>
      </p:sp>
      <p:sp>
        <p:nvSpPr>
          <p:cNvPr id="26" name="Text 24"/>
          <p:cNvSpPr/>
          <p:nvPr/>
        </p:nvSpPr>
        <p:spPr>
          <a:xfrm>
            <a:off x="731520" y="45079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280160" y="445312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AI as a profiling partner</a:t>
            </a:r>
            <a:endParaRPr lang="en-US" sz="1500" dirty="0"/>
          </a:p>
        </p:txBody>
      </p:sp>
      <p:sp>
        <p:nvSpPr>
          <p:cNvPr id="28" name="Text 26"/>
          <p:cNvSpPr/>
          <p:nvPr/>
        </p:nvSpPr>
        <p:spPr>
          <a:xfrm>
            <a:off x="6400800" y="445312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Structured prompts and verification</a:t>
            </a:r>
            <a:endParaRPr lang="en-US" sz="1100" dirty="0"/>
          </a:p>
        </p:txBody>
      </p:sp>
      <p:sp>
        <p:nvSpPr>
          <p:cNvPr id="29" name="Shape 27"/>
          <p:cNvSpPr/>
          <p:nvPr/>
        </p:nvSpPr>
        <p:spPr>
          <a:xfrm>
            <a:off x="457200" y="5029200"/>
            <a:ext cx="11247120" cy="548640"/>
          </a:xfrm>
          <a:prstGeom prst="rect">
            <a:avLst/>
          </a:prstGeom>
          <a:solidFill>
            <a:srgbClr val="FFFFFF"/>
          </a:solidFill>
          <a:ln w="12700">
            <a:solidFill>
              <a:srgbClr val="E2E8F0"/>
            </a:solidFill>
            <a:prstDash val="solid"/>
          </a:ln>
        </p:spPr>
        <p:txBody>
          <a:bodyPr/>
          <a:lstStyle/>
          <a:p>
            <a:endParaRPr lang="en-GB"/>
          </a:p>
        </p:txBody>
      </p:sp>
      <p:sp>
        <p:nvSpPr>
          <p:cNvPr id="30" name="Shape 28"/>
          <p:cNvSpPr/>
          <p:nvPr/>
        </p:nvSpPr>
        <p:spPr>
          <a:xfrm>
            <a:off x="731520" y="5148072"/>
            <a:ext cx="310896" cy="310896"/>
          </a:xfrm>
          <a:prstGeom prst="ellipse">
            <a:avLst/>
          </a:prstGeom>
          <a:solidFill>
            <a:srgbClr val="06B6D4"/>
          </a:solidFill>
          <a:ln/>
        </p:spPr>
        <p:txBody>
          <a:bodyPr/>
          <a:lstStyle/>
          <a:p>
            <a:endParaRPr lang="en-GB"/>
          </a:p>
        </p:txBody>
      </p:sp>
      <p:sp>
        <p:nvSpPr>
          <p:cNvPr id="31" name="Text 29"/>
          <p:cNvSpPr/>
          <p:nvPr/>
        </p:nvSpPr>
        <p:spPr>
          <a:xfrm>
            <a:off x="731520" y="51480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1280160" y="509320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Hands-on exercises</a:t>
            </a:r>
            <a:endParaRPr lang="en-US" sz="1500" dirty="0"/>
          </a:p>
        </p:txBody>
      </p:sp>
      <p:sp>
        <p:nvSpPr>
          <p:cNvPr id="33" name="Text 31"/>
          <p:cNvSpPr/>
          <p:nvPr/>
        </p:nvSpPr>
        <p:spPr>
          <a:xfrm>
            <a:off x="6400800" y="509320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Four in class, three as homework</a:t>
            </a:r>
            <a:endParaRPr lang="en-US" sz="1100" dirty="0"/>
          </a:p>
        </p:txBody>
      </p:sp>
      <p:sp>
        <p:nvSpPr>
          <p:cNvPr id="34" name="Shape 32"/>
          <p:cNvSpPr/>
          <p:nvPr/>
        </p:nvSpPr>
        <p:spPr>
          <a:xfrm>
            <a:off x="457200" y="5669280"/>
            <a:ext cx="11247120" cy="548640"/>
          </a:xfrm>
          <a:prstGeom prst="rect">
            <a:avLst/>
          </a:prstGeom>
          <a:solidFill>
            <a:srgbClr val="FFFFFF"/>
          </a:solidFill>
          <a:ln w="12700">
            <a:solidFill>
              <a:srgbClr val="E2E8F0"/>
            </a:solidFill>
            <a:prstDash val="solid"/>
          </a:ln>
        </p:spPr>
        <p:txBody>
          <a:bodyPr/>
          <a:lstStyle/>
          <a:p>
            <a:endParaRPr lang="en-GB"/>
          </a:p>
        </p:txBody>
      </p:sp>
      <p:sp>
        <p:nvSpPr>
          <p:cNvPr id="35" name="Shape 33"/>
          <p:cNvSpPr/>
          <p:nvPr/>
        </p:nvSpPr>
        <p:spPr>
          <a:xfrm>
            <a:off x="731520" y="5788152"/>
            <a:ext cx="310896" cy="310896"/>
          </a:xfrm>
          <a:prstGeom prst="ellipse">
            <a:avLst/>
          </a:prstGeom>
          <a:solidFill>
            <a:srgbClr val="06B6D4"/>
          </a:solidFill>
          <a:ln/>
        </p:spPr>
        <p:txBody>
          <a:bodyPr/>
          <a:lstStyle/>
          <a:p>
            <a:endParaRPr lang="en-GB"/>
          </a:p>
        </p:txBody>
      </p:sp>
      <p:sp>
        <p:nvSpPr>
          <p:cNvPr id="36" name="Text 34"/>
          <p:cNvSpPr/>
          <p:nvPr/>
        </p:nvSpPr>
        <p:spPr>
          <a:xfrm>
            <a:off x="731520" y="57881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1280160" y="5733288"/>
            <a:ext cx="5029200" cy="41148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Recap and Q&amp;A</a:t>
            </a:r>
            <a:endParaRPr lang="en-US" sz="1500" dirty="0"/>
          </a:p>
        </p:txBody>
      </p:sp>
      <p:sp>
        <p:nvSpPr>
          <p:cNvPr id="38" name="Text 36"/>
          <p:cNvSpPr/>
          <p:nvPr/>
        </p:nvSpPr>
        <p:spPr>
          <a:xfrm>
            <a:off x="6400800" y="5733288"/>
            <a:ext cx="502920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Plus a tease of next week</a:t>
            </a:r>
            <a:endParaRPr lang="en-US" sz="1100" dirty="0"/>
          </a:p>
        </p:txBody>
      </p:sp>
      <p:sp>
        <p:nvSpPr>
          <p:cNvPr id="40" name="Shape 37"/>
          <p:cNvSpPr/>
          <p:nvPr/>
        </p:nvSpPr>
        <p:spPr>
          <a:xfrm>
            <a:off x="0" y="6583680"/>
            <a:ext cx="12191695" cy="18288"/>
          </a:xfrm>
          <a:prstGeom prst="rect">
            <a:avLst/>
          </a:prstGeom>
          <a:solidFill>
            <a:srgbClr val="E2E8F0"/>
          </a:solidFill>
          <a:ln/>
        </p:spPr>
        <p:txBody>
          <a:bodyPr/>
          <a:lstStyle/>
          <a:p>
            <a:endParaRPr lang="en-GB"/>
          </a:p>
        </p:txBody>
      </p:sp>
      <p:sp>
        <p:nvSpPr>
          <p:cNvPr id="41" name="Text 38"/>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42" name="Text 39"/>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THE PROBLEM WE'RE SOLVING</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Why Profile Data</a:t>
            </a:r>
            <a:endParaRPr lang="en-US" sz="3600" dirty="0"/>
          </a:p>
        </p:txBody>
      </p:sp>
      <p:sp>
        <p:nvSpPr>
          <p:cNvPr id="4" name="Shape 2"/>
          <p:cNvSpPr/>
          <p:nvPr/>
        </p:nvSpPr>
        <p:spPr>
          <a:xfrm>
            <a:off x="457200" y="1828800"/>
            <a:ext cx="5486400" cy="4389120"/>
          </a:xfrm>
          <a:prstGeom prst="rect">
            <a:avLst/>
          </a:prstGeom>
          <a:solidFill>
            <a:srgbClr val="FFFFFF"/>
          </a:solidFill>
          <a:ln w="25400">
            <a:solidFill>
              <a:srgbClr val="EF4444"/>
            </a:solidFill>
            <a:prstDash val="solid"/>
          </a:ln>
        </p:spPr>
        <p:txBody>
          <a:bodyPr/>
          <a:lstStyle/>
          <a:p>
            <a:endParaRPr lang="en-GB"/>
          </a:p>
        </p:txBody>
      </p:sp>
      <p:sp>
        <p:nvSpPr>
          <p:cNvPr id="5" name="Text 3"/>
          <p:cNvSpPr/>
          <p:nvPr/>
        </p:nvSpPr>
        <p:spPr>
          <a:xfrm>
            <a:off x="640080" y="1965960"/>
            <a:ext cx="5120640" cy="274320"/>
          </a:xfrm>
          <a:prstGeom prst="rect">
            <a:avLst/>
          </a:prstGeom>
          <a:noFill/>
          <a:ln/>
        </p:spPr>
        <p:txBody>
          <a:bodyPr wrap="square" lIns="0" tIns="0" rIns="0" bIns="0" rtlCol="0" anchor="ctr"/>
          <a:lstStyle/>
          <a:p>
            <a:pPr marL="0" indent="0">
              <a:buNone/>
            </a:pPr>
            <a:r>
              <a:rPr lang="en-US" sz="1100" b="1" kern="0" spc="400" dirty="0">
                <a:solidFill>
                  <a:srgbClr val="EF4444"/>
                </a:solidFill>
                <a:latin typeface="Calibri" pitchFamily="34" charset="0"/>
                <a:ea typeface="Calibri" pitchFamily="34" charset="-122"/>
                <a:cs typeface="Calibri" pitchFamily="34" charset="-120"/>
              </a:rPr>
              <a:t>WITHOUT PROFILING</a:t>
            </a:r>
            <a:endParaRPr lang="en-US" sz="1100" dirty="0"/>
          </a:p>
        </p:txBody>
      </p:sp>
      <p:sp>
        <p:nvSpPr>
          <p:cNvPr id="6" name="Text 4"/>
          <p:cNvSpPr/>
          <p:nvPr/>
        </p:nvSpPr>
        <p:spPr>
          <a:xfrm>
            <a:off x="640080" y="2286000"/>
            <a:ext cx="5120640" cy="45720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The dashboard tells the wrong story</a:t>
            </a:r>
            <a:endParaRPr lang="en-US" sz="1800" dirty="0"/>
          </a:p>
        </p:txBody>
      </p:sp>
      <p:sp>
        <p:nvSpPr>
          <p:cNvPr id="7" name="Text 5"/>
          <p:cNvSpPr/>
          <p:nvPr/>
        </p:nvSpPr>
        <p:spPr>
          <a:xfrm>
            <a:off x="731520" y="2834640"/>
            <a:ext cx="502920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  Average looks fine, but 30% of rows are NULL</a:t>
            </a:r>
            <a:endParaRPr lang="en-US" sz="1200" dirty="0"/>
          </a:p>
        </p:txBody>
      </p:sp>
      <p:sp>
        <p:nvSpPr>
          <p:cNvPr id="8" name="Text 6"/>
          <p:cNvSpPr/>
          <p:nvPr/>
        </p:nvSpPr>
        <p:spPr>
          <a:xfrm>
            <a:off x="731520" y="3383280"/>
            <a:ext cx="502920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  Distinct count is 8, but 6 of them are typos of the same thing</a:t>
            </a:r>
            <a:endParaRPr lang="en-US" sz="1200" dirty="0"/>
          </a:p>
        </p:txBody>
      </p:sp>
      <p:sp>
        <p:nvSpPr>
          <p:cNvPr id="9" name="Text 7"/>
          <p:cNvSpPr/>
          <p:nvPr/>
        </p:nvSpPr>
        <p:spPr>
          <a:xfrm>
            <a:off x="731520" y="3931920"/>
            <a:ext cx="502920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  Date range goes to 9999-12-31 - sentinel values polluting your model</a:t>
            </a:r>
            <a:endParaRPr lang="en-US" sz="1200" dirty="0"/>
          </a:p>
        </p:txBody>
      </p:sp>
      <p:sp>
        <p:nvSpPr>
          <p:cNvPr id="10" name="Text 8"/>
          <p:cNvSpPr/>
          <p:nvPr/>
        </p:nvSpPr>
        <p:spPr>
          <a:xfrm>
            <a:off x="731520" y="4480560"/>
            <a:ext cx="502920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  A patient appears twice because NHS number was re-keyed</a:t>
            </a:r>
            <a:endParaRPr lang="en-US" sz="1200" dirty="0"/>
          </a:p>
        </p:txBody>
      </p:sp>
      <p:sp>
        <p:nvSpPr>
          <p:cNvPr id="11" name="Text 9"/>
          <p:cNvSpPr/>
          <p:nvPr/>
        </p:nvSpPr>
        <p:spPr>
          <a:xfrm>
            <a:off x="731520" y="5029200"/>
            <a:ext cx="502920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  Pipeline runs every day, fails silently for a week</a:t>
            </a:r>
            <a:endParaRPr lang="en-US" sz="1200" dirty="0"/>
          </a:p>
        </p:txBody>
      </p:sp>
      <p:sp>
        <p:nvSpPr>
          <p:cNvPr id="12" name="Shape 10"/>
          <p:cNvSpPr/>
          <p:nvPr/>
        </p:nvSpPr>
        <p:spPr>
          <a:xfrm>
            <a:off x="6217920" y="1828800"/>
            <a:ext cx="5486400" cy="4389120"/>
          </a:xfrm>
          <a:prstGeom prst="rect">
            <a:avLst/>
          </a:prstGeom>
          <a:solidFill>
            <a:srgbClr val="0F172A"/>
          </a:solidFill>
          <a:ln/>
        </p:spPr>
        <p:txBody>
          <a:bodyPr/>
          <a:lstStyle/>
          <a:p>
            <a:endParaRPr lang="en-GB"/>
          </a:p>
        </p:txBody>
      </p:sp>
      <p:sp>
        <p:nvSpPr>
          <p:cNvPr id="13" name="Text 11"/>
          <p:cNvSpPr/>
          <p:nvPr/>
        </p:nvSpPr>
        <p:spPr>
          <a:xfrm>
            <a:off x="6400800" y="1965960"/>
            <a:ext cx="5120640" cy="27432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WITH PROFILING</a:t>
            </a:r>
            <a:endParaRPr lang="en-US" sz="1100" dirty="0"/>
          </a:p>
        </p:txBody>
      </p:sp>
      <p:sp>
        <p:nvSpPr>
          <p:cNvPr id="14" name="Text 12"/>
          <p:cNvSpPr/>
          <p:nvPr/>
        </p:nvSpPr>
        <p:spPr>
          <a:xfrm>
            <a:off x="6400800" y="2286000"/>
            <a:ext cx="512064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You know what you're working with</a:t>
            </a:r>
            <a:endParaRPr lang="en-US" sz="1800" dirty="0"/>
          </a:p>
        </p:txBody>
      </p:sp>
      <p:sp>
        <p:nvSpPr>
          <p:cNvPr id="15" name="Text 13"/>
          <p:cNvSpPr/>
          <p:nvPr/>
        </p:nvSpPr>
        <p:spPr>
          <a:xfrm>
            <a:off x="6492240" y="2834640"/>
            <a:ext cx="5029200" cy="5029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Caught the NULL surge before it hit production</a:t>
            </a:r>
            <a:endParaRPr lang="en-US" sz="1200" dirty="0"/>
          </a:p>
        </p:txBody>
      </p:sp>
      <p:sp>
        <p:nvSpPr>
          <p:cNvPr id="16" name="Text 14"/>
          <p:cNvSpPr/>
          <p:nvPr/>
        </p:nvSpPr>
        <p:spPr>
          <a:xfrm>
            <a:off x="6492240" y="3383280"/>
            <a:ext cx="5029200" cy="5029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Spotted the duplicate values and the bad date defaults</a:t>
            </a:r>
            <a:endParaRPr lang="en-US" sz="1200" dirty="0"/>
          </a:p>
        </p:txBody>
      </p:sp>
      <p:sp>
        <p:nvSpPr>
          <p:cNvPr id="17" name="Text 15"/>
          <p:cNvSpPr/>
          <p:nvPr/>
        </p:nvSpPr>
        <p:spPr>
          <a:xfrm>
            <a:off x="6492240" y="3931920"/>
            <a:ext cx="5029200" cy="5029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Knew the data shape before designing the model</a:t>
            </a:r>
            <a:endParaRPr lang="en-US" sz="1200" dirty="0"/>
          </a:p>
        </p:txBody>
      </p:sp>
      <p:sp>
        <p:nvSpPr>
          <p:cNvPr id="18" name="Text 16"/>
          <p:cNvSpPr/>
          <p:nvPr/>
        </p:nvSpPr>
        <p:spPr>
          <a:xfrm>
            <a:off x="6492240" y="4480560"/>
            <a:ext cx="5029200" cy="5029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Communicated caveats to stakeholders up front</a:t>
            </a:r>
            <a:endParaRPr lang="en-US" sz="1200" dirty="0"/>
          </a:p>
        </p:txBody>
      </p:sp>
      <p:sp>
        <p:nvSpPr>
          <p:cNvPr id="19" name="Text 17"/>
          <p:cNvSpPr/>
          <p:nvPr/>
        </p:nvSpPr>
        <p:spPr>
          <a:xfrm>
            <a:off x="6492240" y="5029200"/>
            <a:ext cx="5029200" cy="5029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Built quality checks that run on every load</a:t>
            </a:r>
            <a:endParaRPr lang="en-US" sz="1200" dirty="0"/>
          </a:p>
        </p:txBody>
      </p:sp>
      <p:sp>
        <p:nvSpPr>
          <p:cNvPr id="21" name="Shape 18"/>
          <p:cNvSpPr/>
          <p:nvPr/>
        </p:nvSpPr>
        <p:spPr>
          <a:xfrm>
            <a:off x="0" y="6583680"/>
            <a:ext cx="12191695" cy="18288"/>
          </a:xfrm>
          <a:prstGeom prst="rect">
            <a:avLst/>
          </a:prstGeom>
          <a:solidFill>
            <a:srgbClr val="E2E8F0"/>
          </a:solidFill>
          <a:ln/>
        </p:spPr>
        <p:txBody>
          <a:bodyPr/>
          <a:lstStyle/>
          <a:p>
            <a:endParaRPr lang="en-GB"/>
          </a:p>
        </p:txBody>
      </p:sp>
      <p:sp>
        <p:nvSpPr>
          <p:cNvPr id="22" name="Text 19"/>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3" name="Text 20"/>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EVERY DATASET, EVERY TIME</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The Four Lenses</a:t>
            </a:r>
            <a:endParaRPr lang="en-US" sz="3600" dirty="0"/>
          </a:p>
        </p:txBody>
      </p:sp>
      <p:sp>
        <p:nvSpPr>
          <p:cNvPr id="4" name="Shape 2"/>
          <p:cNvSpPr/>
          <p:nvPr/>
        </p:nvSpPr>
        <p:spPr>
          <a:xfrm>
            <a:off x="457200" y="1828800"/>
            <a:ext cx="5486400" cy="205740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828800"/>
            <a:ext cx="137160" cy="2057400"/>
          </a:xfrm>
          <a:prstGeom prst="rect">
            <a:avLst/>
          </a:prstGeom>
          <a:solidFill>
            <a:srgbClr val="06B6D4"/>
          </a:solidFill>
          <a:ln/>
        </p:spPr>
        <p:txBody>
          <a:bodyPr/>
          <a:lstStyle/>
          <a:p>
            <a:endParaRPr lang="en-GB"/>
          </a:p>
        </p:txBody>
      </p:sp>
      <p:sp>
        <p:nvSpPr>
          <p:cNvPr id="6" name="Shape 4"/>
          <p:cNvSpPr/>
          <p:nvPr/>
        </p:nvSpPr>
        <p:spPr>
          <a:xfrm>
            <a:off x="868680" y="2057400"/>
            <a:ext cx="548640" cy="548640"/>
          </a:xfrm>
          <a:prstGeom prst="ellipse">
            <a:avLst/>
          </a:prstGeom>
          <a:solidFill>
            <a:srgbClr val="06B6D4"/>
          </a:solidFill>
          <a:ln/>
        </p:spPr>
        <p:txBody>
          <a:bodyPr/>
          <a:lstStyle/>
          <a:p>
            <a:endParaRPr lang="en-GB"/>
          </a:p>
        </p:txBody>
      </p:sp>
      <p:sp>
        <p:nvSpPr>
          <p:cNvPr id="7" name="Text 5"/>
          <p:cNvSpPr/>
          <p:nvPr/>
        </p:nvSpPr>
        <p:spPr>
          <a:xfrm>
            <a:off x="868680" y="20574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554480" y="2057400"/>
            <a:ext cx="4206240"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Shape</a:t>
            </a:r>
            <a:endParaRPr lang="en-US" sz="2200" dirty="0"/>
          </a:p>
        </p:txBody>
      </p:sp>
      <p:sp>
        <p:nvSpPr>
          <p:cNvPr id="9" name="Text 7"/>
          <p:cNvSpPr/>
          <p:nvPr/>
        </p:nvSpPr>
        <p:spPr>
          <a:xfrm>
            <a:off x="1554480" y="2514600"/>
            <a:ext cx="4206240" cy="365760"/>
          </a:xfrm>
          <a:prstGeom prst="rect">
            <a:avLst/>
          </a:prstGeom>
          <a:noFill/>
          <a:ln/>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How big is it?</a:t>
            </a:r>
            <a:endParaRPr lang="en-US" sz="1300" dirty="0"/>
          </a:p>
        </p:txBody>
      </p:sp>
      <p:sp>
        <p:nvSpPr>
          <p:cNvPr id="10" name="Shape 8"/>
          <p:cNvSpPr/>
          <p:nvPr/>
        </p:nvSpPr>
        <p:spPr>
          <a:xfrm>
            <a:off x="868680" y="3154680"/>
            <a:ext cx="4892040" cy="548640"/>
          </a:xfrm>
          <a:prstGeom prst="rect">
            <a:avLst/>
          </a:prstGeom>
          <a:solidFill>
            <a:srgbClr val="0F172A"/>
          </a:solidFill>
          <a:ln/>
        </p:spPr>
        <p:txBody>
          <a:bodyPr/>
          <a:lstStyle/>
          <a:p>
            <a:endParaRPr lang="en-GB"/>
          </a:p>
        </p:txBody>
      </p:sp>
      <p:sp>
        <p:nvSpPr>
          <p:cNvPr id="11" name="Text 9"/>
          <p:cNvSpPr/>
          <p:nvPr/>
        </p:nvSpPr>
        <p:spPr>
          <a:xfrm>
            <a:off x="1005840" y="3154680"/>
            <a:ext cx="4754880" cy="548640"/>
          </a:xfrm>
          <a:prstGeom prst="rect">
            <a:avLst/>
          </a:prstGeom>
          <a:noFill/>
          <a:ln/>
        </p:spPr>
        <p:txBody>
          <a:bodyPr wrap="square" lIns="0" tIns="0" rIns="0" bIns="0" rtlCol="0" anchor="ctr"/>
          <a:lstStyle/>
          <a:p>
            <a:pPr marL="0" indent="0">
              <a:buNone/>
            </a:pPr>
            <a:r>
              <a:rPr lang="en-US" sz="1200" dirty="0">
                <a:solidFill>
                  <a:srgbClr val="06B6D4"/>
                </a:solidFill>
                <a:latin typeface="Consolas" pitchFamily="34" charset="0"/>
                <a:ea typeface="Consolas" pitchFamily="34" charset="-122"/>
                <a:cs typeface="Consolas" pitchFamily="34" charset="-120"/>
              </a:rPr>
              <a:t>COUNT(*)</a:t>
            </a:r>
            <a:endParaRPr lang="en-US" sz="1200" dirty="0"/>
          </a:p>
        </p:txBody>
      </p:sp>
      <p:sp>
        <p:nvSpPr>
          <p:cNvPr id="12" name="Shape 10"/>
          <p:cNvSpPr/>
          <p:nvPr/>
        </p:nvSpPr>
        <p:spPr>
          <a:xfrm>
            <a:off x="6126480" y="1828800"/>
            <a:ext cx="5486400" cy="2057400"/>
          </a:xfrm>
          <a:prstGeom prst="rect">
            <a:avLst/>
          </a:prstGeom>
          <a:solidFill>
            <a:srgbClr val="FFFFFF"/>
          </a:solidFill>
          <a:ln w="12700">
            <a:solidFill>
              <a:srgbClr val="E2E8F0"/>
            </a:solidFill>
            <a:prstDash val="solid"/>
          </a:ln>
        </p:spPr>
        <p:txBody>
          <a:bodyPr/>
          <a:lstStyle/>
          <a:p>
            <a:endParaRPr lang="en-GB"/>
          </a:p>
        </p:txBody>
      </p:sp>
      <p:sp>
        <p:nvSpPr>
          <p:cNvPr id="13" name="Shape 11"/>
          <p:cNvSpPr/>
          <p:nvPr/>
        </p:nvSpPr>
        <p:spPr>
          <a:xfrm>
            <a:off x="6126480" y="1828800"/>
            <a:ext cx="137160" cy="2057400"/>
          </a:xfrm>
          <a:prstGeom prst="rect">
            <a:avLst/>
          </a:prstGeom>
          <a:solidFill>
            <a:srgbClr val="F59E0B"/>
          </a:solidFill>
          <a:ln/>
        </p:spPr>
        <p:txBody>
          <a:bodyPr/>
          <a:lstStyle/>
          <a:p>
            <a:endParaRPr lang="en-GB"/>
          </a:p>
        </p:txBody>
      </p:sp>
      <p:sp>
        <p:nvSpPr>
          <p:cNvPr id="14" name="Shape 12"/>
          <p:cNvSpPr/>
          <p:nvPr/>
        </p:nvSpPr>
        <p:spPr>
          <a:xfrm>
            <a:off x="6537960" y="2057400"/>
            <a:ext cx="548640" cy="548640"/>
          </a:xfrm>
          <a:prstGeom prst="ellipse">
            <a:avLst/>
          </a:prstGeom>
          <a:solidFill>
            <a:srgbClr val="F59E0B"/>
          </a:solidFill>
          <a:ln/>
        </p:spPr>
        <p:txBody>
          <a:bodyPr/>
          <a:lstStyle/>
          <a:p>
            <a:endParaRPr lang="en-GB"/>
          </a:p>
        </p:txBody>
      </p:sp>
      <p:sp>
        <p:nvSpPr>
          <p:cNvPr id="15" name="Text 13"/>
          <p:cNvSpPr/>
          <p:nvPr/>
        </p:nvSpPr>
        <p:spPr>
          <a:xfrm>
            <a:off x="6537960" y="20574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7223760" y="2057400"/>
            <a:ext cx="4206240"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Completeness</a:t>
            </a:r>
            <a:endParaRPr lang="en-US" sz="2200" dirty="0"/>
          </a:p>
        </p:txBody>
      </p:sp>
      <p:sp>
        <p:nvSpPr>
          <p:cNvPr id="17" name="Text 15"/>
          <p:cNvSpPr/>
          <p:nvPr/>
        </p:nvSpPr>
        <p:spPr>
          <a:xfrm>
            <a:off x="7223760" y="2514600"/>
            <a:ext cx="4206240" cy="365760"/>
          </a:xfrm>
          <a:prstGeom prst="rect">
            <a:avLst/>
          </a:prstGeom>
          <a:noFill/>
          <a:ln/>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How much is missing?</a:t>
            </a:r>
            <a:endParaRPr lang="en-US" sz="1300" dirty="0"/>
          </a:p>
        </p:txBody>
      </p:sp>
      <p:sp>
        <p:nvSpPr>
          <p:cNvPr id="18" name="Shape 16"/>
          <p:cNvSpPr/>
          <p:nvPr/>
        </p:nvSpPr>
        <p:spPr>
          <a:xfrm>
            <a:off x="6537960" y="3154680"/>
            <a:ext cx="4892040" cy="548640"/>
          </a:xfrm>
          <a:prstGeom prst="rect">
            <a:avLst/>
          </a:prstGeom>
          <a:solidFill>
            <a:srgbClr val="0F172A"/>
          </a:solidFill>
          <a:ln/>
        </p:spPr>
        <p:txBody>
          <a:bodyPr/>
          <a:lstStyle/>
          <a:p>
            <a:endParaRPr lang="en-GB"/>
          </a:p>
        </p:txBody>
      </p:sp>
      <p:sp>
        <p:nvSpPr>
          <p:cNvPr id="19" name="Text 17"/>
          <p:cNvSpPr/>
          <p:nvPr/>
        </p:nvSpPr>
        <p:spPr>
          <a:xfrm>
            <a:off x="6675120" y="3154680"/>
            <a:ext cx="4754880" cy="548640"/>
          </a:xfrm>
          <a:prstGeom prst="rect">
            <a:avLst/>
          </a:prstGeom>
          <a:noFill/>
          <a:ln/>
        </p:spPr>
        <p:txBody>
          <a:bodyPr wrap="square" lIns="0" tIns="0" rIns="0" bIns="0" rtlCol="0" anchor="ctr"/>
          <a:lstStyle/>
          <a:p>
            <a:pPr marL="0" indent="0">
              <a:buNone/>
            </a:pPr>
            <a:r>
              <a:rPr lang="en-US" sz="1200" dirty="0">
                <a:solidFill>
                  <a:srgbClr val="06B6D4"/>
                </a:solidFill>
                <a:latin typeface="Consolas" pitchFamily="34" charset="0"/>
                <a:ea typeface="Consolas" pitchFamily="34" charset="-122"/>
                <a:cs typeface="Consolas" pitchFamily="34" charset="-120"/>
              </a:rPr>
              <a:t>SUM(CASE WHEN col IS NULL THEN 1 ELSE 0 END)</a:t>
            </a:r>
            <a:endParaRPr lang="en-US" sz="1200" dirty="0"/>
          </a:p>
        </p:txBody>
      </p:sp>
      <p:sp>
        <p:nvSpPr>
          <p:cNvPr id="20" name="Shape 18"/>
          <p:cNvSpPr/>
          <p:nvPr/>
        </p:nvSpPr>
        <p:spPr>
          <a:xfrm>
            <a:off x="457200" y="4069080"/>
            <a:ext cx="5486400" cy="2057400"/>
          </a:xfrm>
          <a:prstGeom prst="rect">
            <a:avLst/>
          </a:prstGeom>
          <a:solidFill>
            <a:srgbClr val="FFFFFF"/>
          </a:solidFill>
          <a:ln w="12700">
            <a:solidFill>
              <a:srgbClr val="E2E8F0"/>
            </a:solidFill>
            <a:prstDash val="solid"/>
          </a:ln>
        </p:spPr>
        <p:txBody>
          <a:bodyPr/>
          <a:lstStyle/>
          <a:p>
            <a:endParaRPr lang="en-GB"/>
          </a:p>
        </p:txBody>
      </p:sp>
      <p:sp>
        <p:nvSpPr>
          <p:cNvPr id="21" name="Shape 19"/>
          <p:cNvSpPr/>
          <p:nvPr/>
        </p:nvSpPr>
        <p:spPr>
          <a:xfrm>
            <a:off x="457200" y="4069080"/>
            <a:ext cx="137160" cy="2057400"/>
          </a:xfrm>
          <a:prstGeom prst="rect">
            <a:avLst/>
          </a:prstGeom>
          <a:solidFill>
            <a:srgbClr val="10B981"/>
          </a:solidFill>
          <a:ln/>
        </p:spPr>
        <p:txBody>
          <a:bodyPr/>
          <a:lstStyle/>
          <a:p>
            <a:endParaRPr lang="en-GB"/>
          </a:p>
        </p:txBody>
      </p:sp>
      <p:sp>
        <p:nvSpPr>
          <p:cNvPr id="22" name="Shape 20"/>
          <p:cNvSpPr/>
          <p:nvPr/>
        </p:nvSpPr>
        <p:spPr>
          <a:xfrm>
            <a:off x="868680" y="4297680"/>
            <a:ext cx="548640" cy="548640"/>
          </a:xfrm>
          <a:prstGeom prst="ellipse">
            <a:avLst/>
          </a:prstGeom>
          <a:solidFill>
            <a:srgbClr val="10B981"/>
          </a:solidFill>
          <a:ln/>
        </p:spPr>
        <p:txBody>
          <a:bodyPr/>
          <a:lstStyle/>
          <a:p>
            <a:endParaRPr lang="en-GB"/>
          </a:p>
        </p:txBody>
      </p:sp>
      <p:sp>
        <p:nvSpPr>
          <p:cNvPr id="23" name="Text 21"/>
          <p:cNvSpPr/>
          <p:nvPr/>
        </p:nvSpPr>
        <p:spPr>
          <a:xfrm>
            <a:off x="868680" y="42976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554480" y="4297680"/>
            <a:ext cx="4206240"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Uniqueness</a:t>
            </a:r>
            <a:endParaRPr lang="en-US" sz="2200" dirty="0"/>
          </a:p>
        </p:txBody>
      </p:sp>
      <p:sp>
        <p:nvSpPr>
          <p:cNvPr id="25" name="Text 23"/>
          <p:cNvSpPr/>
          <p:nvPr/>
        </p:nvSpPr>
        <p:spPr>
          <a:xfrm>
            <a:off x="1554480" y="4754880"/>
            <a:ext cx="4206240" cy="365760"/>
          </a:xfrm>
          <a:prstGeom prst="rect">
            <a:avLst/>
          </a:prstGeom>
          <a:noFill/>
          <a:ln/>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How varied is each column?</a:t>
            </a:r>
            <a:endParaRPr lang="en-US" sz="1300" dirty="0"/>
          </a:p>
        </p:txBody>
      </p:sp>
      <p:sp>
        <p:nvSpPr>
          <p:cNvPr id="26" name="Shape 24"/>
          <p:cNvSpPr/>
          <p:nvPr/>
        </p:nvSpPr>
        <p:spPr>
          <a:xfrm>
            <a:off x="868680" y="5394960"/>
            <a:ext cx="4892040" cy="548640"/>
          </a:xfrm>
          <a:prstGeom prst="rect">
            <a:avLst/>
          </a:prstGeom>
          <a:solidFill>
            <a:srgbClr val="0F172A"/>
          </a:solidFill>
          <a:ln/>
        </p:spPr>
        <p:txBody>
          <a:bodyPr/>
          <a:lstStyle/>
          <a:p>
            <a:endParaRPr lang="en-GB"/>
          </a:p>
        </p:txBody>
      </p:sp>
      <p:sp>
        <p:nvSpPr>
          <p:cNvPr id="27" name="Text 25"/>
          <p:cNvSpPr/>
          <p:nvPr/>
        </p:nvSpPr>
        <p:spPr>
          <a:xfrm>
            <a:off x="1005840" y="5394960"/>
            <a:ext cx="4754880" cy="548640"/>
          </a:xfrm>
          <a:prstGeom prst="rect">
            <a:avLst/>
          </a:prstGeom>
          <a:noFill/>
          <a:ln/>
        </p:spPr>
        <p:txBody>
          <a:bodyPr wrap="square" lIns="0" tIns="0" rIns="0" bIns="0" rtlCol="0" anchor="ctr"/>
          <a:lstStyle/>
          <a:p>
            <a:pPr marL="0" indent="0">
              <a:buNone/>
            </a:pPr>
            <a:r>
              <a:rPr lang="en-US" sz="1200" dirty="0">
                <a:solidFill>
                  <a:srgbClr val="06B6D4"/>
                </a:solidFill>
                <a:latin typeface="Consolas" pitchFamily="34" charset="0"/>
                <a:ea typeface="Consolas" pitchFamily="34" charset="-122"/>
                <a:cs typeface="Consolas" pitchFamily="34" charset="-120"/>
              </a:rPr>
              <a:t>COUNT(DISTINCT col)</a:t>
            </a:r>
            <a:endParaRPr lang="en-US" sz="1200" dirty="0"/>
          </a:p>
        </p:txBody>
      </p:sp>
      <p:sp>
        <p:nvSpPr>
          <p:cNvPr id="28" name="Shape 26"/>
          <p:cNvSpPr/>
          <p:nvPr/>
        </p:nvSpPr>
        <p:spPr>
          <a:xfrm>
            <a:off x="6126480" y="4069080"/>
            <a:ext cx="5486400" cy="2057400"/>
          </a:xfrm>
          <a:prstGeom prst="rect">
            <a:avLst/>
          </a:prstGeom>
          <a:solidFill>
            <a:srgbClr val="FFFFFF"/>
          </a:solidFill>
          <a:ln w="12700">
            <a:solidFill>
              <a:srgbClr val="E2E8F0"/>
            </a:solidFill>
            <a:prstDash val="solid"/>
          </a:ln>
        </p:spPr>
        <p:txBody>
          <a:bodyPr/>
          <a:lstStyle/>
          <a:p>
            <a:endParaRPr lang="en-GB"/>
          </a:p>
        </p:txBody>
      </p:sp>
      <p:sp>
        <p:nvSpPr>
          <p:cNvPr id="29" name="Shape 27"/>
          <p:cNvSpPr/>
          <p:nvPr/>
        </p:nvSpPr>
        <p:spPr>
          <a:xfrm>
            <a:off x="6126480" y="4069080"/>
            <a:ext cx="137160" cy="2057400"/>
          </a:xfrm>
          <a:prstGeom prst="rect">
            <a:avLst/>
          </a:prstGeom>
          <a:solidFill>
            <a:srgbClr val="8B5CF6"/>
          </a:solidFill>
          <a:ln/>
        </p:spPr>
        <p:txBody>
          <a:bodyPr/>
          <a:lstStyle/>
          <a:p>
            <a:endParaRPr lang="en-GB"/>
          </a:p>
        </p:txBody>
      </p:sp>
      <p:sp>
        <p:nvSpPr>
          <p:cNvPr id="30" name="Shape 28"/>
          <p:cNvSpPr/>
          <p:nvPr/>
        </p:nvSpPr>
        <p:spPr>
          <a:xfrm>
            <a:off x="6537960" y="4297680"/>
            <a:ext cx="548640" cy="548640"/>
          </a:xfrm>
          <a:prstGeom prst="ellipse">
            <a:avLst/>
          </a:prstGeom>
          <a:solidFill>
            <a:srgbClr val="8B5CF6"/>
          </a:solidFill>
          <a:ln/>
        </p:spPr>
        <p:txBody>
          <a:bodyPr/>
          <a:lstStyle/>
          <a:p>
            <a:endParaRPr lang="en-GB"/>
          </a:p>
        </p:txBody>
      </p:sp>
      <p:sp>
        <p:nvSpPr>
          <p:cNvPr id="31" name="Text 29"/>
          <p:cNvSpPr/>
          <p:nvPr/>
        </p:nvSpPr>
        <p:spPr>
          <a:xfrm>
            <a:off x="6537960" y="42976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2" name="Text 30"/>
          <p:cNvSpPr/>
          <p:nvPr/>
        </p:nvSpPr>
        <p:spPr>
          <a:xfrm>
            <a:off x="7223760" y="4297680"/>
            <a:ext cx="4206240"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Range</a:t>
            </a:r>
            <a:endParaRPr lang="en-US" sz="2200" dirty="0"/>
          </a:p>
        </p:txBody>
      </p:sp>
      <p:sp>
        <p:nvSpPr>
          <p:cNvPr id="33" name="Text 31"/>
          <p:cNvSpPr/>
          <p:nvPr/>
        </p:nvSpPr>
        <p:spPr>
          <a:xfrm>
            <a:off x="7223760" y="4754880"/>
            <a:ext cx="4206240" cy="365760"/>
          </a:xfrm>
          <a:prstGeom prst="rect">
            <a:avLst/>
          </a:prstGeom>
          <a:noFill/>
          <a:ln/>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Where do values fall?</a:t>
            </a:r>
            <a:endParaRPr lang="en-US" sz="1300" dirty="0"/>
          </a:p>
        </p:txBody>
      </p:sp>
      <p:sp>
        <p:nvSpPr>
          <p:cNvPr id="34" name="Shape 32"/>
          <p:cNvSpPr/>
          <p:nvPr/>
        </p:nvSpPr>
        <p:spPr>
          <a:xfrm>
            <a:off x="6537960" y="5394960"/>
            <a:ext cx="4892040" cy="548640"/>
          </a:xfrm>
          <a:prstGeom prst="rect">
            <a:avLst/>
          </a:prstGeom>
          <a:solidFill>
            <a:srgbClr val="0F172A"/>
          </a:solidFill>
          <a:ln/>
        </p:spPr>
        <p:txBody>
          <a:bodyPr/>
          <a:lstStyle/>
          <a:p>
            <a:endParaRPr lang="en-GB"/>
          </a:p>
        </p:txBody>
      </p:sp>
      <p:sp>
        <p:nvSpPr>
          <p:cNvPr id="35" name="Text 33"/>
          <p:cNvSpPr/>
          <p:nvPr/>
        </p:nvSpPr>
        <p:spPr>
          <a:xfrm>
            <a:off x="6675120" y="5394960"/>
            <a:ext cx="4754880" cy="548640"/>
          </a:xfrm>
          <a:prstGeom prst="rect">
            <a:avLst/>
          </a:prstGeom>
          <a:noFill/>
          <a:ln/>
        </p:spPr>
        <p:txBody>
          <a:bodyPr wrap="square" lIns="0" tIns="0" rIns="0" bIns="0" rtlCol="0" anchor="ctr"/>
          <a:lstStyle/>
          <a:p>
            <a:pPr marL="0" indent="0">
              <a:buNone/>
            </a:pPr>
            <a:r>
              <a:rPr lang="en-US" sz="1200" dirty="0">
                <a:solidFill>
                  <a:srgbClr val="06B6D4"/>
                </a:solidFill>
                <a:latin typeface="Consolas" pitchFamily="34" charset="0"/>
                <a:ea typeface="Consolas" pitchFamily="34" charset="-122"/>
                <a:cs typeface="Consolas" pitchFamily="34" charset="-120"/>
              </a:rPr>
              <a:t>MIN, MAX, AVG, STDEV</a:t>
            </a:r>
            <a:endParaRPr lang="en-US" sz="1200" dirty="0"/>
          </a:p>
        </p:txBody>
      </p:sp>
      <p:sp>
        <p:nvSpPr>
          <p:cNvPr id="37" name="Shape 34"/>
          <p:cNvSpPr/>
          <p:nvPr/>
        </p:nvSpPr>
        <p:spPr>
          <a:xfrm>
            <a:off x="0" y="6583680"/>
            <a:ext cx="12191695" cy="18288"/>
          </a:xfrm>
          <a:prstGeom prst="rect">
            <a:avLst/>
          </a:prstGeom>
          <a:solidFill>
            <a:srgbClr val="E2E8F0"/>
          </a:solidFill>
          <a:ln/>
        </p:spPr>
        <p:txBody>
          <a:bodyPr/>
          <a:lstStyle/>
          <a:p>
            <a:endParaRPr lang="en-GB"/>
          </a:p>
        </p:txBody>
      </p:sp>
      <p:sp>
        <p:nvSpPr>
          <p:cNvPr id="38" name="Text 35"/>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39" name="Text 36"/>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BOOTCAMPDB - THE SAME NHS-INSPIRED SCHEMA</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Our Database</a:t>
            </a:r>
            <a:endParaRPr lang="en-US" sz="3600" dirty="0"/>
          </a:p>
        </p:txBody>
      </p:sp>
      <p:sp>
        <p:nvSpPr>
          <p:cNvPr id="4" name="Shape 2"/>
          <p:cNvSpPr/>
          <p:nvPr/>
        </p:nvSpPr>
        <p:spPr>
          <a:xfrm>
            <a:off x="457200" y="1828800"/>
            <a:ext cx="5577840" cy="219456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828800"/>
            <a:ext cx="5577840" cy="411480"/>
          </a:xfrm>
          <a:prstGeom prst="rect">
            <a:avLst/>
          </a:prstGeom>
          <a:solidFill>
            <a:srgbClr val="0F172A"/>
          </a:solidFill>
          <a:ln/>
        </p:spPr>
        <p:txBody>
          <a:bodyPr/>
          <a:lstStyle/>
          <a:p>
            <a:endParaRPr lang="en-GB"/>
          </a:p>
        </p:txBody>
      </p:sp>
      <p:sp>
        <p:nvSpPr>
          <p:cNvPr id="6" name="Text 4"/>
          <p:cNvSpPr/>
          <p:nvPr/>
        </p:nvSpPr>
        <p:spPr>
          <a:xfrm>
            <a:off x="594360" y="1828800"/>
            <a:ext cx="5303520" cy="411480"/>
          </a:xfrm>
          <a:prstGeom prst="rect">
            <a:avLst/>
          </a:prstGeom>
          <a:noFill/>
          <a:ln/>
        </p:spPr>
        <p:txBody>
          <a:bodyPr wrap="square" lIns="0" tIns="0" rIns="0" bIns="0" rtlCol="0" anchor="ctr"/>
          <a:lstStyle/>
          <a:p>
            <a:pPr marL="0" indent="0">
              <a:buNone/>
            </a:pPr>
            <a:r>
              <a:rPr lang="en-US" sz="1400" b="1" dirty="0">
                <a:solidFill>
                  <a:srgbClr val="06B6D4"/>
                </a:solidFill>
                <a:latin typeface="Consolas" pitchFamily="34" charset="0"/>
                <a:ea typeface="Consolas" pitchFamily="34" charset="-122"/>
                <a:cs typeface="Consolas" pitchFamily="34" charset="-120"/>
              </a:rPr>
              <a:t>Patients</a:t>
            </a:r>
            <a:endParaRPr lang="en-US" sz="1400" dirty="0"/>
          </a:p>
        </p:txBody>
      </p:sp>
      <p:sp>
        <p:nvSpPr>
          <p:cNvPr id="7" name="Text 5"/>
          <p:cNvSpPr/>
          <p:nvPr/>
        </p:nvSpPr>
        <p:spPr>
          <a:xfrm>
            <a:off x="640080" y="2331720"/>
            <a:ext cx="5212080" cy="1188720"/>
          </a:xfrm>
          <a:prstGeom prst="rect">
            <a:avLst/>
          </a:prstGeom>
          <a:noFill/>
          <a:ln/>
        </p:spPr>
        <p:txBody>
          <a:bodyPr wrap="square" lIns="0" tIns="0" rIns="0" bIns="0" rtlCol="0" anchor="t"/>
          <a:lstStyle/>
          <a:p>
            <a:pPr marL="0" indent="0">
              <a:buNone/>
            </a:pPr>
            <a:r>
              <a:rPr lang="en-US" sz="1000" dirty="0">
                <a:solidFill>
                  <a:srgbClr val="0F172A"/>
                </a:solidFill>
                <a:latin typeface="Consolas" pitchFamily="34" charset="0"/>
                <a:ea typeface="Consolas" pitchFamily="34" charset="-122"/>
                <a:cs typeface="Consolas" pitchFamily="34" charset="-120"/>
              </a:rPr>
              <a:t>• PatientID (PK)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NHSNumber</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FirstName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LastName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DateOfBirth</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Gender</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Postcode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RegisteredGP</a:t>
            </a:r>
            <a:endParaRPr lang="en-US" sz="1000" dirty="0"/>
          </a:p>
        </p:txBody>
      </p:sp>
      <p:sp>
        <p:nvSpPr>
          <p:cNvPr id="8" name="Shape 6"/>
          <p:cNvSpPr/>
          <p:nvPr/>
        </p:nvSpPr>
        <p:spPr>
          <a:xfrm>
            <a:off x="594360" y="3566160"/>
            <a:ext cx="5303520" cy="365760"/>
          </a:xfrm>
          <a:prstGeom prst="rect">
            <a:avLst/>
          </a:prstGeom>
          <a:solidFill>
            <a:srgbClr val="F59E0B">
              <a:alpha val="20000"/>
            </a:srgbClr>
          </a:solidFill>
          <a:ln/>
        </p:spPr>
        <p:txBody>
          <a:bodyPr/>
          <a:lstStyle/>
          <a:p>
            <a:endParaRPr lang="en-GB"/>
          </a:p>
        </p:txBody>
      </p:sp>
      <p:sp>
        <p:nvSpPr>
          <p:cNvPr id="9" name="Text 7"/>
          <p:cNvSpPr/>
          <p:nvPr/>
        </p:nvSpPr>
        <p:spPr>
          <a:xfrm>
            <a:off x="685800" y="3566160"/>
            <a:ext cx="5212080" cy="365760"/>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Lots to profile: NHS format, postcode format, age range</a:t>
            </a:r>
            <a:endParaRPr lang="en-US" sz="1000" dirty="0"/>
          </a:p>
        </p:txBody>
      </p:sp>
      <p:sp>
        <p:nvSpPr>
          <p:cNvPr id="10" name="Shape 8"/>
          <p:cNvSpPr/>
          <p:nvPr/>
        </p:nvSpPr>
        <p:spPr>
          <a:xfrm>
            <a:off x="6309360" y="1828800"/>
            <a:ext cx="5577840" cy="2194560"/>
          </a:xfrm>
          <a:prstGeom prst="rect">
            <a:avLst/>
          </a:prstGeom>
          <a:solidFill>
            <a:srgbClr val="FFFFFF"/>
          </a:solidFill>
          <a:ln w="12700">
            <a:solidFill>
              <a:srgbClr val="E2E8F0"/>
            </a:solidFill>
            <a:prstDash val="solid"/>
          </a:ln>
        </p:spPr>
        <p:txBody>
          <a:bodyPr/>
          <a:lstStyle/>
          <a:p>
            <a:endParaRPr lang="en-GB"/>
          </a:p>
        </p:txBody>
      </p:sp>
      <p:sp>
        <p:nvSpPr>
          <p:cNvPr id="11" name="Shape 9"/>
          <p:cNvSpPr/>
          <p:nvPr/>
        </p:nvSpPr>
        <p:spPr>
          <a:xfrm>
            <a:off x="6309360" y="1828800"/>
            <a:ext cx="5577840" cy="411480"/>
          </a:xfrm>
          <a:prstGeom prst="rect">
            <a:avLst/>
          </a:prstGeom>
          <a:solidFill>
            <a:srgbClr val="0F172A"/>
          </a:solidFill>
          <a:ln/>
        </p:spPr>
        <p:txBody>
          <a:bodyPr/>
          <a:lstStyle/>
          <a:p>
            <a:endParaRPr lang="en-GB"/>
          </a:p>
        </p:txBody>
      </p:sp>
      <p:sp>
        <p:nvSpPr>
          <p:cNvPr id="12" name="Text 10"/>
          <p:cNvSpPr/>
          <p:nvPr/>
        </p:nvSpPr>
        <p:spPr>
          <a:xfrm>
            <a:off x="6446520" y="1828800"/>
            <a:ext cx="5303520" cy="411480"/>
          </a:xfrm>
          <a:prstGeom prst="rect">
            <a:avLst/>
          </a:prstGeom>
          <a:noFill/>
          <a:ln/>
        </p:spPr>
        <p:txBody>
          <a:bodyPr wrap="square" lIns="0" tIns="0" rIns="0" bIns="0" rtlCol="0" anchor="ctr"/>
          <a:lstStyle/>
          <a:p>
            <a:pPr marL="0" indent="0">
              <a:buNone/>
            </a:pPr>
            <a:r>
              <a:rPr lang="en-US" sz="1400" b="1" dirty="0">
                <a:solidFill>
                  <a:srgbClr val="06B6D4"/>
                </a:solidFill>
                <a:latin typeface="Consolas" pitchFamily="34" charset="0"/>
                <a:ea typeface="Consolas" pitchFamily="34" charset="-122"/>
                <a:cs typeface="Consolas" pitchFamily="34" charset="-120"/>
              </a:rPr>
              <a:t>Wards</a:t>
            </a:r>
            <a:endParaRPr lang="en-US" sz="1400" dirty="0"/>
          </a:p>
        </p:txBody>
      </p:sp>
      <p:sp>
        <p:nvSpPr>
          <p:cNvPr id="13" name="Text 11"/>
          <p:cNvSpPr/>
          <p:nvPr/>
        </p:nvSpPr>
        <p:spPr>
          <a:xfrm>
            <a:off x="6492240" y="2331720"/>
            <a:ext cx="5212080" cy="1188720"/>
          </a:xfrm>
          <a:prstGeom prst="rect">
            <a:avLst/>
          </a:prstGeom>
          <a:noFill/>
          <a:ln/>
        </p:spPr>
        <p:txBody>
          <a:bodyPr wrap="square" lIns="0" tIns="0" rIns="0" bIns="0" rtlCol="0" anchor="t"/>
          <a:lstStyle/>
          <a:p>
            <a:pPr marL="0" indent="0">
              <a:buNone/>
            </a:pPr>
            <a:r>
              <a:rPr lang="en-US" sz="1000" dirty="0">
                <a:solidFill>
                  <a:srgbClr val="0F172A"/>
                </a:solidFill>
                <a:latin typeface="Consolas" pitchFamily="34" charset="0"/>
                <a:ea typeface="Consolas" pitchFamily="34" charset="-122"/>
                <a:cs typeface="Consolas" pitchFamily="34" charset="-120"/>
              </a:rPr>
              <a:t>• WardID (PK)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WardName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WardType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Capacity</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Site</a:t>
            </a:r>
            <a:endParaRPr lang="en-US" sz="1000" dirty="0"/>
          </a:p>
        </p:txBody>
      </p:sp>
      <p:sp>
        <p:nvSpPr>
          <p:cNvPr id="14" name="Shape 12"/>
          <p:cNvSpPr/>
          <p:nvPr/>
        </p:nvSpPr>
        <p:spPr>
          <a:xfrm>
            <a:off x="6446520" y="3566160"/>
            <a:ext cx="5303520" cy="365760"/>
          </a:xfrm>
          <a:prstGeom prst="rect">
            <a:avLst/>
          </a:prstGeom>
          <a:solidFill>
            <a:srgbClr val="F59E0B">
              <a:alpha val="20000"/>
            </a:srgbClr>
          </a:solidFill>
          <a:ln/>
        </p:spPr>
        <p:txBody>
          <a:bodyPr/>
          <a:lstStyle/>
          <a:p>
            <a:endParaRPr lang="en-GB"/>
          </a:p>
        </p:txBody>
      </p:sp>
      <p:sp>
        <p:nvSpPr>
          <p:cNvPr id="15" name="Text 13"/>
          <p:cNvSpPr/>
          <p:nvPr/>
        </p:nvSpPr>
        <p:spPr>
          <a:xfrm>
            <a:off x="6537960" y="3566160"/>
            <a:ext cx="5212080" cy="365760"/>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Capacity range, Site has NULLs in seed data</a:t>
            </a:r>
            <a:endParaRPr lang="en-US" sz="1000" dirty="0"/>
          </a:p>
        </p:txBody>
      </p:sp>
      <p:sp>
        <p:nvSpPr>
          <p:cNvPr id="16" name="Shape 14"/>
          <p:cNvSpPr/>
          <p:nvPr/>
        </p:nvSpPr>
        <p:spPr>
          <a:xfrm>
            <a:off x="457200" y="4297680"/>
            <a:ext cx="5577840" cy="2194560"/>
          </a:xfrm>
          <a:prstGeom prst="rect">
            <a:avLst/>
          </a:prstGeom>
          <a:solidFill>
            <a:srgbClr val="FFFFFF"/>
          </a:solidFill>
          <a:ln w="12700">
            <a:solidFill>
              <a:srgbClr val="E2E8F0"/>
            </a:solidFill>
            <a:prstDash val="solid"/>
          </a:ln>
        </p:spPr>
        <p:txBody>
          <a:bodyPr/>
          <a:lstStyle/>
          <a:p>
            <a:endParaRPr lang="en-GB"/>
          </a:p>
        </p:txBody>
      </p:sp>
      <p:sp>
        <p:nvSpPr>
          <p:cNvPr id="17" name="Shape 15"/>
          <p:cNvSpPr/>
          <p:nvPr/>
        </p:nvSpPr>
        <p:spPr>
          <a:xfrm>
            <a:off x="457200" y="4297680"/>
            <a:ext cx="5577840" cy="411480"/>
          </a:xfrm>
          <a:prstGeom prst="rect">
            <a:avLst/>
          </a:prstGeom>
          <a:solidFill>
            <a:srgbClr val="0F172A"/>
          </a:solidFill>
          <a:ln/>
        </p:spPr>
        <p:txBody>
          <a:bodyPr/>
          <a:lstStyle/>
          <a:p>
            <a:endParaRPr lang="en-GB"/>
          </a:p>
        </p:txBody>
      </p:sp>
      <p:sp>
        <p:nvSpPr>
          <p:cNvPr id="18" name="Text 16"/>
          <p:cNvSpPr/>
          <p:nvPr/>
        </p:nvSpPr>
        <p:spPr>
          <a:xfrm>
            <a:off x="594360" y="4297680"/>
            <a:ext cx="5303520" cy="411480"/>
          </a:xfrm>
          <a:prstGeom prst="rect">
            <a:avLst/>
          </a:prstGeom>
          <a:noFill/>
          <a:ln/>
        </p:spPr>
        <p:txBody>
          <a:bodyPr wrap="square" lIns="0" tIns="0" rIns="0" bIns="0" rtlCol="0" anchor="ctr"/>
          <a:lstStyle/>
          <a:p>
            <a:pPr marL="0" indent="0">
              <a:buNone/>
            </a:pPr>
            <a:r>
              <a:rPr lang="en-US" sz="1400" b="1" dirty="0">
                <a:solidFill>
                  <a:srgbClr val="06B6D4"/>
                </a:solidFill>
                <a:latin typeface="Consolas" pitchFamily="34" charset="0"/>
                <a:ea typeface="Consolas" pitchFamily="34" charset="-122"/>
                <a:cs typeface="Consolas" pitchFamily="34" charset="-120"/>
              </a:rPr>
              <a:t>Admissions</a:t>
            </a:r>
            <a:endParaRPr lang="en-US" sz="1400" dirty="0"/>
          </a:p>
        </p:txBody>
      </p:sp>
      <p:sp>
        <p:nvSpPr>
          <p:cNvPr id="19" name="Text 17"/>
          <p:cNvSpPr/>
          <p:nvPr/>
        </p:nvSpPr>
        <p:spPr>
          <a:xfrm>
            <a:off x="640080" y="4800600"/>
            <a:ext cx="5212080" cy="1188720"/>
          </a:xfrm>
          <a:prstGeom prst="rect">
            <a:avLst/>
          </a:prstGeom>
          <a:noFill/>
          <a:ln/>
        </p:spPr>
        <p:txBody>
          <a:bodyPr wrap="square" lIns="0" tIns="0" rIns="0" bIns="0" rtlCol="0" anchor="t"/>
          <a:lstStyle/>
          <a:p>
            <a:pPr marL="0" indent="0">
              <a:buNone/>
            </a:pPr>
            <a:r>
              <a:rPr lang="en-US" sz="1000" dirty="0">
                <a:solidFill>
                  <a:srgbClr val="0F172A"/>
                </a:solidFill>
                <a:latin typeface="Consolas" pitchFamily="34" charset="0"/>
                <a:ea typeface="Consolas" pitchFamily="34" charset="-122"/>
                <a:cs typeface="Consolas" pitchFamily="34" charset="-120"/>
              </a:rPr>
              <a:t>• AdmissionID (PK)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PatientID (FK)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WardID (FK)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AdmissionDate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DischargeDate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AdmissionType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Diagnosis</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DischargeReason</a:t>
            </a:r>
            <a:endParaRPr lang="en-US" sz="1000" dirty="0"/>
          </a:p>
        </p:txBody>
      </p:sp>
      <p:sp>
        <p:nvSpPr>
          <p:cNvPr id="20" name="Shape 18"/>
          <p:cNvSpPr/>
          <p:nvPr/>
        </p:nvSpPr>
        <p:spPr>
          <a:xfrm>
            <a:off x="594360" y="6035040"/>
            <a:ext cx="5303520" cy="365760"/>
          </a:xfrm>
          <a:prstGeom prst="rect">
            <a:avLst/>
          </a:prstGeom>
          <a:solidFill>
            <a:srgbClr val="F59E0B">
              <a:alpha val="20000"/>
            </a:srgbClr>
          </a:solidFill>
          <a:ln/>
        </p:spPr>
        <p:txBody>
          <a:bodyPr/>
          <a:lstStyle/>
          <a:p>
            <a:endParaRPr lang="en-GB"/>
          </a:p>
        </p:txBody>
      </p:sp>
      <p:sp>
        <p:nvSpPr>
          <p:cNvPr id="21" name="Text 19"/>
          <p:cNvSpPr/>
          <p:nvPr/>
        </p:nvSpPr>
        <p:spPr>
          <a:xfrm>
            <a:off x="685800" y="6035040"/>
            <a:ext cx="5212080" cy="365760"/>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DischargeDate has NULLs, only 3 AdmissionTypes</a:t>
            </a:r>
            <a:endParaRPr lang="en-US" sz="1000" dirty="0"/>
          </a:p>
        </p:txBody>
      </p:sp>
      <p:sp>
        <p:nvSpPr>
          <p:cNvPr id="22" name="Shape 20"/>
          <p:cNvSpPr/>
          <p:nvPr/>
        </p:nvSpPr>
        <p:spPr>
          <a:xfrm>
            <a:off x="6309360" y="4297680"/>
            <a:ext cx="5577840" cy="2194560"/>
          </a:xfrm>
          <a:prstGeom prst="rect">
            <a:avLst/>
          </a:prstGeom>
          <a:solidFill>
            <a:srgbClr val="FFFFFF"/>
          </a:solidFill>
          <a:ln w="12700">
            <a:solidFill>
              <a:srgbClr val="E2E8F0"/>
            </a:solidFill>
            <a:prstDash val="solid"/>
          </a:ln>
        </p:spPr>
        <p:txBody>
          <a:bodyPr/>
          <a:lstStyle/>
          <a:p>
            <a:endParaRPr lang="en-GB"/>
          </a:p>
        </p:txBody>
      </p:sp>
      <p:sp>
        <p:nvSpPr>
          <p:cNvPr id="23" name="Shape 21"/>
          <p:cNvSpPr/>
          <p:nvPr/>
        </p:nvSpPr>
        <p:spPr>
          <a:xfrm>
            <a:off x="6309360" y="4297680"/>
            <a:ext cx="5577840" cy="411480"/>
          </a:xfrm>
          <a:prstGeom prst="rect">
            <a:avLst/>
          </a:prstGeom>
          <a:solidFill>
            <a:srgbClr val="0F172A"/>
          </a:solidFill>
          <a:ln/>
        </p:spPr>
        <p:txBody>
          <a:bodyPr/>
          <a:lstStyle/>
          <a:p>
            <a:endParaRPr lang="en-GB"/>
          </a:p>
        </p:txBody>
      </p:sp>
      <p:sp>
        <p:nvSpPr>
          <p:cNvPr id="24" name="Text 22"/>
          <p:cNvSpPr/>
          <p:nvPr/>
        </p:nvSpPr>
        <p:spPr>
          <a:xfrm>
            <a:off x="6446520" y="4297680"/>
            <a:ext cx="5303520" cy="411480"/>
          </a:xfrm>
          <a:prstGeom prst="rect">
            <a:avLst/>
          </a:prstGeom>
          <a:noFill/>
          <a:ln/>
        </p:spPr>
        <p:txBody>
          <a:bodyPr wrap="square" lIns="0" tIns="0" rIns="0" bIns="0" rtlCol="0" anchor="ctr"/>
          <a:lstStyle/>
          <a:p>
            <a:pPr marL="0" indent="0">
              <a:buNone/>
            </a:pPr>
            <a:r>
              <a:rPr lang="en-US" sz="1400" b="1" dirty="0">
                <a:solidFill>
                  <a:srgbClr val="06B6D4"/>
                </a:solidFill>
                <a:latin typeface="Consolas" pitchFamily="34" charset="0"/>
                <a:ea typeface="Consolas" pitchFamily="34" charset="-122"/>
                <a:cs typeface="Consolas" pitchFamily="34" charset="-120"/>
              </a:rPr>
              <a:t>Observations</a:t>
            </a:r>
            <a:endParaRPr lang="en-US" sz="1400" dirty="0"/>
          </a:p>
        </p:txBody>
      </p:sp>
      <p:sp>
        <p:nvSpPr>
          <p:cNvPr id="25" name="Text 23"/>
          <p:cNvSpPr/>
          <p:nvPr/>
        </p:nvSpPr>
        <p:spPr>
          <a:xfrm>
            <a:off x="6492240" y="4800600"/>
            <a:ext cx="5212080" cy="1188720"/>
          </a:xfrm>
          <a:prstGeom prst="rect">
            <a:avLst/>
          </a:prstGeom>
          <a:noFill/>
          <a:ln/>
        </p:spPr>
        <p:txBody>
          <a:bodyPr wrap="square" lIns="0" tIns="0" rIns="0" bIns="0" rtlCol="0" anchor="t"/>
          <a:lstStyle/>
          <a:p>
            <a:pPr marL="0" indent="0">
              <a:buNone/>
            </a:pPr>
            <a:r>
              <a:rPr lang="en-US" sz="1000" dirty="0">
                <a:solidFill>
                  <a:srgbClr val="0F172A"/>
                </a:solidFill>
                <a:latin typeface="Consolas" pitchFamily="34" charset="0"/>
                <a:ea typeface="Consolas" pitchFamily="34" charset="-122"/>
                <a:cs typeface="Consolas" pitchFamily="34" charset="-120"/>
              </a:rPr>
              <a:t>• ObservationID (PK)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AdmissionID (FK)</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ObsDateTime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ObsType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ObsValue</a:t>
            </a:r>
            <a:endParaRPr lang="en-US" sz="1000" dirty="0"/>
          </a:p>
          <a:p>
            <a:pPr marL="0" indent="0">
              <a:buNone/>
            </a:pPr>
            <a:r>
              <a:rPr lang="en-US" sz="1000" dirty="0">
                <a:solidFill>
                  <a:srgbClr val="0F172A"/>
                </a:solidFill>
                <a:latin typeface="Consolas" pitchFamily="34" charset="0"/>
                <a:ea typeface="Consolas" pitchFamily="34" charset="-122"/>
                <a:cs typeface="Consolas" pitchFamily="34" charset="-120"/>
              </a:rPr>
              <a:t>• RecordedBy</a:t>
            </a:r>
            <a:endParaRPr lang="en-US" sz="1000" dirty="0"/>
          </a:p>
        </p:txBody>
      </p:sp>
      <p:sp>
        <p:nvSpPr>
          <p:cNvPr id="26" name="Shape 24"/>
          <p:cNvSpPr/>
          <p:nvPr/>
        </p:nvSpPr>
        <p:spPr>
          <a:xfrm>
            <a:off x="6446520" y="6035040"/>
            <a:ext cx="5303520" cy="365760"/>
          </a:xfrm>
          <a:prstGeom prst="rect">
            <a:avLst/>
          </a:prstGeom>
          <a:solidFill>
            <a:srgbClr val="F59E0B">
              <a:alpha val="20000"/>
            </a:srgbClr>
          </a:solidFill>
          <a:ln/>
        </p:spPr>
        <p:txBody>
          <a:bodyPr/>
          <a:lstStyle/>
          <a:p>
            <a:endParaRPr lang="en-GB"/>
          </a:p>
        </p:txBody>
      </p:sp>
      <p:sp>
        <p:nvSpPr>
          <p:cNvPr id="27" name="Text 25"/>
          <p:cNvSpPr/>
          <p:nvPr/>
        </p:nvSpPr>
        <p:spPr>
          <a:xfrm>
            <a:off x="6537960" y="6035040"/>
            <a:ext cx="5212080" cy="365760"/>
          </a:xfrm>
          <a:prstGeom prst="rect">
            <a:avLst/>
          </a:prstGeom>
          <a:noFill/>
          <a:ln/>
        </p:spPr>
        <p:txBody>
          <a:bodyPr wrap="square" lIns="0" tIns="0" rIns="0" bIns="0" rtlCol="0" anchor="ctr"/>
          <a:lstStyle/>
          <a:p>
            <a:pPr marL="0" indent="0">
              <a:buNone/>
            </a:pPr>
            <a:r>
              <a:rPr lang="en-US" sz="1000" i="1" dirty="0">
                <a:solidFill>
                  <a:srgbClr val="0F172A"/>
                </a:solidFill>
                <a:latin typeface="Calibri" pitchFamily="34" charset="0"/>
                <a:ea typeface="Calibri" pitchFamily="34" charset="-122"/>
                <a:cs typeface="Calibri" pitchFamily="34" charset="-120"/>
              </a:rPr>
              <a:t>ObsValue is text - mixed formats! '88%', '145/90', '38.2'</a:t>
            </a:r>
            <a:endParaRPr lang="en-US" sz="1000" dirty="0"/>
          </a:p>
        </p:txBody>
      </p:sp>
      <p:sp>
        <p:nvSpPr>
          <p:cNvPr id="29" name="Shape 26"/>
          <p:cNvSpPr/>
          <p:nvPr/>
        </p:nvSpPr>
        <p:spPr>
          <a:xfrm>
            <a:off x="0" y="6583680"/>
            <a:ext cx="12191695" cy="18288"/>
          </a:xfrm>
          <a:prstGeom prst="rect">
            <a:avLst/>
          </a:prstGeom>
          <a:solidFill>
            <a:srgbClr val="E2E8F0"/>
          </a:solidFill>
          <a:ln/>
        </p:spPr>
        <p:txBody>
          <a:bodyPr/>
          <a:lstStyle/>
          <a:p>
            <a:endParaRPr lang="en-GB"/>
          </a:p>
        </p:txBody>
      </p:sp>
      <p:sp>
        <p:nvSpPr>
          <p:cNvPr id="30" name="Text 27"/>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31" name="Text 28"/>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HOW BIG IS THE DATASET?</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Lens 1: Shape</a:t>
            </a:r>
            <a:endParaRPr lang="en-US" sz="3600" dirty="0"/>
          </a:p>
        </p:txBody>
      </p:sp>
      <p:sp>
        <p:nvSpPr>
          <p:cNvPr id="4" name="Text 2"/>
          <p:cNvSpPr/>
          <p:nvPr/>
        </p:nvSpPr>
        <p:spPr>
          <a:xfrm>
            <a:off x="457200" y="1828800"/>
            <a:ext cx="5486400" cy="45720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Start with row counts. Always.</a:t>
            </a:r>
            <a:endParaRPr lang="en-US" sz="1800" dirty="0"/>
          </a:p>
        </p:txBody>
      </p:sp>
      <p:sp>
        <p:nvSpPr>
          <p:cNvPr id="5" name="Shape 3"/>
          <p:cNvSpPr/>
          <p:nvPr/>
        </p:nvSpPr>
        <p:spPr>
          <a:xfrm>
            <a:off x="457200" y="2542032"/>
            <a:ext cx="182880" cy="182880"/>
          </a:xfrm>
          <a:prstGeom prst="ellipse">
            <a:avLst/>
          </a:prstGeom>
          <a:solidFill>
            <a:srgbClr val="06B6D4"/>
          </a:solidFill>
          <a:ln/>
        </p:spPr>
        <p:txBody>
          <a:bodyPr/>
          <a:lstStyle/>
          <a:p>
            <a:endParaRPr lang="en-GB"/>
          </a:p>
        </p:txBody>
      </p:sp>
      <p:sp>
        <p:nvSpPr>
          <p:cNvPr id="6" name="Text 4"/>
          <p:cNvSpPr/>
          <p:nvPr/>
        </p:nvSpPr>
        <p:spPr>
          <a:xfrm>
            <a:off x="777240" y="2468880"/>
            <a:ext cx="51206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How many rows total?</a:t>
            </a:r>
            <a:endParaRPr lang="en-US" sz="1300" dirty="0"/>
          </a:p>
        </p:txBody>
      </p:sp>
      <p:sp>
        <p:nvSpPr>
          <p:cNvPr id="7" name="Text 5"/>
          <p:cNvSpPr/>
          <p:nvPr/>
        </p:nvSpPr>
        <p:spPr>
          <a:xfrm>
            <a:off x="777240" y="2788920"/>
            <a:ext cx="5120640" cy="3657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One COUNT per table.</a:t>
            </a:r>
            <a:endParaRPr lang="en-US" sz="1100" dirty="0"/>
          </a:p>
        </p:txBody>
      </p:sp>
      <p:sp>
        <p:nvSpPr>
          <p:cNvPr id="8" name="Shape 6"/>
          <p:cNvSpPr/>
          <p:nvPr/>
        </p:nvSpPr>
        <p:spPr>
          <a:xfrm>
            <a:off x="457200" y="3319272"/>
            <a:ext cx="182880" cy="182880"/>
          </a:xfrm>
          <a:prstGeom prst="ellipse">
            <a:avLst/>
          </a:prstGeom>
          <a:solidFill>
            <a:srgbClr val="06B6D4"/>
          </a:solidFill>
          <a:ln/>
        </p:spPr>
        <p:txBody>
          <a:bodyPr/>
          <a:lstStyle/>
          <a:p>
            <a:endParaRPr lang="en-GB"/>
          </a:p>
        </p:txBody>
      </p:sp>
      <p:sp>
        <p:nvSpPr>
          <p:cNvPr id="9" name="Text 7"/>
          <p:cNvSpPr/>
          <p:nvPr/>
        </p:nvSpPr>
        <p:spPr>
          <a:xfrm>
            <a:off x="777240" y="3246120"/>
            <a:ext cx="51206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Is it the size you expected?</a:t>
            </a:r>
            <a:endParaRPr lang="en-US" sz="1300" dirty="0"/>
          </a:p>
        </p:txBody>
      </p:sp>
      <p:sp>
        <p:nvSpPr>
          <p:cNvPr id="10" name="Text 8"/>
          <p:cNvSpPr/>
          <p:nvPr/>
        </p:nvSpPr>
        <p:spPr>
          <a:xfrm>
            <a:off x="777240" y="3566160"/>
            <a:ext cx="5120640" cy="3657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Hospital with 12 admissions? Suspicious.</a:t>
            </a:r>
            <a:endParaRPr lang="en-US" sz="1100" dirty="0"/>
          </a:p>
        </p:txBody>
      </p:sp>
      <p:sp>
        <p:nvSpPr>
          <p:cNvPr id="11" name="Shape 9"/>
          <p:cNvSpPr/>
          <p:nvPr/>
        </p:nvSpPr>
        <p:spPr>
          <a:xfrm>
            <a:off x="457200" y="4096512"/>
            <a:ext cx="182880" cy="182880"/>
          </a:xfrm>
          <a:prstGeom prst="ellipse">
            <a:avLst/>
          </a:prstGeom>
          <a:solidFill>
            <a:srgbClr val="06B6D4"/>
          </a:solidFill>
          <a:ln/>
        </p:spPr>
        <p:txBody>
          <a:bodyPr/>
          <a:lstStyle/>
          <a:p>
            <a:endParaRPr lang="en-GB"/>
          </a:p>
        </p:txBody>
      </p:sp>
      <p:sp>
        <p:nvSpPr>
          <p:cNvPr id="12" name="Text 10"/>
          <p:cNvSpPr/>
          <p:nvPr/>
        </p:nvSpPr>
        <p:spPr>
          <a:xfrm>
            <a:off x="777240" y="4023360"/>
            <a:ext cx="51206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Do related tables agree?</a:t>
            </a:r>
            <a:endParaRPr lang="en-US" sz="1300" dirty="0"/>
          </a:p>
        </p:txBody>
      </p:sp>
      <p:sp>
        <p:nvSpPr>
          <p:cNvPr id="13" name="Text 11"/>
          <p:cNvSpPr/>
          <p:nvPr/>
        </p:nvSpPr>
        <p:spPr>
          <a:xfrm>
            <a:off x="777240" y="4343400"/>
            <a:ext cx="5120640" cy="3657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Should Observations be larger than Admissions? Yes. Is it?</a:t>
            </a:r>
            <a:endParaRPr lang="en-US" sz="1100" dirty="0"/>
          </a:p>
        </p:txBody>
      </p:sp>
      <p:sp>
        <p:nvSpPr>
          <p:cNvPr id="14" name="Shape 12"/>
          <p:cNvSpPr/>
          <p:nvPr/>
        </p:nvSpPr>
        <p:spPr>
          <a:xfrm>
            <a:off x="457200" y="4873752"/>
            <a:ext cx="182880" cy="182880"/>
          </a:xfrm>
          <a:prstGeom prst="ellipse">
            <a:avLst/>
          </a:prstGeom>
          <a:solidFill>
            <a:srgbClr val="06B6D4"/>
          </a:solidFill>
          <a:ln/>
        </p:spPr>
        <p:txBody>
          <a:bodyPr/>
          <a:lstStyle/>
          <a:p>
            <a:endParaRPr lang="en-GB"/>
          </a:p>
        </p:txBody>
      </p:sp>
      <p:sp>
        <p:nvSpPr>
          <p:cNvPr id="15" name="Text 13"/>
          <p:cNvSpPr/>
          <p:nvPr/>
        </p:nvSpPr>
        <p:spPr>
          <a:xfrm>
            <a:off x="777240" y="4800600"/>
            <a:ext cx="51206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Has the size changed since yesterday?</a:t>
            </a:r>
            <a:endParaRPr lang="en-US" sz="1300" dirty="0"/>
          </a:p>
        </p:txBody>
      </p:sp>
      <p:sp>
        <p:nvSpPr>
          <p:cNvPr id="16" name="Text 14"/>
          <p:cNvSpPr/>
          <p:nvPr/>
        </p:nvSpPr>
        <p:spPr>
          <a:xfrm>
            <a:off x="777240" y="5120640"/>
            <a:ext cx="5120640" cy="3657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Big jumps signal load problems.</a:t>
            </a:r>
            <a:endParaRPr lang="en-US" sz="1100" dirty="0"/>
          </a:p>
        </p:txBody>
      </p:sp>
      <p:sp>
        <p:nvSpPr>
          <p:cNvPr id="17" name="Shape 15"/>
          <p:cNvSpPr/>
          <p:nvPr/>
        </p:nvSpPr>
        <p:spPr>
          <a:xfrm>
            <a:off x="6400800" y="1828800"/>
            <a:ext cx="5303520" cy="4389120"/>
          </a:xfrm>
          <a:prstGeom prst="rect">
            <a:avLst/>
          </a:prstGeom>
          <a:solidFill>
            <a:srgbClr val="0F172A"/>
          </a:solidFill>
          <a:ln/>
        </p:spPr>
        <p:txBody>
          <a:bodyPr/>
          <a:lstStyle/>
          <a:p>
            <a:endParaRPr lang="en-GB"/>
          </a:p>
        </p:txBody>
      </p:sp>
      <p:sp>
        <p:nvSpPr>
          <p:cNvPr id="18" name="Shape 16"/>
          <p:cNvSpPr/>
          <p:nvPr/>
        </p:nvSpPr>
        <p:spPr>
          <a:xfrm>
            <a:off x="6400800" y="1828800"/>
            <a:ext cx="73152" cy="4389120"/>
          </a:xfrm>
          <a:prstGeom prst="rect">
            <a:avLst/>
          </a:prstGeom>
          <a:solidFill>
            <a:srgbClr val="06B6D4"/>
          </a:solidFill>
          <a:ln/>
        </p:spPr>
        <p:txBody>
          <a:bodyPr/>
          <a:lstStyle/>
          <a:p>
            <a:endParaRPr lang="en-GB"/>
          </a:p>
        </p:txBody>
      </p:sp>
      <p:sp>
        <p:nvSpPr>
          <p:cNvPr id="19" name="Text 17"/>
          <p:cNvSpPr/>
          <p:nvPr/>
        </p:nvSpPr>
        <p:spPr>
          <a:xfrm>
            <a:off x="6629400" y="1965960"/>
            <a:ext cx="4937760" cy="411480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Multi-table shape report in one query</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 'Patients'     AS table_name,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COUNT(*)       AS row_count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Patients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UNION ALL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 'Wards',        COUNT(*) FROM Wards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UNION ALL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 'Admissions',   COUNT(*) FROM Admissions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UNION ALL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 'Observations', COUNT(*) FROM Observations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ORDER BY row_count DESC;</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Result: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Observations  16</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Admissions    12</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Patients      10</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Wards          6</a:t>
            </a:r>
            <a:endParaRPr lang="en-US" sz="1100" dirty="0"/>
          </a:p>
        </p:txBody>
      </p:sp>
      <p:sp>
        <p:nvSpPr>
          <p:cNvPr id="21" name="Shape 18"/>
          <p:cNvSpPr/>
          <p:nvPr/>
        </p:nvSpPr>
        <p:spPr>
          <a:xfrm>
            <a:off x="0" y="6583680"/>
            <a:ext cx="12191695" cy="18288"/>
          </a:xfrm>
          <a:prstGeom prst="rect">
            <a:avLst/>
          </a:prstGeom>
          <a:solidFill>
            <a:srgbClr val="E2E8F0"/>
          </a:solidFill>
          <a:ln/>
        </p:spPr>
        <p:txBody>
          <a:bodyPr/>
          <a:lstStyle/>
          <a:p>
            <a:endParaRPr lang="en-GB"/>
          </a:p>
        </p:txBody>
      </p:sp>
      <p:sp>
        <p:nvSpPr>
          <p:cNvPr id="22" name="Text 19"/>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3" name="Text 20"/>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F59E0B"/>
                </a:solidFill>
                <a:latin typeface="Calibri" pitchFamily="34" charset="0"/>
                <a:ea typeface="Calibri" pitchFamily="34" charset="-122"/>
                <a:cs typeface="Calibri" pitchFamily="34" charset="-120"/>
              </a:rPr>
              <a:t>HOW MUCH IS MISSING?</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Lens 2: Completeness</a:t>
            </a:r>
            <a:endParaRPr lang="en-US" sz="3600" dirty="0"/>
          </a:p>
        </p:txBody>
      </p:sp>
      <p:sp>
        <p:nvSpPr>
          <p:cNvPr id="4" name="Text 2"/>
          <p:cNvSpPr/>
          <p:nvPr/>
        </p:nvSpPr>
        <p:spPr>
          <a:xfrm>
            <a:off x="457200" y="1828800"/>
            <a:ext cx="5486400" cy="41148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NULLs are facts, not failures.</a:t>
            </a:r>
            <a:endParaRPr lang="en-US" sz="1800" dirty="0"/>
          </a:p>
        </p:txBody>
      </p:sp>
      <p:sp>
        <p:nvSpPr>
          <p:cNvPr id="5" name="Text 3"/>
          <p:cNvSpPr/>
          <p:nvPr/>
        </p:nvSpPr>
        <p:spPr>
          <a:xfrm>
            <a:off x="457200" y="2286000"/>
            <a:ext cx="5486400" cy="64008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A NULL means the value is unknown. That's information.</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What matters is the PATTERN of NULLs.</a:t>
            </a:r>
            <a:endParaRPr lang="en-US" sz="1200" dirty="0"/>
          </a:p>
        </p:txBody>
      </p:sp>
      <p:sp>
        <p:nvSpPr>
          <p:cNvPr id="6" name="Shape 4"/>
          <p:cNvSpPr/>
          <p:nvPr/>
        </p:nvSpPr>
        <p:spPr>
          <a:xfrm>
            <a:off x="457200" y="3017520"/>
            <a:ext cx="5486400" cy="594360"/>
          </a:xfrm>
          <a:prstGeom prst="rect">
            <a:avLst/>
          </a:prstGeom>
          <a:solidFill>
            <a:srgbClr val="FFFFFF"/>
          </a:solidFill>
          <a:ln w="12700">
            <a:solidFill>
              <a:srgbClr val="E2E8F0"/>
            </a:solidFill>
            <a:prstDash val="solid"/>
          </a:ln>
        </p:spPr>
        <p:txBody>
          <a:bodyPr/>
          <a:lstStyle/>
          <a:p>
            <a:endParaRPr lang="en-GB"/>
          </a:p>
        </p:txBody>
      </p:sp>
      <p:sp>
        <p:nvSpPr>
          <p:cNvPr id="7" name="Shape 5"/>
          <p:cNvSpPr/>
          <p:nvPr/>
        </p:nvSpPr>
        <p:spPr>
          <a:xfrm>
            <a:off x="457200" y="3017520"/>
            <a:ext cx="73152" cy="594360"/>
          </a:xfrm>
          <a:prstGeom prst="rect">
            <a:avLst/>
          </a:prstGeom>
          <a:solidFill>
            <a:srgbClr val="F59E0B"/>
          </a:solidFill>
          <a:ln/>
        </p:spPr>
        <p:txBody>
          <a:bodyPr/>
          <a:lstStyle/>
          <a:p>
            <a:endParaRPr lang="en-GB"/>
          </a:p>
        </p:txBody>
      </p:sp>
      <p:sp>
        <p:nvSpPr>
          <p:cNvPr id="8" name="Text 6"/>
          <p:cNvSpPr/>
          <p:nvPr/>
        </p:nvSpPr>
        <p:spPr>
          <a:xfrm>
            <a:off x="640080" y="3063240"/>
            <a:ext cx="1828800" cy="502920"/>
          </a:xfrm>
          <a:prstGeom prst="rect">
            <a:avLst/>
          </a:prstGeom>
          <a:noFill/>
          <a:ln/>
        </p:spPr>
        <p:txBody>
          <a:bodyPr wrap="square" lIns="0" tIns="0" rIns="0" bIns="0"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10% NULL</a:t>
            </a:r>
            <a:endParaRPr lang="en-US" sz="1200" dirty="0"/>
          </a:p>
        </p:txBody>
      </p:sp>
      <p:sp>
        <p:nvSpPr>
          <p:cNvPr id="9" name="Text 7"/>
          <p:cNvSpPr/>
          <p:nvPr/>
        </p:nvSpPr>
        <p:spPr>
          <a:xfrm>
            <a:off x="2514600" y="3063240"/>
            <a:ext cx="33832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Common. Often optional fields. Document it.</a:t>
            </a:r>
            <a:endParaRPr lang="en-US" sz="1100" dirty="0"/>
          </a:p>
        </p:txBody>
      </p:sp>
      <p:sp>
        <p:nvSpPr>
          <p:cNvPr id="10" name="Shape 8"/>
          <p:cNvSpPr/>
          <p:nvPr/>
        </p:nvSpPr>
        <p:spPr>
          <a:xfrm>
            <a:off x="457200" y="3703320"/>
            <a:ext cx="5486400" cy="594360"/>
          </a:xfrm>
          <a:prstGeom prst="rect">
            <a:avLst/>
          </a:prstGeom>
          <a:solidFill>
            <a:srgbClr val="FFFFFF"/>
          </a:solidFill>
          <a:ln w="12700">
            <a:solidFill>
              <a:srgbClr val="E2E8F0"/>
            </a:solidFill>
            <a:prstDash val="solid"/>
          </a:ln>
        </p:spPr>
        <p:txBody>
          <a:bodyPr/>
          <a:lstStyle/>
          <a:p>
            <a:endParaRPr lang="en-GB"/>
          </a:p>
        </p:txBody>
      </p:sp>
      <p:sp>
        <p:nvSpPr>
          <p:cNvPr id="11" name="Shape 9"/>
          <p:cNvSpPr/>
          <p:nvPr/>
        </p:nvSpPr>
        <p:spPr>
          <a:xfrm>
            <a:off x="457200" y="3703320"/>
            <a:ext cx="73152" cy="594360"/>
          </a:xfrm>
          <a:prstGeom prst="rect">
            <a:avLst/>
          </a:prstGeom>
          <a:solidFill>
            <a:srgbClr val="F59E0B"/>
          </a:solidFill>
          <a:ln/>
        </p:spPr>
        <p:txBody>
          <a:bodyPr/>
          <a:lstStyle/>
          <a:p>
            <a:endParaRPr lang="en-GB"/>
          </a:p>
        </p:txBody>
      </p:sp>
      <p:sp>
        <p:nvSpPr>
          <p:cNvPr id="12" name="Text 10"/>
          <p:cNvSpPr/>
          <p:nvPr/>
        </p:nvSpPr>
        <p:spPr>
          <a:xfrm>
            <a:off x="640080" y="3749040"/>
            <a:ext cx="1828800" cy="502920"/>
          </a:xfrm>
          <a:prstGeom prst="rect">
            <a:avLst/>
          </a:prstGeom>
          <a:noFill/>
          <a:ln/>
        </p:spPr>
        <p:txBody>
          <a:bodyPr wrap="square" lIns="0" tIns="0" rIns="0" bIns="0"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50% NULL</a:t>
            </a:r>
            <a:endParaRPr lang="en-US" sz="1200" dirty="0"/>
          </a:p>
        </p:txBody>
      </p:sp>
      <p:sp>
        <p:nvSpPr>
          <p:cNvPr id="13" name="Text 11"/>
          <p:cNvSpPr/>
          <p:nvPr/>
        </p:nvSpPr>
        <p:spPr>
          <a:xfrm>
            <a:off x="2514600" y="3749040"/>
            <a:ext cx="33832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Red flag. Either the field is meaningless or there's a bug.</a:t>
            </a:r>
            <a:endParaRPr lang="en-US" sz="1100" dirty="0"/>
          </a:p>
        </p:txBody>
      </p:sp>
      <p:sp>
        <p:nvSpPr>
          <p:cNvPr id="14" name="Shape 12"/>
          <p:cNvSpPr/>
          <p:nvPr/>
        </p:nvSpPr>
        <p:spPr>
          <a:xfrm>
            <a:off x="457200" y="4389120"/>
            <a:ext cx="5486400" cy="59436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457200" y="4389120"/>
            <a:ext cx="73152" cy="594360"/>
          </a:xfrm>
          <a:prstGeom prst="rect">
            <a:avLst/>
          </a:prstGeom>
          <a:solidFill>
            <a:srgbClr val="F59E0B"/>
          </a:solidFill>
          <a:ln/>
        </p:spPr>
        <p:txBody>
          <a:bodyPr/>
          <a:lstStyle/>
          <a:p>
            <a:endParaRPr lang="en-GB"/>
          </a:p>
        </p:txBody>
      </p:sp>
      <p:sp>
        <p:nvSpPr>
          <p:cNvPr id="16" name="Text 14"/>
          <p:cNvSpPr/>
          <p:nvPr/>
        </p:nvSpPr>
        <p:spPr>
          <a:xfrm>
            <a:off x="640080" y="4434840"/>
            <a:ext cx="1828800" cy="502920"/>
          </a:xfrm>
          <a:prstGeom prst="rect">
            <a:avLst/>
          </a:prstGeom>
          <a:noFill/>
          <a:ln/>
        </p:spPr>
        <p:txBody>
          <a:bodyPr wrap="square" lIns="0" tIns="0" rIns="0" bIns="0"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100% NULL</a:t>
            </a:r>
            <a:endParaRPr lang="en-US" sz="1200" dirty="0"/>
          </a:p>
        </p:txBody>
      </p:sp>
      <p:sp>
        <p:nvSpPr>
          <p:cNvPr id="17" name="Text 15"/>
          <p:cNvSpPr/>
          <p:nvPr/>
        </p:nvSpPr>
        <p:spPr>
          <a:xfrm>
            <a:off x="2514600" y="4434840"/>
            <a:ext cx="33832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Dead column. Drop it or fix the source.</a:t>
            </a:r>
            <a:endParaRPr lang="en-US" sz="1100" dirty="0"/>
          </a:p>
        </p:txBody>
      </p:sp>
      <p:sp>
        <p:nvSpPr>
          <p:cNvPr id="18" name="Shape 16"/>
          <p:cNvSpPr/>
          <p:nvPr/>
        </p:nvSpPr>
        <p:spPr>
          <a:xfrm>
            <a:off x="457200" y="5074920"/>
            <a:ext cx="5486400" cy="594360"/>
          </a:xfrm>
          <a:prstGeom prst="rect">
            <a:avLst/>
          </a:prstGeom>
          <a:solidFill>
            <a:srgbClr val="FFFFFF"/>
          </a:solidFill>
          <a:ln w="12700">
            <a:solidFill>
              <a:srgbClr val="E2E8F0"/>
            </a:solidFill>
            <a:prstDash val="solid"/>
          </a:ln>
        </p:spPr>
        <p:txBody>
          <a:bodyPr/>
          <a:lstStyle/>
          <a:p>
            <a:endParaRPr lang="en-GB"/>
          </a:p>
        </p:txBody>
      </p:sp>
      <p:sp>
        <p:nvSpPr>
          <p:cNvPr id="19" name="Shape 17"/>
          <p:cNvSpPr/>
          <p:nvPr/>
        </p:nvSpPr>
        <p:spPr>
          <a:xfrm>
            <a:off x="457200" y="5074920"/>
            <a:ext cx="73152" cy="594360"/>
          </a:xfrm>
          <a:prstGeom prst="rect">
            <a:avLst/>
          </a:prstGeom>
          <a:solidFill>
            <a:srgbClr val="F59E0B"/>
          </a:solidFill>
          <a:ln/>
        </p:spPr>
        <p:txBody>
          <a:bodyPr/>
          <a:lstStyle/>
          <a:p>
            <a:endParaRPr lang="en-GB"/>
          </a:p>
        </p:txBody>
      </p:sp>
      <p:sp>
        <p:nvSpPr>
          <p:cNvPr id="20" name="Text 18"/>
          <p:cNvSpPr/>
          <p:nvPr/>
        </p:nvSpPr>
        <p:spPr>
          <a:xfrm>
            <a:off x="640080" y="5120640"/>
            <a:ext cx="1828800" cy="502920"/>
          </a:xfrm>
          <a:prstGeom prst="rect">
            <a:avLst/>
          </a:prstGeom>
          <a:noFill/>
          <a:ln/>
        </p:spPr>
        <p:txBody>
          <a:bodyPr wrap="square" lIns="0" tIns="0" rIns="0" bIns="0"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0% NULL on a nullable column</a:t>
            </a:r>
            <a:endParaRPr lang="en-US" sz="1200" dirty="0"/>
          </a:p>
        </p:txBody>
      </p:sp>
      <p:sp>
        <p:nvSpPr>
          <p:cNvPr id="21" name="Text 19"/>
          <p:cNvSpPr/>
          <p:nvPr/>
        </p:nvSpPr>
        <p:spPr>
          <a:xfrm>
            <a:off x="2514600" y="5120640"/>
            <a:ext cx="33832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Suspicious. Probably sentinel values instead of NULL.</a:t>
            </a:r>
            <a:endParaRPr lang="en-US" sz="1100" dirty="0"/>
          </a:p>
        </p:txBody>
      </p:sp>
      <p:sp>
        <p:nvSpPr>
          <p:cNvPr id="22" name="Shape 20"/>
          <p:cNvSpPr/>
          <p:nvPr/>
        </p:nvSpPr>
        <p:spPr>
          <a:xfrm>
            <a:off x="6400800" y="1828800"/>
            <a:ext cx="5303520" cy="4389120"/>
          </a:xfrm>
          <a:prstGeom prst="rect">
            <a:avLst/>
          </a:prstGeom>
          <a:solidFill>
            <a:srgbClr val="0F172A"/>
          </a:solidFill>
          <a:ln/>
        </p:spPr>
        <p:txBody>
          <a:bodyPr/>
          <a:lstStyle/>
          <a:p>
            <a:endParaRPr lang="en-GB"/>
          </a:p>
        </p:txBody>
      </p:sp>
      <p:sp>
        <p:nvSpPr>
          <p:cNvPr id="23" name="Shape 21"/>
          <p:cNvSpPr/>
          <p:nvPr/>
        </p:nvSpPr>
        <p:spPr>
          <a:xfrm>
            <a:off x="6400800" y="1828800"/>
            <a:ext cx="73152" cy="4389120"/>
          </a:xfrm>
          <a:prstGeom prst="rect">
            <a:avLst/>
          </a:prstGeom>
          <a:solidFill>
            <a:srgbClr val="F59E0B"/>
          </a:solidFill>
          <a:ln/>
        </p:spPr>
        <p:txBody>
          <a:bodyPr/>
          <a:lstStyle/>
          <a:p>
            <a:endParaRPr lang="en-GB"/>
          </a:p>
        </p:txBody>
      </p:sp>
      <p:sp>
        <p:nvSpPr>
          <p:cNvPr id="24" name="Text 22"/>
          <p:cNvSpPr/>
          <p:nvPr/>
        </p:nvSpPr>
        <p:spPr>
          <a:xfrm>
            <a:off x="6629400" y="1965960"/>
            <a:ext cx="4937760" cy="411480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Full NULL profile in ONE row</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COUNT(*) AS total_rows,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SUM(CASE WHEN DischargeDate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IS NULL THEN 1 ELSE 0 END)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AS null_discharge,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SUM(CASE WHEN Diagnosis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IS NULL THEN 1 ELSE 0 END)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AS null_diagnosis,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SUM(CASE WHEN DischargeReason</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IS NULL THEN 1 ELSE 0 END)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AS null_reason</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Admissions;</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Result (admissions, n=12):</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null_discharge      4  (still in hospital)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null_diagnosis      0  (always recorded)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null_reason         4  (matches discharge)</a:t>
            </a:r>
            <a:endParaRPr lang="en-US" sz="1100" dirty="0"/>
          </a:p>
        </p:txBody>
      </p:sp>
      <p:sp>
        <p:nvSpPr>
          <p:cNvPr id="26" name="Shape 23"/>
          <p:cNvSpPr/>
          <p:nvPr/>
        </p:nvSpPr>
        <p:spPr>
          <a:xfrm>
            <a:off x="0" y="6583680"/>
            <a:ext cx="12191695" cy="18288"/>
          </a:xfrm>
          <a:prstGeom prst="rect">
            <a:avLst/>
          </a:prstGeom>
          <a:solidFill>
            <a:srgbClr val="E2E8F0"/>
          </a:solidFill>
          <a:ln/>
        </p:spPr>
        <p:txBody>
          <a:bodyPr/>
          <a:lstStyle/>
          <a:p>
            <a:endParaRPr lang="en-GB"/>
          </a:p>
        </p:txBody>
      </p:sp>
      <p:sp>
        <p:nvSpPr>
          <p:cNvPr id="27" name="Text 24"/>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8" name="Text 25"/>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10B981"/>
                </a:solidFill>
                <a:latin typeface="Calibri" pitchFamily="34" charset="0"/>
                <a:ea typeface="Calibri" pitchFamily="34" charset="-122"/>
                <a:cs typeface="Calibri" pitchFamily="34" charset="-120"/>
              </a:rPr>
              <a:t>HOW VARIED IS EACH COLUMN?</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Lens 3: Uniqueness</a:t>
            </a:r>
            <a:endParaRPr lang="en-US" sz="3600" dirty="0"/>
          </a:p>
        </p:txBody>
      </p:sp>
      <p:sp>
        <p:nvSpPr>
          <p:cNvPr id="4" name="Shape 2"/>
          <p:cNvSpPr/>
          <p:nvPr/>
        </p:nvSpPr>
        <p:spPr>
          <a:xfrm>
            <a:off x="457200" y="1783080"/>
            <a:ext cx="3611880" cy="150876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783080"/>
            <a:ext cx="3611880" cy="73152"/>
          </a:xfrm>
          <a:prstGeom prst="rect">
            <a:avLst/>
          </a:prstGeom>
          <a:solidFill>
            <a:srgbClr val="06B6D4"/>
          </a:solidFill>
          <a:ln/>
        </p:spPr>
        <p:txBody>
          <a:bodyPr/>
          <a:lstStyle/>
          <a:p>
            <a:endParaRPr lang="en-GB"/>
          </a:p>
        </p:txBody>
      </p:sp>
      <p:sp>
        <p:nvSpPr>
          <p:cNvPr id="6" name="Text 4"/>
          <p:cNvSpPr/>
          <p:nvPr/>
        </p:nvSpPr>
        <p:spPr>
          <a:xfrm>
            <a:off x="640080" y="1965960"/>
            <a:ext cx="3291840" cy="320040"/>
          </a:xfrm>
          <a:prstGeom prst="rect">
            <a:avLst/>
          </a:prstGeom>
          <a:noFill/>
          <a:ln/>
        </p:spPr>
        <p:txBody>
          <a:bodyPr wrap="square" lIns="0" tIns="0" rIns="0" bIns="0" rtlCol="0" anchor="ctr"/>
          <a:lstStyle/>
          <a:p>
            <a:pPr marL="0" indent="0">
              <a:buNone/>
            </a:pPr>
            <a:r>
              <a:rPr lang="en-US" sz="1100" b="1" kern="0" spc="300" dirty="0">
                <a:solidFill>
                  <a:srgbClr val="06B6D4"/>
                </a:solidFill>
                <a:latin typeface="Calibri" pitchFamily="34" charset="0"/>
                <a:ea typeface="Calibri" pitchFamily="34" charset="-122"/>
                <a:cs typeface="Calibri" pitchFamily="34" charset="-120"/>
              </a:rPr>
              <a:t>LOW  ·  2-10</a:t>
            </a:r>
            <a:endParaRPr lang="en-US" sz="1100" dirty="0"/>
          </a:p>
        </p:txBody>
      </p:sp>
      <p:sp>
        <p:nvSpPr>
          <p:cNvPr id="7" name="Text 5"/>
          <p:cNvSpPr/>
          <p:nvPr/>
        </p:nvSpPr>
        <p:spPr>
          <a:xfrm>
            <a:off x="640080" y="2240280"/>
            <a:ext cx="329184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Categories</a:t>
            </a:r>
            <a:endParaRPr lang="en-US" sz="1800" dirty="0"/>
          </a:p>
        </p:txBody>
      </p:sp>
      <p:sp>
        <p:nvSpPr>
          <p:cNvPr id="8" name="Text 6"/>
          <p:cNvSpPr/>
          <p:nvPr/>
        </p:nvSpPr>
        <p:spPr>
          <a:xfrm>
            <a:off x="640080" y="2651760"/>
            <a:ext cx="3291840" cy="5943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e.g. Gender, AdmissionType, WardType</a:t>
            </a:r>
            <a:endParaRPr lang="en-US" sz="1100" dirty="0"/>
          </a:p>
        </p:txBody>
      </p:sp>
      <p:sp>
        <p:nvSpPr>
          <p:cNvPr id="9" name="Shape 7"/>
          <p:cNvSpPr/>
          <p:nvPr/>
        </p:nvSpPr>
        <p:spPr>
          <a:xfrm>
            <a:off x="4297680" y="1783080"/>
            <a:ext cx="3611880" cy="1508760"/>
          </a:xfrm>
          <a:prstGeom prst="rect">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4297680" y="1783080"/>
            <a:ext cx="3611880" cy="73152"/>
          </a:xfrm>
          <a:prstGeom prst="rect">
            <a:avLst/>
          </a:prstGeom>
          <a:solidFill>
            <a:srgbClr val="F59E0B"/>
          </a:solidFill>
          <a:ln/>
        </p:spPr>
        <p:txBody>
          <a:bodyPr/>
          <a:lstStyle/>
          <a:p>
            <a:endParaRPr lang="en-GB"/>
          </a:p>
        </p:txBody>
      </p:sp>
      <p:sp>
        <p:nvSpPr>
          <p:cNvPr id="11" name="Text 9"/>
          <p:cNvSpPr/>
          <p:nvPr/>
        </p:nvSpPr>
        <p:spPr>
          <a:xfrm>
            <a:off x="4480560" y="1965960"/>
            <a:ext cx="3291840" cy="32004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MEDIUM  ·  10-1000</a:t>
            </a:r>
            <a:endParaRPr lang="en-US" sz="1100" dirty="0"/>
          </a:p>
        </p:txBody>
      </p:sp>
      <p:sp>
        <p:nvSpPr>
          <p:cNvPr id="12" name="Text 10"/>
          <p:cNvSpPr/>
          <p:nvPr/>
        </p:nvSpPr>
        <p:spPr>
          <a:xfrm>
            <a:off x="4480560" y="2240280"/>
            <a:ext cx="329184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Enumerated lists</a:t>
            </a:r>
            <a:endParaRPr lang="en-US" sz="1800" dirty="0"/>
          </a:p>
        </p:txBody>
      </p:sp>
      <p:sp>
        <p:nvSpPr>
          <p:cNvPr id="13" name="Text 11"/>
          <p:cNvSpPr/>
          <p:nvPr/>
        </p:nvSpPr>
        <p:spPr>
          <a:xfrm>
            <a:off x="4480560" y="2651760"/>
            <a:ext cx="3291840" cy="5943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e.g. Diagnoses, Wards, GPs</a:t>
            </a:r>
            <a:endParaRPr lang="en-US" sz="1100" dirty="0"/>
          </a:p>
        </p:txBody>
      </p:sp>
      <p:sp>
        <p:nvSpPr>
          <p:cNvPr id="14" name="Shape 12"/>
          <p:cNvSpPr/>
          <p:nvPr/>
        </p:nvSpPr>
        <p:spPr>
          <a:xfrm>
            <a:off x="8138160" y="1783080"/>
            <a:ext cx="3611880" cy="150876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8138160" y="1783080"/>
            <a:ext cx="3611880" cy="73152"/>
          </a:xfrm>
          <a:prstGeom prst="rect">
            <a:avLst/>
          </a:prstGeom>
          <a:solidFill>
            <a:srgbClr val="10B981"/>
          </a:solidFill>
          <a:ln/>
        </p:spPr>
        <p:txBody>
          <a:bodyPr/>
          <a:lstStyle/>
          <a:p>
            <a:endParaRPr lang="en-GB"/>
          </a:p>
        </p:txBody>
      </p:sp>
      <p:sp>
        <p:nvSpPr>
          <p:cNvPr id="16" name="Text 14"/>
          <p:cNvSpPr/>
          <p:nvPr/>
        </p:nvSpPr>
        <p:spPr>
          <a:xfrm>
            <a:off x="8321040" y="1965960"/>
            <a:ext cx="3291840" cy="320040"/>
          </a:xfrm>
          <a:prstGeom prst="rect">
            <a:avLst/>
          </a:prstGeom>
          <a:noFill/>
          <a:ln/>
        </p:spPr>
        <p:txBody>
          <a:bodyPr wrap="square" lIns="0" tIns="0" rIns="0" bIns="0" rtlCol="0" anchor="ctr"/>
          <a:lstStyle/>
          <a:p>
            <a:pPr marL="0" indent="0">
              <a:buNone/>
            </a:pPr>
            <a:r>
              <a:rPr lang="en-US" sz="1100" b="1" kern="0" spc="300" dirty="0">
                <a:solidFill>
                  <a:srgbClr val="10B981"/>
                </a:solidFill>
                <a:latin typeface="Calibri" pitchFamily="34" charset="0"/>
                <a:ea typeface="Calibri" pitchFamily="34" charset="-122"/>
                <a:cs typeface="Calibri" pitchFamily="34" charset="-120"/>
              </a:rPr>
              <a:t>HIGH  ·  1000+</a:t>
            </a:r>
            <a:endParaRPr lang="en-US" sz="1100" dirty="0"/>
          </a:p>
        </p:txBody>
      </p:sp>
      <p:sp>
        <p:nvSpPr>
          <p:cNvPr id="17" name="Text 15"/>
          <p:cNvSpPr/>
          <p:nvPr/>
        </p:nvSpPr>
        <p:spPr>
          <a:xfrm>
            <a:off x="8321040" y="2240280"/>
            <a:ext cx="329184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Near-unique</a:t>
            </a:r>
            <a:endParaRPr lang="en-US" sz="1800" dirty="0"/>
          </a:p>
        </p:txBody>
      </p:sp>
      <p:sp>
        <p:nvSpPr>
          <p:cNvPr id="18" name="Text 16"/>
          <p:cNvSpPr/>
          <p:nvPr/>
        </p:nvSpPr>
        <p:spPr>
          <a:xfrm>
            <a:off x="8321040" y="2651760"/>
            <a:ext cx="3291840" cy="59436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e.g. Patient IDs, NHS numbers, observations</a:t>
            </a:r>
            <a:endParaRPr lang="en-US" sz="1100" dirty="0"/>
          </a:p>
        </p:txBody>
      </p:sp>
      <p:sp>
        <p:nvSpPr>
          <p:cNvPr id="19" name="Shape 17"/>
          <p:cNvSpPr/>
          <p:nvPr/>
        </p:nvSpPr>
        <p:spPr>
          <a:xfrm>
            <a:off x="457200" y="3520440"/>
            <a:ext cx="11247120" cy="2697480"/>
          </a:xfrm>
          <a:prstGeom prst="rect">
            <a:avLst/>
          </a:prstGeom>
          <a:solidFill>
            <a:srgbClr val="0F172A"/>
          </a:solidFill>
          <a:ln/>
        </p:spPr>
        <p:txBody>
          <a:bodyPr/>
          <a:lstStyle/>
          <a:p>
            <a:endParaRPr lang="en-GB"/>
          </a:p>
        </p:txBody>
      </p:sp>
      <p:sp>
        <p:nvSpPr>
          <p:cNvPr id="20" name="Shape 18"/>
          <p:cNvSpPr/>
          <p:nvPr/>
        </p:nvSpPr>
        <p:spPr>
          <a:xfrm>
            <a:off x="457200" y="3520440"/>
            <a:ext cx="73152" cy="2697480"/>
          </a:xfrm>
          <a:prstGeom prst="rect">
            <a:avLst/>
          </a:prstGeom>
          <a:solidFill>
            <a:srgbClr val="10B981"/>
          </a:solidFill>
          <a:ln/>
        </p:spPr>
        <p:txBody>
          <a:bodyPr/>
          <a:lstStyle/>
          <a:p>
            <a:endParaRPr lang="en-GB"/>
          </a:p>
        </p:txBody>
      </p:sp>
      <p:sp>
        <p:nvSpPr>
          <p:cNvPr id="21" name="Text 19"/>
          <p:cNvSpPr/>
          <p:nvPr/>
        </p:nvSpPr>
        <p:spPr>
          <a:xfrm>
            <a:off x="685800" y="3657600"/>
            <a:ext cx="10881360" cy="242316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Frequency table with percentage in ONE pass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AdmissionType,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COUNT(*)                                            AS frequency,</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CAST(100.0 * COUNT(*) / SUM(COUNT(*)) OVER () AS DECIMAL(5,2))  AS pct_of_total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Admissions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GROUP BY AdmissionType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ORDER BY frequency DESC;</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Result:                       -- The SUM(COUNT(*)) OVER () trick:</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Emergency  5  41.67           -- Sums the per-group counts across the whole result set.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Transfer   4  33.33           -- Cleaner than a correlated subquery.</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Elective   3  25.00</a:t>
            </a:r>
            <a:endParaRPr lang="en-US" sz="1100" dirty="0"/>
          </a:p>
        </p:txBody>
      </p:sp>
      <p:sp>
        <p:nvSpPr>
          <p:cNvPr id="23" name="Shape 20"/>
          <p:cNvSpPr/>
          <p:nvPr/>
        </p:nvSpPr>
        <p:spPr>
          <a:xfrm>
            <a:off x="0" y="6583680"/>
            <a:ext cx="12191695" cy="18288"/>
          </a:xfrm>
          <a:prstGeom prst="rect">
            <a:avLst/>
          </a:prstGeom>
          <a:solidFill>
            <a:srgbClr val="E2E8F0"/>
          </a:solidFill>
          <a:ln/>
        </p:spPr>
        <p:txBody>
          <a:bodyPr/>
          <a:lstStyle/>
          <a:p>
            <a:endParaRPr lang="en-GB"/>
          </a:p>
        </p:txBody>
      </p:sp>
      <p:sp>
        <p:nvSpPr>
          <p:cNvPr id="24" name="Text 21"/>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5" name="Text 22"/>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8B5CF6"/>
                </a:solidFill>
                <a:latin typeface="Calibri" pitchFamily="34" charset="0"/>
                <a:ea typeface="Calibri" pitchFamily="34" charset="-122"/>
                <a:cs typeface="Calibri" pitchFamily="34" charset="-120"/>
              </a:rPr>
              <a:t>WHERE DO VALUES FALL?</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Lens 4: Range &amp; Distribution</a:t>
            </a:r>
            <a:endParaRPr lang="en-US" sz="3600" dirty="0"/>
          </a:p>
        </p:txBody>
      </p:sp>
      <p:sp>
        <p:nvSpPr>
          <p:cNvPr id="4" name="Text 2"/>
          <p:cNvSpPr/>
          <p:nvPr/>
        </p:nvSpPr>
        <p:spPr>
          <a:xfrm>
            <a:off x="457200" y="1828800"/>
            <a:ext cx="5486400" cy="41148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Boundaries first, then the spread.</a:t>
            </a:r>
            <a:endParaRPr lang="en-US" sz="1800" dirty="0"/>
          </a:p>
        </p:txBody>
      </p:sp>
      <p:sp>
        <p:nvSpPr>
          <p:cNvPr id="5" name="Text 3"/>
          <p:cNvSpPr/>
          <p:nvPr/>
        </p:nvSpPr>
        <p:spPr>
          <a:xfrm>
            <a:off x="457200" y="2286000"/>
            <a:ext cx="5486400" cy="11887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MIN and MAX give you the boundaries. AVG gives you the centre. STDEV gives you the spread.</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But the real value is the DISTRIBUTION. Are values clustered, uniform, or skewed?</a:t>
            </a:r>
            <a:endParaRPr lang="en-US" sz="1200" dirty="0"/>
          </a:p>
        </p:txBody>
      </p:sp>
      <p:sp>
        <p:nvSpPr>
          <p:cNvPr id="6" name="Shape 4"/>
          <p:cNvSpPr/>
          <p:nvPr/>
        </p:nvSpPr>
        <p:spPr>
          <a:xfrm>
            <a:off x="457200" y="4361688"/>
            <a:ext cx="522514" cy="576072"/>
          </a:xfrm>
          <a:prstGeom prst="rect">
            <a:avLst/>
          </a:prstGeom>
          <a:solidFill>
            <a:srgbClr val="8B5CF6"/>
          </a:solidFill>
          <a:ln/>
        </p:spPr>
        <p:txBody>
          <a:bodyPr/>
          <a:lstStyle/>
          <a:p>
            <a:endParaRPr lang="en-GB"/>
          </a:p>
        </p:txBody>
      </p:sp>
      <p:sp>
        <p:nvSpPr>
          <p:cNvPr id="7" name="Shape 5"/>
          <p:cNvSpPr/>
          <p:nvPr/>
        </p:nvSpPr>
        <p:spPr>
          <a:xfrm>
            <a:off x="1240971" y="4041648"/>
            <a:ext cx="522514" cy="896112"/>
          </a:xfrm>
          <a:prstGeom prst="rect">
            <a:avLst/>
          </a:prstGeom>
          <a:solidFill>
            <a:srgbClr val="8B5CF6"/>
          </a:solidFill>
          <a:ln/>
        </p:spPr>
        <p:txBody>
          <a:bodyPr/>
          <a:lstStyle/>
          <a:p>
            <a:endParaRPr lang="en-GB"/>
          </a:p>
        </p:txBody>
      </p:sp>
      <p:sp>
        <p:nvSpPr>
          <p:cNvPr id="8" name="Shape 6"/>
          <p:cNvSpPr/>
          <p:nvPr/>
        </p:nvSpPr>
        <p:spPr>
          <a:xfrm>
            <a:off x="2024743" y="3721608"/>
            <a:ext cx="522514" cy="1216152"/>
          </a:xfrm>
          <a:prstGeom prst="rect">
            <a:avLst/>
          </a:prstGeom>
          <a:solidFill>
            <a:srgbClr val="8B5CF6"/>
          </a:solidFill>
          <a:ln/>
        </p:spPr>
        <p:txBody>
          <a:bodyPr/>
          <a:lstStyle/>
          <a:p>
            <a:endParaRPr lang="en-GB"/>
          </a:p>
        </p:txBody>
      </p:sp>
      <p:sp>
        <p:nvSpPr>
          <p:cNvPr id="9" name="Shape 7"/>
          <p:cNvSpPr/>
          <p:nvPr/>
        </p:nvSpPr>
        <p:spPr>
          <a:xfrm>
            <a:off x="2808514" y="3913632"/>
            <a:ext cx="522514" cy="1024128"/>
          </a:xfrm>
          <a:prstGeom prst="rect">
            <a:avLst/>
          </a:prstGeom>
          <a:solidFill>
            <a:srgbClr val="8B5CF6"/>
          </a:solidFill>
          <a:ln/>
        </p:spPr>
        <p:txBody>
          <a:bodyPr/>
          <a:lstStyle/>
          <a:p>
            <a:endParaRPr lang="en-GB"/>
          </a:p>
        </p:txBody>
      </p:sp>
      <p:sp>
        <p:nvSpPr>
          <p:cNvPr id="10" name="Shape 8"/>
          <p:cNvSpPr/>
          <p:nvPr/>
        </p:nvSpPr>
        <p:spPr>
          <a:xfrm>
            <a:off x="3592286" y="4233672"/>
            <a:ext cx="522514" cy="704088"/>
          </a:xfrm>
          <a:prstGeom prst="rect">
            <a:avLst/>
          </a:prstGeom>
          <a:solidFill>
            <a:srgbClr val="8B5CF6"/>
          </a:solidFill>
          <a:ln/>
        </p:spPr>
        <p:txBody>
          <a:bodyPr/>
          <a:lstStyle/>
          <a:p>
            <a:endParaRPr lang="en-GB"/>
          </a:p>
        </p:txBody>
      </p:sp>
      <p:sp>
        <p:nvSpPr>
          <p:cNvPr id="11" name="Shape 9"/>
          <p:cNvSpPr/>
          <p:nvPr/>
        </p:nvSpPr>
        <p:spPr>
          <a:xfrm>
            <a:off x="4376057" y="4489704"/>
            <a:ext cx="522514" cy="448056"/>
          </a:xfrm>
          <a:prstGeom prst="rect">
            <a:avLst/>
          </a:prstGeom>
          <a:solidFill>
            <a:srgbClr val="8B5CF6"/>
          </a:solidFill>
          <a:ln/>
        </p:spPr>
        <p:txBody>
          <a:bodyPr/>
          <a:lstStyle/>
          <a:p>
            <a:endParaRPr lang="en-GB"/>
          </a:p>
        </p:txBody>
      </p:sp>
      <p:sp>
        <p:nvSpPr>
          <p:cNvPr id="12" name="Shape 10"/>
          <p:cNvSpPr/>
          <p:nvPr/>
        </p:nvSpPr>
        <p:spPr>
          <a:xfrm>
            <a:off x="5159829" y="4681728"/>
            <a:ext cx="522514" cy="256032"/>
          </a:xfrm>
          <a:prstGeom prst="rect">
            <a:avLst/>
          </a:prstGeom>
          <a:solidFill>
            <a:srgbClr val="8B5CF6"/>
          </a:solidFill>
          <a:ln/>
        </p:spPr>
        <p:txBody>
          <a:bodyPr/>
          <a:lstStyle/>
          <a:p>
            <a:endParaRPr lang="en-GB"/>
          </a:p>
        </p:txBody>
      </p:sp>
      <p:sp>
        <p:nvSpPr>
          <p:cNvPr id="13" name="Shape 11"/>
          <p:cNvSpPr/>
          <p:nvPr/>
        </p:nvSpPr>
        <p:spPr>
          <a:xfrm>
            <a:off x="457200" y="4937760"/>
            <a:ext cx="5486400" cy="18288"/>
          </a:xfrm>
          <a:prstGeom prst="rect">
            <a:avLst/>
          </a:prstGeom>
          <a:solidFill>
            <a:srgbClr val="8B5CF6"/>
          </a:solidFill>
          <a:ln/>
        </p:spPr>
        <p:txBody>
          <a:bodyPr/>
          <a:lstStyle/>
          <a:p>
            <a:endParaRPr lang="en-GB"/>
          </a:p>
        </p:txBody>
      </p:sp>
      <p:sp>
        <p:nvSpPr>
          <p:cNvPr id="14" name="Text 12"/>
          <p:cNvSpPr/>
          <p:nvPr/>
        </p:nvSpPr>
        <p:spPr>
          <a:xfrm>
            <a:off x="457200" y="5029200"/>
            <a:ext cx="548640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Age distribution across patients (4 bands)</a:t>
            </a:r>
            <a:endParaRPr lang="en-US" sz="1000" dirty="0"/>
          </a:p>
        </p:txBody>
      </p:sp>
      <p:sp>
        <p:nvSpPr>
          <p:cNvPr id="15" name="Shape 13"/>
          <p:cNvSpPr/>
          <p:nvPr/>
        </p:nvSpPr>
        <p:spPr>
          <a:xfrm>
            <a:off x="6400800" y="1828800"/>
            <a:ext cx="5303520" cy="4389120"/>
          </a:xfrm>
          <a:prstGeom prst="rect">
            <a:avLst/>
          </a:prstGeom>
          <a:solidFill>
            <a:srgbClr val="0F172A"/>
          </a:solidFill>
          <a:ln/>
        </p:spPr>
        <p:txBody>
          <a:bodyPr/>
          <a:lstStyle/>
          <a:p>
            <a:endParaRPr lang="en-GB"/>
          </a:p>
        </p:txBody>
      </p:sp>
      <p:sp>
        <p:nvSpPr>
          <p:cNvPr id="16" name="Shape 14"/>
          <p:cNvSpPr/>
          <p:nvPr/>
        </p:nvSpPr>
        <p:spPr>
          <a:xfrm>
            <a:off x="6400800" y="1828800"/>
            <a:ext cx="73152" cy="4389120"/>
          </a:xfrm>
          <a:prstGeom prst="rect">
            <a:avLst/>
          </a:prstGeom>
          <a:solidFill>
            <a:srgbClr val="8B5CF6"/>
          </a:solidFill>
          <a:ln/>
        </p:spPr>
        <p:txBody>
          <a:bodyPr/>
          <a:lstStyle/>
          <a:p>
            <a:endParaRPr lang="en-GB"/>
          </a:p>
        </p:txBody>
      </p:sp>
      <p:sp>
        <p:nvSpPr>
          <p:cNvPr id="17" name="Text 15"/>
          <p:cNvSpPr/>
          <p:nvPr/>
        </p:nvSpPr>
        <p:spPr>
          <a:xfrm>
            <a:off x="6629400" y="1965960"/>
            <a:ext cx="4937760" cy="411480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Min / max / avg / stddev on Capacity</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MIN(Capacity)   AS min_cap,</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MAX(Capacity)   AS max_cap,</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AVG(Capacity)   AS avg_cap,</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STDEV(Capacity) AS sd_cap</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Wards;</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Result: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min_cap  18</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max_cap  50</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avg_cap  30</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sd_cap   12.4</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Always run MIN/MAX before designing</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your histogram buckets - otherwise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you'll pick the wrong boundaries.</a:t>
            </a:r>
            <a:endParaRPr lang="en-US" sz="1100" dirty="0"/>
          </a:p>
        </p:txBody>
      </p:sp>
      <p:sp>
        <p:nvSpPr>
          <p:cNvPr id="19" name="Shape 16"/>
          <p:cNvSpPr/>
          <p:nvPr/>
        </p:nvSpPr>
        <p:spPr>
          <a:xfrm>
            <a:off x="0" y="6583680"/>
            <a:ext cx="12191695" cy="18288"/>
          </a:xfrm>
          <a:prstGeom prst="rect">
            <a:avLst/>
          </a:prstGeom>
          <a:solidFill>
            <a:srgbClr val="E2E8F0"/>
          </a:solidFill>
          <a:ln/>
        </p:spPr>
        <p:txBody>
          <a:bodyPr/>
          <a:lstStyle/>
          <a:p>
            <a:endParaRPr lang="en-GB"/>
          </a:p>
        </p:txBody>
      </p:sp>
      <p:sp>
        <p:nvSpPr>
          <p:cNvPr id="20" name="Text 17"/>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1" name="Text 18"/>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THE CASE BUCKET PATTERN</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Building a Histogram in SQL</a:t>
            </a:r>
            <a:endParaRPr lang="en-US" sz="3600" dirty="0"/>
          </a:p>
        </p:txBody>
      </p:sp>
      <p:sp>
        <p:nvSpPr>
          <p:cNvPr id="4" name="Shape 2"/>
          <p:cNvSpPr/>
          <p:nvPr/>
        </p:nvSpPr>
        <p:spPr>
          <a:xfrm>
            <a:off x="457200" y="1828800"/>
            <a:ext cx="5943600" cy="4389120"/>
          </a:xfrm>
          <a:prstGeom prst="rect">
            <a:avLst/>
          </a:prstGeom>
          <a:solidFill>
            <a:srgbClr val="0F172A"/>
          </a:solidFill>
          <a:ln/>
        </p:spPr>
        <p:txBody>
          <a:bodyPr/>
          <a:lstStyle/>
          <a:p>
            <a:endParaRPr lang="en-GB"/>
          </a:p>
        </p:txBody>
      </p:sp>
      <p:sp>
        <p:nvSpPr>
          <p:cNvPr id="5" name="Shape 3"/>
          <p:cNvSpPr/>
          <p:nvPr/>
        </p:nvSpPr>
        <p:spPr>
          <a:xfrm>
            <a:off x="457200" y="1828800"/>
            <a:ext cx="73152" cy="4389120"/>
          </a:xfrm>
          <a:prstGeom prst="rect">
            <a:avLst/>
          </a:prstGeom>
          <a:solidFill>
            <a:srgbClr val="06B6D4"/>
          </a:solidFill>
          <a:ln/>
        </p:spPr>
        <p:txBody>
          <a:bodyPr/>
          <a:lstStyle/>
          <a:p>
            <a:endParaRPr lang="en-GB"/>
          </a:p>
        </p:txBody>
      </p:sp>
      <p:sp>
        <p:nvSpPr>
          <p:cNvPr id="6" name="Text 4"/>
          <p:cNvSpPr/>
          <p:nvPr/>
        </p:nvSpPr>
        <p:spPr>
          <a:xfrm>
            <a:off x="685800" y="1965960"/>
            <a:ext cx="5577840" cy="411480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Age distribution histogram</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CASE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WHEN DATEDIFF(YEAR, DateOfBirth, GETDATE()) &lt; 40 THEN '1. Under 40'</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WHEN DATEDIFF(YEAR, DateOfBirth, GETDATE()) &lt; 60 THEN '2. 40-59'</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WHEN DATEDIFF(YEAR, DateOfBirth, GETDATE()) &lt; 80 THEN '3. 60-79'</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ELSE                                                  '4. 80+'</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END        AS age_band,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COUNT(*)   AS patients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Patients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GROUP BY</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CASE ... END    -- repeat the CASE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ORDER BY age_band;</a:t>
            </a:r>
            <a:endParaRPr lang="en-US" sz="1100" dirty="0"/>
          </a:p>
        </p:txBody>
      </p:sp>
      <p:sp>
        <p:nvSpPr>
          <p:cNvPr id="7" name="Shape 5"/>
          <p:cNvSpPr/>
          <p:nvPr/>
        </p:nvSpPr>
        <p:spPr>
          <a:xfrm>
            <a:off x="6766560" y="1828800"/>
            <a:ext cx="4937760" cy="4389120"/>
          </a:xfrm>
          <a:prstGeom prst="rect">
            <a:avLst/>
          </a:prstGeom>
          <a:solidFill>
            <a:srgbClr val="FFFFFF"/>
          </a:solidFill>
          <a:ln w="12700">
            <a:solidFill>
              <a:srgbClr val="E2E8F0"/>
            </a:solidFill>
            <a:prstDash val="solid"/>
          </a:ln>
        </p:spPr>
        <p:txBody>
          <a:bodyPr/>
          <a:lstStyle/>
          <a:p>
            <a:endParaRPr lang="en-GB"/>
          </a:p>
        </p:txBody>
      </p:sp>
      <p:sp>
        <p:nvSpPr>
          <p:cNvPr id="8" name="Text 6"/>
          <p:cNvSpPr/>
          <p:nvPr/>
        </p:nvSpPr>
        <p:spPr>
          <a:xfrm>
            <a:off x="6949440" y="1965960"/>
            <a:ext cx="4572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RESULT</a:t>
            </a:r>
            <a:endParaRPr lang="en-US" sz="1000" dirty="0"/>
          </a:p>
        </p:txBody>
      </p:sp>
      <p:sp>
        <p:nvSpPr>
          <p:cNvPr id="9" name="Shape 7"/>
          <p:cNvSpPr/>
          <p:nvPr/>
        </p:nvSpPr>
        <p:spPr>
          <a:xfrm>
            <a:off x="6949440" y="3794760"/>
            <a:ext cx="937260" cy="1325880"/>
          </a:xfrm>
          <a:prstGeom prst="rect">
            <a:avLst/>
          </a:prstGeom>
          <a:solidFill>
            <a:srgbClr val="06B6D4"/>
          </a:solidFill>
          <a:ln/>
        </p:spPr>
        <p:txBody>
          <a:bodyPr/>
          <a:lstStyle/>
          <a:p>
            <a:endParaRPr lang="en-GB"/>
          </a:p>
        </p:txBody>
      </p:sp>
      <p:sp>
        <p:nvSpPr>
          <p:cNvPr id="10" name="Text 8"/>
          <p:cNvSpPr/>
          <p:nvPr/>
        </p:nvSpPr>
        <p:spPr>
          <a:xfrm>
            <a:off x="6949440" y="3520440"/>
            <a:ext cx="937260" cy="2743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6858000" y="5166360"/>
            <a:ext cx="1120140"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Under 40</a:t>
            </a:r>
            <a:endParaRPr lang="en-US" sz="1000" dirty="0"/>
          </a:p>
        </p:txBody>
      </p:sp>
      <p:sp>
        <p:nvSpPr>
          <p:cNvPr id="12" name="Shape 10"/>
          <p:cNvSpPr/>
          <p:nvPr/>
        </p:nvSpPr>
        <p:spPr>
          <a:xfrm>
            <a:off x="8023860" y="2468880"/>
            <a:ext cx="937260" cy="2651760"/>
          </a:xfrm>
          <a:prstGeom prst="rect">
            <a:avLst/>
          </a:prstGeom>
          <a:solidFill>
            <a:srgbClr val="06B6D4"/>
          </a:solidFill>
          <a:ln/>
        </p:spPr>
        <p:txBody>
          <a:bodyPr/>
          <a:lstStyle/>
          <a:p>
            <a:endParaRPr lang="en-GB"/>
          </a:p>
        </p:txBody>
      </p:sp>
      <p:sp>
        <p:nvSpPr>
          <p:cNvPr id="13" name="Text 11"/>
          <p:cNvSpPr/>
          <p:nvPr/>
        </p:nvSpPr>
        <p:spPr>
          <a:xfrm>
            <a:off x="8023860" y="2194560"/>
            <a:ext cx="937260" cy="2743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7932420" y="5166360"/>
            <a:ext cx="1120140"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40-59</a:t>
            </a:r>
            <a:endParaRPr lang="en-US" sz="1000" dirty="0"/>
          </a:p>
        </p:txBody>
      </p:sp>
      <p:sp>
        <p:nvSpPr>
          <p:cNvPr id="15" name="Shape 13"/>
          <p:cNvSpPr/>
          <p:nvPr/>
        </p:nvSpPr>
        <p:spPr>
          <a:xfrm>
            <a:off x="9098280" y="3131820"/>
            <a:ext cx="937260" cy="1988820"/>
          </a:xfrm>
          <a:prstGeom prst="rect">
            <a:avLst/>
          </a:prstGeom>
          <a:solidFill>
            <a:srgbClr val="06B6D4"/>
          </a:solidFill>
          <a:ln/>
        </p:spPr>
        <p:txBody>
          <a:bodyPr/>
          <a:lstStyle/>
          <a:p>
            <a:endParaRPr lang="en-GB"/>
          </a:p>
        </p:txBody>
      </p:sp>
      <p:sp>
        <p:nvSpPr>
          <p:cNvPr id="16" name="Text 14"/>
          <p:cNvSpPr/>
          <p:nvPr/>
        </p:nvSpPr>
        <p:spPr>
          <a:xfrm>
            <a:off x="9098280" y="2857500"/>
            <a:ext cx="937260" cy="2743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9006840" y="5166360"/>
            <a:ext cx="1120140"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60-79</a:t>
            </a:r>
            <a:endParaRPr lang="en-US" sz="1000" dirty="0"/>
          </a:p>
        </p:txBody>
      </p:sp>
      <p:sp>
        <p:nvSpPr>
          <p:cNvPr id="18" name="Shape 16"/>
          <p:cNvSpPr/>
          <p:nvPr/>
        </p:nvSpPr>
        <p:spPr>
          <a:xfrm>
            <a:off x="10172700" y="4457700"/>
            <a:ext cx="937260" cy="662940"/>
          </a:xfrm>
          <a:prstGeom prst="rect">
            <a:avLst/>
          </a:prstGeom>
          <a:solidFill>
            <a:srgbClr val="06B6D4"/>
          </a:solidFill>
          <a:ln/>
        </p:spPr>
        <p:txBody>
          <a:bodyPr/>
          <a:lstStyle/>
          <a:p>
            <a:endParaRPr lang="en-GB"/>
          </a:p>
        </p:txBody>
      </p:sp>
      <p:sp>
        <p:nvSpPr>
          <p:cNvPr id="19" name="Text 17"/>
          <p:cNvSpPr/>
          <p:nvPr/>
        </p:nvSpPr>
        <p:spPr>
          <a:xfrm>
            <a:off x="10172700" y="4183380"/>
            <a:ext cx="937260" cy="2743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20" name="Text 18"/>
          <p:cNvSpPr/>
          <p:nvPr/>
        </p:nvSpPr>
        <p:spPr>
          <a:xfrm>
            <a:off x="10081260" y="5166360"/>
            <a:ext cx="1120140" cy="3657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80+</a:t>
            </a:r>
            <a:endParaRPr lang="en-US" sz="1000" dirty="0"/>
          </a:p>
        </p:txBody>
      </p:sp>
      <p:sp>
        <p:nvSpPr>
          <p:cNvPr id="21" name="Shape 19"/>
          <p:cNvSpPr/>
          <p:nvPr/>
        </p:nvSpPr>
        <p:spPr>
          <a:xfrm>
            <a:off x="6949440" y="5120640"/>
            <a:ext cx="4572000" cy="18288"/>
          </a:xfrm>
          <a:prstGeom prst="rect">
            <a:avLst/>
          </a:prstGeom>
          <a:solidFill>
            <a:srgbClr val="94A3B8"/>
          </a:solidFill>
          <a:ln/>
        </p:spPr>
        <p:txBody>
          <a:bodyPr/>
          <a:lstStyle/>
          <a:p>
            <a:endParaRPr lang="en-GB"/>
          </a:p>
        </p:txBody>
      </p:sp>
      <p:sp>
        <p:nvSpPr>
          <p:cNvPr id="22" name="Text 20"/>
          <p:cNvSpPr/>
          <p:nvPr/>
        </p:nvSpPr>
        <p:spPr>
          <a:xfrm>
            <a:off x="6766560" y="5897880"/>
            <a:ext cx="4937760" cy="365760"/>
          </a:xfrm>
          <a:prstGeom prst="rect">
            <a:avLst/>
          </a:prstGeom>
          <a:noFill/>
          <a:ln/>
        </p:spPr>
        <p:txBody>
          <a:bodyPr wrap="square" lIns="0" tIns="0" rIns="0" bIns="0" rtlCol="0" anchor="ctr"/>
          <a:lstStyle/>
          <a:p>
            <a:pPr marL="0" indent="0" algn="ctr">
              <a:buNone/>
            </a:pPr>
            <a:r>
              <a:rPr lang="en-US" sz="1100" i="1" dirty="0">
                <a:solidFill>
                  <a:srgbClr val="475569"/>
                </a:solidFill>
                <a:latin typeface="Calibri" pitchFamily="34" charset="0"/>
                <a:ea typeface="Calibri" pitchFamily="34" charset="-122"/>
                <a:cs typeface="Calibri" pitchFamily="34" charset="-120"/>
              </a:rPr>
              <a:t>Now you can see the shape. Heavily middle-aged.</a:t>
            </a:r>
            <a:endParaRPr lang="en-US" sz="1100" dirty="0"/>
          </a:p>
        </p:txBody>
      </p:sp>
      <p:sp>
        <p:nvSpPr>
          <p:cNvPr id="24" name="Shape 21"/>
          <p:cNvSpPr/>
          <p:nvPr/>
        </p:nvSpPr>
        <p:spPr>
          <a:xfrm>
            <a:off x="0" y="6583680"/>
            <a:ext cx="12191695" cy="18288"/>
          </a:xfrm>
          <a:prstGeom prst="rect">
            <a:avLst/>
          </a:prstGeom>
          <a:solidFill>
            <a:srgbClr val="E2E8F0"/>
          </a:solidFill>
          <a:ln/>
        </p:spPr>
        <p:txBody>
          <a:bodyPr/>
          <a:lstStyle/>
          <a:p>
            <a:endParaRPr lang="en-GB"/>
          </a:p>
        </p:txBody>
      </p:sp>
      <p:sp>
        <p:nvSpPr>
          <p:cNvPr id="25" name="Text 22"/>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6" name="Text 23"/>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EF4444"/>
                </a:solidFill>
                <a:latin typeface="Calibri" pitchFamily="34" charset="0"/>
                <a:ea typeface="Calibri" pitchFamily="34" charset="-122"/>
                <a:cs typeface="Calibri" pitchFamily="34" charset="-120"/>
              </a:rPr>
              <a:t>WHEN VALUES ARE MATHEMATICALLY EXTREME</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Anomaly Detection: Statistical Outliers</a:t>
            </a:r>
            <a:endParaRPr lang="en-US" sz="3600" dirty="0"/>
          </a:p>
        </p:txBody>
      </p:sp>
      <p:sp>
        <p:nvSpPr>
          <p:cNvPr id="4" name="Shape 2"/>
          <p:cNvSpPr/>
          <p:nvPr/>
        </p:nvSpPr>
        <p:spPr>
          <a:xfrm>
            <a:off x="457200" y="1783080"/>
            <a:ext cx="3611880" cy="137160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783080"/>
            <a:ext cx="3611880" cy="73152"/>
          </a:xfrm>
          <a:prstGeom prst="rect">
            <a:avLst/>
          </a:prstGeom>
          <a:solidFill>
            <a:srgbClr val="EF4444"/>
          </a:solidFill>
          <a:ln/>
        </p:spPr>
        <p:txBody>
          <a:bodyPr/>
          <a:lstStyle/>
          <a:p>
            <a:endParaRPr lang="en-GB"/>
          </a:p>
        </p:txBody>
      </p:sp>
      <p:sp>
        <p:nvSpPr>
          <p:cNvPr id="6" name="Text 4"/>
          <p:cNvSpPr/>
          <p:nvPr/>
        </p:nvSpPr>
        <p:spPr>
          <a:xfrm>
            <a:off x="640080" y="1920240"/>
            <a:ext cx="329184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Z-score</a:t>
            </a:r>
            <a:endParaRPr lang="en-US" sz="1600" dirty="0"/>
          </a:p>
        </p:txBody>
      </p:sp>
      <p:sp>
        <p:nvSpPr>
          <p:cNvPr id="7" name="Text 5"/>
          <p:cNvSpPr/>
          <p:nvPr/>
        </p:nvSpPr>
        <p:spPr>
          <a:xfrm>
            <a:off x="640080" y="2331720"/>
            <a:ext cx="3291840" cy="41148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Distance from mean in standard deviations</a:t>
            </a:r>
            <a:endParaRPr lang="en-US" sz="1100" dirty="0"/>
          </a:p>
        </p:txBody>
      </p:sp>
      <p:sp>
        <p:nvSpPr>
          <p:cNvPr id="8" name="Text 6"/>
          <p:cNvSpPr/>
          <p:nvPr/>
        </p:nvSpPr>
        <p:spPr>
          <a:xfrm>
            <a:off x="640080" y="2743200"/>
            <a:ext cx="3291840" cy="365760"/>
          </a:xfrm>
          <a:prstGeom prst="rect">
            <a:avLst/>
          </a:prstGeom>
          <a:noFill/>
          <a:ln/>
        </p:spPr>
        <p:txBody>
          <a:bodyPr wrap="square" lIns="0" tIns="0" rIns="0" bIns="0" rtlCol="0" anchor="ctr"/>
          <a:lstStyle/>
          <a:p>
            <a:pPr marL="0" indent="0">
              <a:buNone/>
            </a:pPr>
            <a:r>
              <a:rPr lang="en-US" sz="1100" b="1" dirty="0">
                <a:solidFill>
                  <a:srgbClr val="EF4444"/>
                </a:solidFill>
                <a:latin typeface="Consolas" pitchFamily="34" charset="0"/>
                <a:ea typeface="Consolas" pitchFamily="34" charset="-122"/>
                <a:cs typeface="Consolas" pitchFamily="34" charset="-120"/>
              </a:rPr>
              <a:t>|z| &gt; 2</a:t>
            </a:r>
            <a:endParaRPr lang="en-US" sz="1100" dirty="0"/>
          </a:p>
        </p:txBody>
      </p:sp>
      <p:sp>
        <p:nvSpPr>
          <p:cNvPr id="9" name="Shape 7"/>
          <p:cNvSpPr/>
          <p:nvPr/>
        </p:nvSpPr>
        <p:spPr>
          <a:xfrm>
            <a:off x="4297680" y="1783080"/>
            <a:ext cx="3611880" cy="1371600"/>
          </a:xfrm>
          <a:prstGeom prst="rect">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4297680" y="1783080"/>
            <a:ext cx="3611880" cy="73152"/>
          </a:xfrm>
          <a:prstGeom prst="rect">
            <a:avLst/>
          </a:prstGeom>
          <a:solidFill>
            <a:srgbClr val="EF4444"/>
          </a:solidFill>
          <a:ln/>
        </p:spPr>
        <p:txBody>
          <a:bodyPr/>
          <a:lstStyle/>
          <a:p>
            <a:endParaRPr lang="en-GB"/>
          </a:p>
        </p:txBody>
      </p:sp>
      <p:sp>
        <p:nvSpPr>
          <p:cNvPr id="11" name="Text 9"/>
          <p:cNvSpPr/>
          <p:nvPr/>
        </p:nvSpPr>
        <p:spPr>
          <a:xfrm>
            <a:off x="4480560" y="1920240"/>
            <a:ext cx="329184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IQR</a:t>
            </a:r>
            <a:endParaRPr lang="en-US" sz="1600" dirty="0"/>
          </a:p>
        </p:txBody>
      </p:sp>
      <p:sp>
        <p:nvSpPr>
          <p:cNvPr id="12" name="Text 10"/>
          <p:cNvSpPr/>
          <p:nvPr/>
        </p:nvSpPr>
        <p:spPr>
          <a:xfrm>
            <a:off x="4480560" y="2331720"/>
            <a:ext cx="3291840" cy="41148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Distance from the interquartile range</a:t>
            </a:r>
            <a:endParaRPr lang="en-US" sz="1100" dirty="0"/>
          </a:p>
        </p:txBody>
      </p:sp>
      <p:sp>
        <p:nvSpPr>
          <p:cNvPr id="13" name="Text 11"/>
          <p:cNvSpPr/>
          <p:nvPr/>
        </p:nvSpPr>
        <p:spPr>
          <a:xfrm>
            <a:off x="4480560" y="2743200"/>
            <a:ext cx="3291840" cy="365760"/>
          </a:xfrm>
          <a:prstGeom prst="rect">
            <a:avLst/>
          </a:prstGeom>
          <a:noFill/>
          <a:ln/>
        </p:spPr>
        <p:txBody>
          <a:bodyPr wrap="square" lIns="0" tIns="0" rIns="0" bIns="0" rtlCol="0" anchor="ctr"/>
          <a:lstStyle/>
          <a:p>
            <a:pPr marL="0" indent="0">
              <a:buNone/>
            </a:pPr>
            <a:r>
              <a:rPr lang="en-US" sz="1100" b="1" dirty="0">
                <a:solidFill>
                  <a:srgbClr val="EF4444"/>
                </a:solidFill>
                <a:latin typeface="Consolas" pitchFamily="34" charset="0"/>
                <a:ea typeface="Consolas" pitchFamily="34" charset="-122"/>
                <a:cs typeface="Consolas" pitchFamily="34" charset="-120"/>
              </a:rPr>
              <a:t>outside [Q1-1.5*IQR, Q3+1.5*IQR]</a:t>
            </a:r>
            <a:endParaRPr lang="en-US" sz="1100" dirty="0"/>
          </a:p>
        </p:txBody>
      </p:sp>
      <p:sp>
        <p:nvSpPr>
          <p:cNvPr id="14" name="Shape 12"/>
          <p:cNvSpPr/>
          <p:nvPr/>
        </p:nvSpPr>
        <p:spPr>
          <a:xfrm>
            <a:off x="8138160" y="1783080"/>
            <a:ext cx="3611880" cy="137160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8138160" y="1783080"/>
            <a:ext cx="3611880" cy="73152"/>
          </a:xfrm>
          <a:prstGeom prst="rect">
            <a:avLst/>
          </a:prstGeom>
          <a:solidFill>
            <a:srgbClr val="EF4444"/>
          </a:solidFill>
          <a:ln/>
        </p:spPr>
        <p:txBody>
          <a:bodyPr/>
          <a:lstStyle/>
          <a:p>
            <a:endParaRPr lang="en-GB"/>
          </a:p>
        </p:txBody>
      </p:sp>
      <p:sp>
        <p:nvSpPr>
          <p:cNvPr id="16" name="Text 14"/>
          <p:cNvSpPr/>
          <p:nvPr/>
        </p:nvSpPr>
        <p:spPr>
          <a:xfrm>
            <a:off x="8321040" y="1920240"/>
            <a:ext cx="329184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Percentile</a:t>
            </a:r>
            <a:endParaRPr lang="en-US" sz="1600" dirty="0"/>
          </a:p>
        </p:txBody>
      </p:sp>
      <p:sp>
        <p:nvSpPr>
          <p:cNvPr id="17" name="Text 15"/>
          <p:cNvSpPr/>
          <p:nvPr/>
        </p:nvSpPr>
        <p:spPr>
          <a:xfrm>
            <a:off x="8321040" y="2331720"/>
            <a:ext cx="3291840" cy="41148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Bottom or top N%</a:t>
            </a:r>
            <a:endParaRPr lang="en-US" sz="1100" dirty="0"/>
          </a:p>
        </p:txBody>
      </p:sp>
      <p:sp>
        <p:nvSpPr>
          <p:cNvPr id="18" name="Text 16"/>
          <p:cNvSpPr/>
          <p:nvPr/>
        </p:nvSpPr>
        <p:spPr>
          <a:xfrm>
            <a:off x="8321040" y="2743200"/>
            <a:ext cx="3291840" cy="365760"/>
          </a:xfrm>
          <a:prstGeom prst="rect">
            <a:avLst/>
          </a:prstGeom>
          <a:noFill/>
          <a:ln/>
        </p:spPr>
        <p:txBody>
          <a:bodyPr wrap="square" lIns="0" tIns="0" rIns="0" bIns="0" rtlCol="0" anchor="ctr"/>
          <a:lstStyle/>
          <a:p>
            <a:pPr marL="0" indent="0">
              <a:buNone/>
            </a:pPr>
            <a:r>
              <a:rPr lang="en-US" sz="1100" b="1" dirty="0">
                <a:solidFill>
                  <a:srgbClr val="EF4444"/>
                </a:solidFill>
                <a:latin typeface="Consolas" pitchFamily="34" charset="0"/>
                <a:ea typeface="Consolas" pitchFamily="34" charset="-122"/>
                <a:cs typeface="Consolas" pitchFamily="34" charset="-120"/>
              </a:rPr>
              <a:t>&lt; 1st or &gt; 99th percentile</a:t>
            </a:r>
            <a:endParaRPr lang="en-US" sz="1100" dirty="0"/>
          </a:p>
        </p:txBody>
      </p:sp>
      <p:sp>
        <p:nvSpPr>
          <p:cNvPr id="19" name="Shape 17"/>
          <p:cNvSpPr/>
          <p:nvPr/>
        </p:nvSpPr>
        <p:spPr>
          <a:xfrm>
            <a:off x="457200" y="3383280"/>
            <a:ext cx="11247120" cy="2834640"/>
          </a:xfrm>
          <a:prstGeom prst="rect">
            <a:avLst/>
          </a:prstGeom>
          <a:solidFill>
            <a:srgbClr val="0F172A"/>
          </a:solidFill>
          <a:ln/>
        </p:spPr>
        <p:txBody>
          <a:bodyPr/>
          <a:lstStyle/>
          <a:p>
            <a:endParaRPr lang="en-GB"/>
          </a:p>
        </p:txBody>
      </p:sp>
      <p:sp>
        <p:nvSpPr>
          <p:cNvPr id="20" name="Shape 18"/>
          <p:cNvSpPr/>
          <p:nvPr/>
        </p:nvSpPr>
        <p:spPr>
          <a:xfrm>
            <a:off x="457200" y="3383280"/>
            <a:ext cx="73152" cy="2834640"/>
          </a:xfrm>
          <a:prstGeom prst="rect">
            <a:avLst/>
          </a:prstGeom>
          <a:solidFill>
            <a:srgbClr val="EF4444"/>
          </a:solidFill>
          <a:ln/>
        </p:spPr>
        <p:txBody>
          <a:bodyPr/>
          <a:lstStyle/>
          <a:p>
            <a:endParaRPr lang="en-GB"/>
          </a:p>
        </p:txBody>
      </p:sp>
      <p:sp>
        <p:nvSpPr>
          <p:cNvPr id="21" name="Text 19"/>
          <p:cNvSpPr/>
          <p:nvPr/>
        </p:nvSpPr>
        <p:spPr>
          <a:xfrm>
            <a:off x="685800" y="3520440"/>
            <a:ext cx="10881360" cy="256032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 Z-score outliers using a CTE (CTEs from last week!)</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WITH stats AS (</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SELECT AVG(CAST(Capacity AS FLOAT)) AS mu, STDEV(Capacity) AS sd FROM Wards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SELECT  w.WardName, w.Capacity, s.mu, s.sd,</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(w.Capacity - s.mu) / NULLIF(s.sd, 0)  AS z_score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FROM Wards w CROSS JOIN stats 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WHERE ABS((w.Capacity - s.mu) / NULLIF(s.sd, 0)) &gt; 1.5;</a:t>
            </a:r>
            <a:endParaRPr lang="en-US" sz="1100" dirty="0"/>
          </a:p>
          <a:p>
            <a:pPr marL="0" indent="0">
              <a:buNone/>
            </a:pP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NULLIF guards against divide-by-zero when sd is 0.</a:t>
            </a:r>
            <a:endParaRPr lang="en-US" sz="1100" dirty="0"/>
          </a:p>
        </p:txBody>
      </p:sp>
      <p:sp>
        <p:nvSpPr>
          <p:cNvPr id="23" name="Shape 20"/>
          <p:cNvSpPr/>
          <p:nvPr/>
        </p:nvSpPr>
        <p:spPr>
          <a:xfrm>
            <a:off x="0" y="6583680"/>
            <a:ext cx="12191695" cy="18288"/>
          </a:xfrm>
          <a:prstGeom prst="rect">
            <a:avLst/>
          </a:prstGeom>
          <a:solidFill>
            <a:srgbClr val="E2E8F0"/>
          </a:solidFill>
          <a:ln/>
        </p:spPr>
        <p:txBody>
          <a:bodyPr/>
          <a:lstStyle/>
          <a:p>
            <a:endParaRPr lang="en-GB"/>
          </a:p>
        </p:txBody>
      </p:sp>
      <p:sp>
        <p:nvSpPr>
          <p:cNvPr id="24" name="Text 21"/>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5" name="Text 22"/>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EF4444"/>
                </a:solidFill>
                <a:latin typeface="Calibri" pitchFamily="34" charset="0"/>
                <a:ea typeface="Calibri" pitchFamily="34" charset="-122"/>
                <a:cs typeface="Calibri" pitchFamily="34" charset="-120"/>
              </a:rPr>
              <a:t>WHEN VALUES LOOK WRONG, NOT JUST EXTREME</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Anomaly Detection: Pattern &amp; Format</a:t>
            </a:r>
            <a:endParaRPr lang="en-US" sz="3600" dirty="0"/>
          </a:p>
        </p:txBody>
      </p:sp>
      <p:sp>
        <p:nvSpPr>
          <p:cNvPr id="4" name="Text 2"/>
          <p:cNvSpPr/>
          <p:nvPr/>
        </p:nvSpPr>
        <p:spPr>
          <a:xfrm>
            <a:off x="457200" y="1737360"/>
            <a:ext cx="11247120" cy="36576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Not all anomalies are numerical. Some are about SHAPE.</a:t>
            </a:r>
            <a:endParaRPr lang="en-US" sz="1400" dirty="0"/>
          </a:p>
        </p:txBody>
      </p:sp>
      <p:sp>
        <p:nvSpPr>
          <p:cNvPr id="5" name="Shape 3"/>
          <p:cNvSpPr/>
          <p:nvPr/>
        </p:nvSpPr>
        <p:spPr>
          <a:xfrm>
            <a:off x="457200" y="2194560"/>
            <a:ext cx="11247120" cy="365760"/>
          </a:xfrm>
          <a:prstGeom prst="rect">
            <a:avLst/>
          </a:prstGeom>
          <a:solidFill>
            <a:srgbClr val="0F172A"/>
          </a:solidFill>
          <a:ln/>
        </p:spPr>
        <p:txBody>
          <a:bodyPr/>
          <a:lstStyle/>
          <a:p>
            <a:endParaRPr lang="en-GB"/>
          </a:p>
        </p:txBody>
      </p:sp>
      <p:sp>
        <p:nvSpPr>
          <p:cNvPr id="6" name="Text 4"/>
          <p:cNvSpPr/>
          <p:nvPr/>
        </p:nvSpPr>
        <p:spPr>
          <a:xfrm>
            <a:off x="548640" y="2194560"/>
            <a:ext cx="1828800" cy="365760"/>
          </a:xfrm>
          <a:prstGeom prst="rect">
            <a:avLst/>
          </a:prstGeom>
          <a:noFill/>
          <a:ln/>
        </p:spPr>
        <p:txBody>
          <a:bodyPr wrap="square" lIns="0" tIns="0" rIns="0" bIns="0" rtlCol="0" anchor="ctr"/>
          <a:lstStyle/>
          <a:p>
            <a:pPr marL="0" indent="0">
              <a:buNone/>
            </a:pPr>
            <a:r>
              <a:rPr lang="en-US" sz="1000" b="1" kern="0" spc="200" dirty="0">
                <a:solidFill>
                  <a:srgbClr val="06B6D4"/>
                </a:solidFill>
                <a:latin typeface="Calibri" pitchFamily="34" charset="0"/>
                <a:ea typeface="Calibri" pitchFamily="34" charset="-122"/>
                <a:cs typeface="Calibri" pitchFamily="34" charset="-120"/>
              </a:rPr>
              <a:t>Check</a:t>
            </a:r>
            <a:endParaRPr lang="en-US" sz="1000" dirty="0"/>
          </a:p>
        </p:txBody>
      </p:sp>
      <p:sp>
        <p:nvSpPr>
          <p:cNvPr id="7" name="Text 5"/>
          <p:cNvSpPr/>
          <p:nvPr/>
        </p:nvSpPr>
        <p:spPr>
          <a:xfrm>
            <a:off x="2377440" y="2194560"/>
            <a:ext cx="2194560" cy="365760"/>
          </a:xfrm>
          <a:prstGeom prst="rect">
            <a:avLst/>
          </a:prstGeom>
          <a:noFill/>
          <a:ln/>
        </p:spPr>
        <p:txBody>
          <a:bodyPr wrap="square" lIns="0" tIns="0" rIns="0" bIns="0" rtlCol="0" anchor="ctr"/>
          <a:lstStyle/>
          <a:p>
            <a:pPr marL="0" indent="0">
              <a:buNone/>
            </a:pPr>
            <a:r>
              <a:rPr lang="en-US" sz="1000" b="1" kern="0" spc="200" dirty="0">
                <a:solidFill>
                  <a:srgbClr val="06B6D4"/>
                </a:solidFill>
                <a:latin typeface="Calibri" pitchFamily="34" charset="0"/>
                <a:ea typeface="Calibri" pitchFamily="34" charset="-122"/>
                <a:cs typeface="Calibri" pitchFamily="34" charset="-120"/>
              </a:rPr>
              <a:t>Target column</a:t>
            </a:r>
            <a:endParaRPr lang="en-US" sz="1000" dirty="0"/>
          </a:p>
        </p:txBody>
      </p:sp>
      <p:sp>
        <p:nvSpPr>
          <p:cNvPr id="8" name="Text 6"/>
          <p:cNvSpPr/>
          <p:nvPr/>
        </p:nvSpPr>
        <p:spPr>
          <a:xfrm>
            <a:off x="4572000" y="2194560"/>
            <a:ext cx="2194560" cy="365760"/>
          </a:xfrm>
          <a:prstGeom prst="rect">
            <a:avLst/>
          </a:prstGeom>
          <a:noFill/>
          <a:ln/>
        </p:spPr>
        <p:txBody>
          <a:bodyPr wrap="square" lIns="0" tIns="0" rIns="0" bIns="0" rtlCol="0" anchor="ctr"/>
          <a:lstStyle/>
          <a:p>
            <a:pPr marL="0" indent="0">
              <a:buNone/>
            </a:pPr>
            <a:r>
              <a:rPr lang="en-US" sz="1000" b="1" kern="0" spc="200" dirty="0">
                <a:solidFill>
                  <a:srgbClr val="06B6D4"/>
                </a:solidFill>
                <a:latin typeface="Calibri" pitchFamily="34" charset="0"/>
                <a:ea typeface="Calibri" pitchFamily="34" charset="-122"/>
                <a:cs typeface="Calibri" pitchFamily="34" charset="-120"/>
              </a:rPr>
              <a:t>Expected</a:t>
            </a:r>
            <a:endParaRPr lang="en-US" sz="1000" dirty="0"/>
          </a:p>
        </p:txBody>
      </p:sp>
      <p:sp>
        <p:nvSpPr>
          <p:cNvPr id="9" name="Text 7"/>
          <p:cNvSpPr/>
          <p:nvPr/>
        </p:nvSpPr>
        <p:spPr>
          <a:xfrm>
            <a:off x="6858000" y="2194560"/>
            <a:ext cx="4754880" cy="365760"/>
          </a:xfrm>
          <a:prstGeom prst="rect">
            <a:avLst/>
          </a:prstGeom>
          <a:noFill/>
          <a:ln/>
        </p:spPr>
        <p:txBody>
          <a:bodyPr wrap="square" lIns="0" tIns="0" rIns="0" bIns="0" rtlCol="0" anchor="ctr"/>
          <a:lstStyle/>
          <a:p>
            <a:pPr marL="0" indent="0">
              <a:buNone/>
            </a:pPr>
            <a:r>
              <a:rPr lang="en-US" sz="1000" b="1" kern="0" spc="200" dirty="0">
                <a:solidFill>
                  <a:srgbClr val="06B6D4"/>
                </a:solidFill>
                <a:latin typeface="Calibri" pitchFamily="34" charset="0"/>
                <a:ea typeface="Calibri" pitchFamily="34" charset="-122"/>
                <a:cs typeface="Calibri" pitchFamily="34" charset="-120"/>
              </a:rPr>
              <a:t>Flag with</a:t>
            </a:r>
            <a:endParaRPr lang="en-US" sz="1000" dirty="0"/>
          </a:p>
        </p:txBody>
      </p:sp>
      <p:sp>
        <p:nvSpPr>
          <p:cNvPr id="10" name="Shape 8"/>
          <p:cNvSpPr/>
          <p:nvPr/>
        </p:nvSpPr>
        <p:spPr>
          <a:xfrm>
            <a:off x="457200" y="2606040"/>
            <a:ext cx="11247120" cy="502920"/>
          </a:xfrm>
          <a:prstGeom prst="rect">
            <a:avLst/>
          </a:prstGeom>
          <a:solidFill>
            <a:srgbClr val="FFFFFF"/>
          </a:solidFill>
          <a:ln/>
        </p:spPr>
        <p:txBody>
          <a:bodyPr/>
          <a:lstStyle/>
          <a:p>
            <a:endParaRPr lang="en-GB"/>
          </a:p>
        </p:txBody>
      </p:sp>
      <p:sp>
        <p:nvSpPr>
          <p:cNvPr id="11" name="Text 9"/>
          <p:cNvSpPr/>
          <p:nvPr/>
        </p:nvSpPr>
        <p:spPr>
          <a:xfrm>
            <a:off x="548640" y="2606040"/>
            <a:ext cx="182880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Length</a:t>
            </a:r>
            <a:endParaRPr lang="en-US" sz="1100" dirty="0"/>
          </a:p>
        </p:txBody>
      </p:sp>
      <p:sp>
        <p:nvSpPr>
          <p:cNvPr id="12" name="Text 10"/>
          <p:cNvSpPr/>
          <p:nvPr/>
        </p:nvSpPr>
        <p:spPr>
          <a:xfrm>
            <a:off x="2377440" y="260604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NHSNumber</a:t>
            </a:r>
            <a:endParaRPr lang="en-US" sz="1100" dirty="0"/>
          </a:p>
        </p:txBody>
      </p:sp>
      <p:sp>
        <p:nvSpPr>
          <p:cNvPr id="13" name="Text 11"/>
          <p:cNvSpPr/>
          <p:nvPr/>
        </p:nvSpPr>
        <p:spPr>
          <a:xfrm>
            <a:off x="4572000" y="260604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exactly 10</a:t>
            </a:r>
            <a:endParaRPr lang="en-US" sz="1100" dirty="0"/>
          </a:p>
        </p:txBody>
      </p:sp>
      <p:sp>
        <p:nvSpPr>
          <p:cNvPr id="14" name="Text 12"/>
          <p:cNvSpPr/>
          <p:nvPr/>
        </p:nvSpPr>
        <p:spPr>
          <a:xfrm>
            <a:off x="6858000" y="2606040"/>
            <a:ext cx="4754880" cy="502920"/>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LEN(NHSNumber) &lt;&gt; 10</a:t>
            </a:r>
            <a:endParaRPr lang="en-US" sz="1100" dirty="0"/>
          </a:p>
        </p:txBody>
      </p:sp>
      <p:sp>
        <p:nvSpPr>
          <p:cNvPr id="15" name="Text 13"/>
          <p:cNvSpPr/>
          <p:nvPr/>
        </p:nvSpPr>
        <p:spPr>
          <a:xfrm>
            <a:off x="548640" y="3108960"/>
            <a:ext cx="182880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Digit-only</a:t>
            </a:r>
            <a:endParaRPr lang="en-US" sz="1100" dirty="0"/>
          </a:p>
        </p:txBody>
      </p:sp>
      <p:sp>
        <p:nvSpPr>
          <p:cNvPr id="16" name="Text 14"/>
          <p:cNvSpPr/>
          <p:nvPr/>
        </p:nvSpPr>
        <p:spPr>
          <a:xfrm>
            <a:off x="2377440" y="310896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NHSNumber</a:t>
            </a:r>
            <a:endParaRPr lang="en-US" sz="1100" dirty="0"/>
          </a:p>
        </p:txBody>
      </p:sp>
      <p:sp>
        <p:nvSpPr>
          <p:cNvPr id="17" name="Text 15"/>
          <p:cNvSpPr/>
          <p:nvPr/>
        </p:nvSpPr>
        <p:spPr>
          <a:xfrm>
            <a:off x="4572000" y="310896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all digits</a:t>
            </a:r>
            <a:endParaRPr lang="en-US" sz="1100" dirty="0"/>
          </a:p>
        </p:txBody>
      </p:sp>
      <p:sp>
        <p:nvSpPr>
          <p:cNvPr id="18" name="Text 16"/>
          <p:cNvSpPr/>
          <p:nvPr/>
        </p:nvSpPr>
        <p:spPr>
          <a:xfrm>
            <a:off x="6858000" y="3108960"/>
            <a:ext cx="4754880" cy="502920"/>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LIKE '%[^0-9]%'</a:t>
            </a:r>
            <a:endParaRPr lang="en-US" sz="1100" dirty="0"/>
          </a:p>
        </p:txBody>
      </p:sp>
      <p:sp>
        <p:nvSpPr>
          <p:cNvPr id="19" name="Shape 17"/>
          <p:cNvSpPr/>
          <p:nvPr/>
        </p:nvSpPr>
        <p:spPr>
          <a:xfrm>
            <a:off x="457200" y="3611880"/>
            <a:ext cx="11247120" cy="502920"/>
          </a:xfrm>
          <a:prstGeom prst="rect">
            <a:avLst/>
          </a:prstGeom>
          <a:solidFill>
            <a:srgbClr val="FFFFFF"/>
          </a:solidFill>
          <a:ln/>
        </p:spPr>
        <p:txBody>
          <a:bodyPr/>
          <a:lstStyle/>
          <a:p>
            <a:endParaRPr lang="en-GB"/>
          </a:p>
        </p:txBody>
      </p:sp>
      <p:sp>
        <p:nvSpPr>
          <p:cNvPr id="20" name="Text 18"/>
          <p:cNvSpPr/>
          <p:nvPr/>
        </p:nvSpPr>
        <p:spPr>
          <a:xfrm>
            <a:off x="548640" y="3611880"/>
            <a:ext cx="182880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Postcode shape</a:t>
            </a:r>
            <a:endParaRPr lang="en-US" sz="1100" dirty="0"/>
          </a:p>
        </p:txBody>
      </p:sp>
      <p:sp>
        <p:nvSpPr>
          <p:cNvPr id="21" name="Text 19"/>
          <p:cNvSpPr/>
          <p:nvPr/>
        </p:nvSpPr>
        <p:spPr>
          <a:xfrm>
            <a:off x="2377440" y="361188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Postcode</a:t>
            </a:r>
            <a:endParaRPr lang="en-US" sz="1100" dirty="0"/>
          </a:p>
        </p:txBody>
      </p:sp>
      <p:sp>
        <p:nvSpPr>
          <p:cNvPr id="22" name="Text 20"/>
          <p:cNvSpPr/>
          <p:nvPr/>
        </p:nvSpPr>
        <p:spPr>
          <a:xfrm>
            <a:off x="4572000" y="361188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UK pattern</a:t>
            </a:r>
            <a:endParaRPr lang="en-US" sz="1100" dirty="0"/>
          </a:p>
        </p:txBody>
      </p:sp>
      <p:sp>
        <p:nvSpPr>
          <p:cNvPr id="23" name="Text 21"/>
          <p:cNvSpPr/>
          <p:nvPr/>
        </p:nvSpPr>
        <p:spPr>
          <a:xfrm>
            <a:off x="6858000" y="3611880"/>
            <a:ext cx="4754880" cy="502920"/>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NOT LIKE '[A-Z][A-Z]%[0-9][A-Z][A-Z]'</a:t>
            </a:r>
            <a:endParaRPr lang="en-US" sz="1100" dirty="0"/>
          </a:p>
        </p:txBody>
      </p:sp>
      <p:sp>
        <p:nvSpPr>
          <p:cNvPr id="24" name="Text 22"/>
          <p:cNvSpPr/>
          <p:nvPr/>
        </p:nvSpPr>
        <p:spPr>
          <a:xfrm>
            <a:off x="548640" y="4114800"/>
            <a:ext cx="182880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Numeric value</a:t>
            </a:r>
            <a:endParaRPr lang="en-US" sz="1100" dirty="0"/>
          </a:p>
        </p:txBody>
      </p:sp>
      <p:sp>
        <p:nvSpPr>
          <p:cNvPr id="25" name="Text 23"/>
          <p:cNvSpPr/>
          <p:nvPr/>
        </p:nvSpPr>
        <p:spPr>
          <a:xfrm>
            <a:off x="2377440" y="411480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ObsValue</a:t>
            </a:r>
            <a:endParaRPr lang="en-US" sz="1100" dirty="0"/>
          </a:p>
        </p:txBody>
      </p:sp>
      <p:sp>
        <p:nvSpPr>
          <p:cNvPr id="26" name="Text 24"/>
          <p:cNvSpPr/>
          <p:nvPr/>
        </p:nvSpPr>
        <p:spPr>
          <a:xfrm>
            <a:off x="4572000" y="411480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is parseable</a:t>
            </a:r>
            <a:endParaRPr lang="en-US" sz="1100" dirty="0"/>
          </a:p>
        </p:txBody>
      </p:sp>
      <p:sp>
        <p:nvSpPr>
          <p:cNvPr id="27" name="Text 25"/>
          <p:cNvSpPr/>
          <p:nvPr/>
        </p:nvSpPr>
        <p:spPr>
          <a:xfrm>
            <a:off x="6858000" y="4114800"/>
            <a:ext cx="4754880" cy="502920"/>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TRY_CAST(ObsValue AS FLOAT) IS NULL</a:t>
            </a:r>
            <a:endParaRPr lang="en-US" sz="1100" dirty="0"/>
          </a:p>
        </p:txBody>
      </p:sp>
      <p:sp>
        <p:nvSpPr>
          <p:cNvPr id="28" name="Shape 26"/>
          <p:cNvSpPr/>
          <p:nvPr/>
        </p:nvSpPr>
        <p:spPr>
          <a:xfrm>
            <a:off x="457200" y="4617720"/>
            <a:ext cx="11247120" cy="502920"/>
          </a:xfrm>
          <a:prstGeom prst="rect">
            <a:avLst/>
          </a:prstGeom>
          <a:solidFill>
            <a:srgbClr val="FFFFFF"/>
          </a:solidFill>
          <a:ln/>
        </p:spPr>
        <p:txBody>
          <a:bodyPr/>
          <a:lstStyle/>
          <a:p>
            <a:endParaRPr lang="en-GB"/>
          </a:p>
        </p:txBody>
      </p:sp>
      <p:sp>
        <p:nvSpPr>
          <p:cNvPr id="29" name="Text 27"/>
          <p:cNvSpPr/>
          <p:nvPr/>
        </p:nvSpPr>
        <p:spPr>
          <a:xfrm>
            <a:off x="548640" y="4617720"/>
            <a:ext cx="182880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Whitespace</a:t>
            </a:r>
            <a:endParaRPr lang="en-US" sz="1100" dirty="0"/>
          </a:p>
        </p:txBody>
      </p:sp>
      <p:sp>
        <p:nvSpPr>
          <p:cNvPr id="30" name="Text 28"/>
          <p:cNvSpPr/>
          <p:nvPr/>
        </p:nvSpPr>
        <p:spPr>
          <a:xfrm>
            <a:off x="2377440" y="461772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Names</a:t>
            </a:r>
            <a:endParaRPr lang="en-US" sz="1100" dirty="0"/>
          </a:p>
        </p:txBody>
      </p:sp>
      <p:sp>
        <p:nvSpPr>
          <p:cNvPr id="31" name="Text 29"/>
          <p:cNvSpPr/>
          <p:nvPr/>
        </p:nvSpPr>
        <p:spPr>
          <a:xfrm>
            <a:off x="4572000" y="4617720"/>
            <a:ext cx="2194560" cy="50292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no leading/trailing</a:t>
            </a:r>
            <a:endParaRPr lang="en-US" sz="1100" dirty="0"/>
          </a:p>
        </p:txBody>
      </p:sp>
      <p:sp>
        <p:nvSpPr>
          <p:cNvPr id="32" name="Text 30"/>
          <p:cNvSpPr/>
          <p:nvPr/>
        </p:nvSpPr>
        <p:spPr>
          <a:xfrm>
            <a:off x="6858000" y="4617720"/>
            <a:ext cx="4754880" cy="502920"/>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LEN(col) &lt;&gt; LEN(LTRIM(RTRIM(col)))</a:t>
            </a:r>
            <a:endParaRPr lang="en-US" sz="1100" dirty="0"/>
          </a:p>
        </p:txBody>
      </p:sp>
      <p:sp>
        <p:nvSpPr>
          <p:cNvPr id="33" name="Shape 31"/>
          <p:cNvSpPr/>
          <p:nvPr/>
        </p:nvSpPr>
        <p:spPr>
          <a:xfrm>
            <a:off x="457200" y="5349240"/>
            <a:ext cx="11247120" cy="914400"/>
          </a:xfrm>
          <a:prstGeom prst="rect">
            <a:avLst/>
          </a:prstGeom>
          <a:solidFill>
            <a:srgbClr val="0F172A"/>
          </a:solidFill>
          <a:ln/>
        </p:spPr>
        <p:txBody>
          <a:bodyPr/>
          <a:lstStyle/>
          <a:p>
            <a:endParaRPr lang="en-GB"/>
          </a:p>
        </p:txBody>
      </p:sp>
      <p:sp>
        <p:nvSpPr>
          <p:cNvPr id="34" name="Shape 32"/>
          <p:cNvSpPr/>
          <p:nvPr/>
        </p:nvSpPr>
        <p:spPr>
          <a:xfrm>
            <a:off x="457200" y="5349240"/>
            <a:ext cx="73152" cy="914400"/>
          </a:xfrm>
          <a:prstGeom prst="rect">
            <a:avLst/>
          </a:prstGeom>
          <a:solidFill>
            <a:srgbClr val="F59E0B"/>
          </a:solidFill>
          <a:ln/>
        </p:spPr>
        <p:txBody>
          <a:bodyPr/>
          <a:lstStyle/>
          <a:p>
            <a:endParaRPr lang="en-GB"/>
          </a:p>
        </p:txBody>
      </p:sp>
      <p:sp>
        <p:nvSpPr>
          <p:cNvPr id="35" name="Text 33"/>
          <p:cNvSpPr/>
          <p:nvPr/>
        </p:nvSpPr>
        <p:spPr>
          <a:xfrm>
            <a:off x="640080" y="5440680"/>
            <a:ext cx="5486400" cy="228600"/>
          </a:xfrm>
          <a:prstGeom prst="rect">
            <a:avLst/>
          </a:prstGeom>
          <a:noFill/>
          <a:ln/>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LIVE EXAMPLE</a:t>
            </a:r>
            <a:endParaRPr lang="en-US" sz="900" dirty="0"/>
          </a:p>
        </p:txBody>
      </p:sp>
      <p:sp>
        <p:nvSpPr>
          <p:cNvPr id="36" name="Text 34"/>
          <p:cNvSpPr/>
          <p:nvPr/>
        </p:nvSpPr>
        <p:spPr>
          <a:xfrm>
            <a:off x="640080" y="5669280"/>
            <a:ext cx="10972800" cy="548640"/>
          </a:xfrm>
          <a:prstGeom prst="rect">
            <a:avLst/>
          </a:prstGeom>
          <a:noFill/>
          <a:ln/>
        </p:spPr>
        <p:txBody>
          <a:bodyPr wrap="square" lIns="0" tIns="0" rIns="0" bIns="0" rtlCol="0" anchor="ctr"/>
          <a:lstStyle/>
          <a:p>
            <a:pPr marL="0" indent="0">
              <a:buNone/>
            </a:pPr>
            <a:r>
              <a:rPr lang="en-US" sz="1200" i="1" dirty="0">
                <a:solidFill>
                  <a:srgbClr val="CBD5E1"/>
                </a:solidFill>
                <a:latin typeface="Calibri" pitchFamily="34" charset="0"/>
                <a:ea typeface="Calibri" pitchFamily="34" charset="-122"/>
                <a:cs typeface="Calibri" pitchFamily="34" charset="-120"/>
              </a:rPr>
              <a:t>Our Observations table has ObsValue as text: '88%', '145/90', '38.2'. Profile the formats by ObsType to catch any rogue values.</a:t>
            </a:r>
            <a:endParaRPr lang="en-US" sz="1200" dirty="0"/>
          </a:p>
        </p:txBody>
      </p:sp>
      <p:sp>
        <p:nvSpPr>
          <p:cNvPr id="38" name="Shape 35"/>
          <p:cNvSpPr/>
          <p:nvPr/>
        </p:nvSpPr>
        <p:spPr>
          <a:xfrm>
            <a:off x="0" y="6583680"/>
            <a:ext cx="12191695" cy="18288"/>
          </a:xfrm>
          <a:prstGeom prst="rect">
            <a:avLst/>
          </a:prstGeom>
          <a:solidFill>
            <a:srgbClr val="E2E8F0"/>
          </a:solidFill>
          <a:ln/>
        </p:spPr>
        <p:txBody>
          <a:bodyPr/>
          <a:lstStyle/>
          <a:p>
            <a:endParaRPr lang="en-GB"/>
          </a:p>
        </p:txBody>
      </p:sp>
      <p:sp>
        <p:nvSpPr>
          <p:cNvPr id="39" name="Text 36"/>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40" name="Text 37"/>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EF4444"/>
                </a:solidFill>
                <a:latin typeface="Calibri" pitchFamily="34" charset="0"/>
                <a:ea typeface="Calibri" pitchFamily="34" charset="-122"/>
                <a:cs typeface="Calibri" pitchFamily="34" charset="-120"/>
              </a:rPr>
              <a:t>NULLS IN DISGUISE</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Sentinel Values</a:t>
            </a:r>
            <a:endParaRPr lang="en-US" sz="3600" dirty="0"/>
          </a:p>
        </p:txBody>
      </p:sp>
      <p:sp>
        <p:nvSpPr>
          <p:cNvPr id="4" name="Text 2"/>
          <p:cNvSpPr/>
          <p:nvPr/>
        </p:nvSpPr>
        <p:spPr>
          <a:xfrm>
            <a:off x="457200" y="1783080"/>
            <a:ext cx="11247120" cy="36576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Real data, but they really mean "we don't know".</a:t>
            </a:r>
            <a:endParaRPr lang="en-US" sz="1400" dirty="0"/>
          </a:p>
        </p:txBody>
      </p:sp>
      <p:sp>
        <p:nvSpPr>
          <p:cNvPr id="5" name="Shape 3"/>
          <p:cNvSpPr/>
          <p:nvPr/>
        </p:nvSpPr>
        <p:spPr>
          <a:xfrm>
            <a:off x="457200" y="2286000"/>
            <a:ext cx="5577840" cy="1920240"/>
          </a:xfrm>
          <a:prstGeom prst="rect">
            <a:avLst/>
          </a:prstGeom>
          <a:solidFill>
            <a:srgbClr val="FFFFFF"/>
          </a:solidFill>
          <a:ln w="12700">
            <a:solidFill>
              <a:srgbClr val="E2E8F0"/>
            </a:solidFill>
            <a:prstDash val="solid"/>
          </a:ln>
        </p:spPr>
        <p:txBody>
          <a:bodyPr/>
          <a:lstStyle/>
          <a:p>
            <a:endParaRPr lang="en-GB"/>
          </a:p>
        </p:txBody>
      </p:sp>
      <p:sp>
        <p:nvSpPr>
          <p:cNvPr id="6" name="Shape 4"/>
          <p:cNvSpPr/>
          <p:nvPr/>
        </p:nvSpPr>
        <p:spPr>
          <a:xfrm>
            <a:off x="457200" y="2286000"/>
            <a:ext cx="5577840" cy="365760"/>
          </a:xfrm>
          <a:prstGeom prst="rect">
            <a:avLst/>
          </a:prstGeom>
          <a:solidFill>
            <a:srgbClr val="06B6D4"/>
          </a:solidFill>
          <a:ln/>
        </p:spPr>
        <p:txBody>
          <a:bodyPr/>
          <a:lstStyle/>
          <a:p>
            <a:endParaRPr lang="en-GB"/>
          </a:p>
        </p:txBody>
      </p:sp>
      <p:sp>
        <p:nvSpPr>
          <p:cNvPr id="7" name="Text 5"/>
          <p:cNvSpPr/>
          <p:nvPr/>
        </p:nvSpPr>
        <p:spPr>
          <a:xfrm>
            <a:off x="640080" y="2286000"/>
            <a:ext cx="5212080" cy="36576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DATES</a:t>
            </a:r>
            <a:endParaRPr lang="en-US" sz="1100" dirty="0"/>
          </a:p>
        </p:txBody>
      </p:sp>
      <p:sp>
        <p:nvSpPr>
          <p:cNvPr id="8" name="Text 6"/>
          <p:cNvSpPr/>
          <p:nvPr/>
        </p:nvSpPr>
        <p:spPr>
          <a:xfrm>
            <a:off x="640080" y="2788920"/>
            <a:ext cx="5212080" cy="64008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1900-01-01   ·   9999-12-31   ·   1970-01-01   ·   0001-01-01</a:t>
            </a:r>
            <a:endParaRPr lang="en-US" sz="1400" dirty="0"/>
          </a:p>
        </p:txBody>
      </p:sp>
      <p:sp>
        <p:nvSpPr>
          <p:cNvPr id="9" name="Text 7"/>
          <p:cNvSpPr/>
          <p:nvPr/>
        </p:nvSpPr>
        <p:spPr>
          <a:xfrm>
            <a:off x="640080" y="3611880"/>
            <a:ext cx="5212080" cy="45720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Default values, end-of-time markers, Unix epoch</a:t>
            </a:r>
            <a:endParaRPr lang="en-US" sz="1100" dirty="0"/>
          </a:p>
        </p:txBody>
      </p:sp>
      <p:sp>
        <p:nvSpPr>
          <p:cNvPr id="10" name="Shape 8"/>
          <p:cNvSpPr/>
          <p:nvPr/>
        </p:nvSpPr>
        <p:spPr>
          <a:xfrm>
            <a:off x="6309360" y="2286000"/>
            <a:ext cx="5577840" cy="1920240"/>
          </a:xfrm>
          <a:prstGeom prst="rect">
            <a:avLst/>
          </a:prstGeom>
          <a:solidFill>
            <a:srgbClr val="FFFFFF"/>
          </a:solidFill>
          <a:ln w="12700">
            <a:solidFill>
              <a:srgbClr val="E2E8F0"/>
            </a:solidFill>
            <a:prstDash val="solid"/>
          </a:ln>
        </p:spPr>
        <p:txBody>
          <a:bodyPr/>
          <a:lstStyle/>
          <a:p>
            <a:endParaRPr lang="en-GB"/>
          </a:p>
        </p:txBody>
      </p:sp>
      <p:sp>
        <p:nvSpPr>
          <p:cNvPr id="11" name="Shape 9"/>
          <p:cNvSpPr/>
          <p:nvPr/>
        </p:nvSpPr>
        <p:spPr>
          <a:xfrm>
            <a:off x="6309360" y="2286000"/>
            <a:ext cx="5577840" cy="365760"/>
          </a:xfrm>
          <a:prstGeom prst="rect">
            <a:avLst/>
          </a:prstGeom>
          <a:solidFill>
            <a:srgbClr val="F59E0B"/>
          </a:solidFill>
          <a:ln/>
        </p:spPr>
        <p:txBody>
          <a:bodyPr/>
          <a:lstStyle/>
          <a:p>
            <a:endParaRPr lang="en-GB"/>
          </a:p>
        </p:txBody>
      </p:sp>
      <p:sp>
        <p:nvSpPr>
          <p:cNvPr id="12" name="Text 10"/>
          <p:cNvSpPr/>
          <p:nvPr/>
        </p:nvSpPr>
        <p:spPr>
          <a:xfrm>
            <a:off x="6492240" y="2286000"/>
            <a:ext cx="5212080" cy="36576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NUMBERS</a:t>
            </a:r>
            <a:endParaRPr lang="en-US" sz="1100" dirty="0"/>
          </a:p>
        </p:txBody>
      </p:sp>
      <p:sp>
        <p:nvSpPr>
          <p:cNvPr id="13" name="Text 11"/>
          <p:cNvSpPr/>
          <p:nvPr/>
        </p:nvSpPr>
        <p:spPr>
          <a:xfrm>
            <a:off x="6492240" y="2788920"/>
            <a:ext cx="5212080" cy="64008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-1   ·   0   ·   9999   ·   999999   ·   -999</a:t>
            </a:r>
            <a:endParaRPr lang="en-US" sz="1400" dirty="0"/>
          </a:p>
        </p:txBody>
      </p:sp>
      <p:sp>
        <p:nvSpPr>
          <p:cNvPr id="14" name="Text 12"/>
          <p:cNvSpPr/>
          <p:nvPr/>
        </p:nvSpPr>
        <p:spPr>
          <a:xfrm>
            <a:off x="6492240" y="3611880"/>
            <a:ext cx="5212080" cy="45720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Sentinel codes for missing or invalid</a:t>
            </a:r>
            <a:endParaRPr lang="en-US" sz="1100" dirty="0"/>
          </a:p>
        </p:txBody>
      </p:sp>
      <p:sp>
        <p:nvSpPr>
          <p:cNvPr id="15" name="Shape 13"/>
          <p:cNvSpPr/>
          <p:nvPr/>
        </p:nvSpPr>
        <p:spPr>
          <a:xfrm>
            <a:off x="457200" y="4389120"/>
            <a:ext cx="5577840" cy="1920240"/>
          </a:xfrm>
          <a:prstGeom prst="rect">
            <a:avLst/>
          </a:prstGeom>
          <a:solidFill>
            <a:srgbClr val="FFFFFF"/>
          </a:solidFill>
          <a:ln w="12700">
            <a:solidFill>
              <a:srgbClr val="E2E8F0"/>
            </a:solidFill>
            <a:prstDash val="solid"/>
          </a:ln>
        </p:spPr>
        <p:txBody>
          <a:bodyPr/>
          <a:lstStyle/>
          <a:p>
            <a:endParaRPr lang="en-GB"/>
          </a:p>
        </p:txBody>
      </p:sp>
      <p:sp>
        <p:nvSpPr>
          <p:cNvPr id="16" name="Shape 14"/>
          <p:cNvSpPr/>
          <p:nvPr/>
        </p:nvSpPr>
        <p:spPr>
          <a:xfrm>
            <a:off x="457200" y="4389120"/>
            <a:ext cx="5577840" cy="365760"/>
          </a:xfrm>
          <a:prstGeom prst="rect">
            <a:avLst/>
          </a:prstGeom>
          <a:solidFill>
            <a:srgbClr val="10B981"/>
          </a:solidFill>
          <a:ln/>
        </p:spPr>
        <p:txBody>
          <a:bodyPr/>
          <a:lstStyle/>
          <a:p>
            <a:endParaRPr lang="en-GB"/>
          </a:p>
        </p:txBody>
      </p:sp>
      <p:sp>
        <p:nvSpPr>
          <p:cNvPr id="17" name="Text 15"/>
          <p:cNvSpPr/>
          <p:nvPr/>
        </p:nvSpPr>
        <p:spPr>
          <a:xfrm>
            <a:off x="640080" y="4389120"/>
            <a:ext cx="5212080" cy="36576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STRINGS</a:t>
            </a:r>
            <a:endParaRPr lang="en-US" sz="1100" dirty="0"/>
          </a:p>
        </p:txBody>
      </p:sp>
      <p:sp>
        <p:nvSpPr>
          <p:cNvPr id="18" name="Text 16"/>
          <p:cNvSpPr/>
          <p:nvPr/>
        </p:nvSpPr>
        <p:spPr>
          <a:xfrm>
            <a:off x="640080" y="4892040"/>
            <a:ext cx="5212080" cy="64008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'N/A'   ·   'Unknown'   ·   '?'   ·   'TBC'   ·   '-'   ·   ''</a:t>
            </a:r>
            <a:endParaRPr lang="en-US" sz="1400" dirty="0"/>
          </a:p>
        </p:txBody>
      </p:sp>
      <p:sp>
        <p:nvSpPr>
          <p:cNvPr id="19" name="Text 17"/>
          <p:cNvSpPr/>
          <p:nvPr/>
        </p:nvSpPr>
        <p:spPr>
          <a:xfrm>
            <a:off x="640080" y="5715000"/>
            <a:ext cx="5212080" cy="45720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Free-text placeholders, empty strings</a:t>
            </a:r>
            <a:endParaRPr lang="en-US" sz="1100" dirty="0"/>
          </a:p>
        </p:txBody>
      </p:sp>
      <p:sp>
        <p:nvSpPr>
          <p:cNvPr id="20" name="Shape 18"/>
          <p:cNvSpPr/>
          <p:nvPr/>
        </p:nvSpPr>
        <p:spPr>
          <a:xfrm>
            <a:off x="6309360" y="4389120"/>
            <a:ext cx="5577840" cy="1920240"/>
          </a:xfrm>
          <a:prstGeom prst="rect">
            <a:avLst/>
          </a:prstGeom>
          <a:solidFill>
            <a:srgbClr val="FFFFFF"/>
          </a:solidFill>
          <a:ln w="12700">
            <a:solidFill>
              <a:srgbClr val="E2E8F0"/>
            </a:solidFill>
            <a:prstDash val="solid"/>
          </a:ln>
        </p:spPr>
        <p:txBody>
          <a:bodyPr/>
          <a:lstStyle/>
          <a:p>
            <a:endParaRPr lang="en-GB"/>
          </a:p>
        </p:txBody>
      </p:sp>
      <p:sp>
        <p:nvSpPr>
          <p:cNvPr id="21" name="Shape 19"/>
          <p:cNvSpPr/>
          <p:nvPr/>
        </p:nvSpPr>
        <p:spPr>
          <a:xfrm>
            <a:off x="6309360" y="4389120"/>
            <a:ext cx="5577840" cy="365760"/>
          </a:xfrm>
          <a:prstGeom prst="rect">
            <a:avLst/>
          </a:prstGeom>
          <a:solidFill>
            <a:srgbClr val="8B5CF6"/>
          </a:solidFill>
          <a:ln/>
        </p:spPr>
        <p:txBody>
          <a:bodyPr/>
          <a:lstStyle/>
          <a:p>
            <a:endParaRPr lang="en-GB"/>
          </a:p>
        </p:txBody>
      </p:sp>
      <p:sp>
        <p:nvSpPr>
          <p:cNvPr id="22" name="Text 20"/>
          <p:cNvSpPr/>
          <p:nvPr/>
        </p:nvSpPr>
        <p:spPr>
          <a:xfrm>
            <a:off x="6492240" y="4389120"/>
            <a:ext cx="5212080" cy="36576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IDs</a:t>
            </a:r>
            <a:endParaRPr lang="en-US" sz="1100" dirty="0"/>
          </a:p>
        </p:txBody>
      </p:sp>
      <p:sp>
        <p:nvSpPr>
          <p:cNvPr id="23" name="Text 21"/>
          <p:cNvSpPr/>
          <p:nvPr/>
        </p:nvSpPr>
        <p:spPr>
          <a:xfrm>
            <a:off x="6492240" y="4892040"/>
            <a:ext cx="5212080" cy="64008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0   ·   -1   ·   '00000000'   ·   'TEST'   ·   'UNKNOWN'</a:t>
            </a:r>
            <a:endParaRPr lang="en-US" sz="1400" dirty="0"/>
          </a:p>
        </p:txBody>
      </p:sp>
      <p:sp>
        <p:nvSpPr>
          <p:cNvPr id="24" name="Text 22"/>
          <p:cNvSpPr/>
          <p:nvPr/>
        </p:nvSpPr>
        <p:spPr>
          <a:xfrm>
            <a:off x="6492240" y="5715000"/>
            <a:ext cx="5212080" cy="45720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Test data, default keys</a:t>
            </a:r>
            <a:endParaRPr lang="en-US" sz="1100" dirty="0"/>
          </a:p>
        </p:txBody>
      </p:sp>
      <p:sp>
        <p:nvSpPr>
          <p:cNvPr id="26" name="Shape 23"/>
          <p:cNvSpPr/>
          <p:nvPr/>
        </p:nvSpPr>
        <p:spPr>
          <a:xfrm>
            <a:off x="0" y="6583680"/>
            <a:ext cx="12191695" cy="18288"/>
          </a:xfrm>
          <a:prstGeom prst="rect">
            <a:avLst/>
          </a:prstGeom>
          <a:solidFill>
            <a:srgbClr val="E2E8F0"/>
          </a:solidFill>
          <a:ln/>
        </p:spPr>
        <p:txBody>
          <a:bodyPr/>
          <a:lstStyle/>
          <a:p>
            <a:endParaRPr lang="en-GB"/>
          </a:p>
        </p:txBody>
      </p:sp>
      <p:sp>
        <p:nvSpPr>
          <p:cNvPr id="27" name="Text 24"/>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8" name="Text 25"/>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EF4444"/>
                </a:solidFill>
                <a:latin typeface="Calibri" pitchFamily="34" charset="0"/>
                <a:ea typeface="Calibri" pitchFamily="34" charset="-122"/>
                <a:cs typeface="Calibri" pitchFamily="34" charset="-120"/>
              </a:rPr>
              <a:t>WHEN THE COLUMNS DISAGREE WITH EACH OTHER</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Cross-Field Consistency</a:t>
            </a:r>
            <a:endParaRPr lang="en-US" sz="3600" dirty="0"/>
          </a:p>
        </p:txBody>
      </p:sp>
      <p:sp>
        <p:nvSpPr>
          <p:cNvPr id="4" name="Text 2"/>
          <p:cNvSpPr/>
          <p:nvPr/>
        </p:nvSpPr>
        <p:spPr>
          <a:xfrm>
            <a:off x="457200" y="1737360"/>
            <a:ext cx="11247120" cy="45720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Individual columns can pass every check, and STILL be wrong together.</a:t>
            </a:r>
            <a:endParaRPr lang="en-US" sz="1400" dirty="0"/>
          </a:p>
        </p:txBody>
      </p:sp>
      <p:sp>
        <p:nvSpPr>
          <p:cNvPr id="5" name="Shape 3"/>
          <p:cNvSpPr/>
          <p:nvPr/>
        </p:nvSpPr>
        <p:spPr>
          <a:xfrm>
            <a:off x="457200" y="2331720"/>
            <a:ext cx="11247120" cy="1188720"/>
          </a:xfrm>
          <a:prstGeom prst="rect">
            <a:avLst/>
          </a:prstGeom>
          <a:solidFill>
            <a:srgbClr val="FFFFFF"/>
          </a:solidFill>
          <a:ln w="12700">
            <a:solidFill>
              <a:srgbClr val="E2E8F0"/>
            </a:solidFill>
            <a:prstDash val="solid"/>
          </a:ln>
        </p:spPr>
        <p:txBody>
          <a:bodyPr/>
          <a:lstStyle/>
          <a:p>
            <a:endParaRPr lang="en-GB"/>
          </a:p>
        </p:txBody>
      </p:sp>
      <p:sp>
        <p:nvSpPr>
          <p:cNvPr id="6" name="Shape 4"/>
          <p:cNvSpPr/>
          <p:nvPr/>
        </p:nvSpPr>
        <p:spPr>
          <a:xfrm>
            <a:off x="457200" y="2331720"/>
            <a:ext cx="137160" cy="1188720"/>
          </a:xfrm>
          <a:prstGeom prst="rect">
            <a:avLst/>
          </a:prstGeom>
          <a:solidFill>
            <a:srgbClr val="EF4444"/>
          </a:solidFill>
          <a:ln/>
        </p:spPr>
        <p:txBody>
          <a:bodyPr/>
          <a:lstStyle/>
          <a:p>
            <a:endParaRPr lang="en-GB"/>
          </a:p>
        </p:txBody>
      </p:sp>
      <p:sp>
        <p:nvSpPr>
          <p:cNvPr id="7" name="Text 5"/>
          <p:cNvSpPr/>
          <p:nvPr/>
        </p:nvSpPr>
        <p:spPr>
          <a:xfrm>
            <a:off x="777240" y="246888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Logical impossibility</a:t>
            </a:r>
            <a:endParaRPr lang="en-US" sz="1500" dirty="0"/>
          </a:p>
        </p:txBody>
      </p:sp>
      <p:sp>
        <p:nvSpPr>
          <p:cNvPr id="8" name="Text 6"/>
          <p:cNvSpPr/>
          <p:nvPr/>
        </p:nvSpPr>
        <p:spPr>
          <a:xfrm>
            <a:off x="777240" y="2880360"/>
            <a:ext cx="4114800" cy="5486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DischargeDate &lt; AdmissionDate</a:t>
            </a:r>
            <a:endParaRPr lang="en-US" sz="1100" dirty="0"/>
          </a:p>
        </p:txBody>
      </p:sp>
      <p:sp>
        <p:nvSpPr>
          <p:cNvPr id="9" name="Shape 7"/>
          <p:cNvSpPr/>
          <p:nvPr/>
        </p:nvSpPr>
        <p:spPr>
          <a:xfrm>
            <a:off x="5486400" y="2468880"/>
            <a:ext cx="6035040" cy="914400"/>
          </a:xfrm>
          <a:prstGeom prst="rect">
            <a:avLst/>
          </a:prstGeom>
          <a:solidFill>
            <a:srgbClr val="0F172A"/>
          </a:solidFill>
          <a:ln/>
        </p:spPr>
        <p:txBody>
          <a:bodyPr/>
          <a:lstStyle/>
          <a:p>
            <a:endParaRPr lang="en-GB"/>
          </a:p>
        </p:txBody>
      </p:sp>
      <p:sp>
        <p:nvSpPr>
          <p:cNvPr id="10" name="Text 8"/>
          <p:cNvSpPr/>
          <p:nvPr/>
        </p:nvSpPr>
        <p:spPr>
          <a:xfrm>
            <a:off x="5623560" y="2560320"/>
            <a:ext cx="5852160" cy="73152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WHERE DischargeDate &lt; AdmissionDate</a:t>
            </a:r>
            <a:endParaRPr lang="en-US" sz="1100" dirty="0"/>
          </a:p>
        </p:txBody>
      </p:sp>
      <p:sp>
        <p:nvSpPr>
          <p:cNvPr id="11" name="Shape 9"/>
          <p:cNvSpPr/>
          <p:nvPr/>
        </p:nvSpPr>
        <p:spPr>
          <a:xfrm>
            <a:off x="457200" y="3657600"/>
            <a:ext cx="11247120" cy="1188720"/>
          </a:xfrm>
          <a:prstGeom prst="rect">
            <a:avLst/>
          </a:prstGeom>
          <a:solidFill>
            <a:srgbClr val="FFFFFF"/>
          </a:solidFill>
          <a:ln w="12700">
            <a:solidFill>
              <a:srgbClr val="E2E8F0"/>
            </a:solidFill>
            <a:prstDash val="solid"/>
          </a:ln>
        </p:spPr>
        <p:txBody>
          <a:bodyPr/>
          <a:lstStyle/>
          <a:p>
            <a:endParaRPr lang="en-GB"/>
          </a:p>
        </p:txBody>
      </p:sp>
      <p:sp>
        <p:nvSpPr>
          <p:cNvPr id="12" name="Shape 10"/>
          <p:cNvSpPr/>
          <p:nvPr/>
        </p:nvSpPr>
        <p:spPr>
          <a:xfrm>
            <a:off x="457200" y="3657600"/>
            <a:ext cx="137160" cy="1188720"/>
          </a:xfrm>
          <a:prstGeom prst="rect">
            <a:avLst/>
          </a:prstGeom>
          <a:solidFill>
            <a:srgbClr val="EF4444"/>
          </a:solidFill>
          <a:ln/>
        </p:spPr>
        <p:txBody>
          <a:bodyPr/>
          <a:lstStyle/>
          <a:p>
            <a:endParaRPr lang="en-GB"/>
          </a:p>
        </p:txBody>
      </p:sp>
      <p:sp>
        <p:nvSpPr>
          <p:cNvPr id="13" name="Text 11"/>
          <p:cNvSpPr/>
          <p:nvPr/>
        </p:nvSpPr>
        <p:spPr>
          <a:xfrm>
            <a:off x="777240" y="379476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Out of window</a:t>
            </a:r>
            <a:endParaRPr lang="en-US" sz="1500" dirty="0"/>
          </a:p>
        </p:txBody>
      </p:sp>
      <p:sp>
        <p:nvSpPr>
          <p:cNvPr id="14" name="Text 12"/>
          <p:cNvSpPr/>
          <p:nvPr/>
        </p:nvSpPr>
        <p:spPr>
          <a:xfrm>
            <a:off x="777240" y="4206240"/>
            <a:ext cx="4114800" cy="5486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Observation taken before admission</a:t>
            </a:r>
            <a:endParaRPr lang="en-US" sz="1100" dirty="0"/>
          </a:p>
        </p:txBody>
      </p:sp>
      <p:sp>
        <p:nvSpPr>
          <p:cNvPr id="15" name="Shape 13"/>
          <p:cNvSpPr/>
          <p:nvPr/>
        </p:nvSpPr>
        <p:spPr>
          <a:xfrm>
            <a:off x="5486400" y="3794760"/>
            <a:ext cx="6035040" cy="914400"/>
          </a:xfrm>
          <a:prstGeom prst="rect">
            <a:avLst/>
          </a:prstGeom>
          <a:solidFill>
            <a:srgbClr val="0F172A"/>
          </a:solidFill>
          <a:ln/>
        </p:spPr>
        <p:txBody>
          <a:bodyPr/>
          <a:lstStyle/>
          <a:p>
            <a:endParaRPr lang="en-GB"/>
          </a:p>
        </p:txBody>
      </p:sp>
      <p:sp>
        <p:nvSpPr>
          <p:cNvPr id="16" name="Text 14"/>
          <p:cNvSpPr/>
          <p:nvPr/>
        </p:nvSpPr>
        <p:spPr>
          <a:xfrm>
            <a:off x="5623560" y="3886200"/>
            <a:ext cx="5852160" cy="73152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WHERE o.ObsDateTime &lt; a.AdmissionDate</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OR o.ObsDateTime &gt; a.DischargeDate</a:t>
            </a:r>
            <a:endParaRPr lang="en-US" sz="1100" dirty="0"/>
          </a:p>
        </p:txBody>
      </p:sp>
      <p:sp>
        <p:nvSpPr>
          <p:cNvPr id="17" name="Shape 15"/>
          <p:cNvSpPr/>
          <p:nvPr/>
        </p:nvSpPr>
        <p:spPr>
          <a:xfrm>
            <a:off x="457200" y="4983480"/>
            <a:ext cx="11247120" cy="1188720"/>
          </a:xfrm>
          <a:prstGeom prst="rect">
            <a:avLst/>
          </a:prstGeom>
          <a:solidFill>
            <a:srgbClr val="FFFFFF"/>
          </a:solidFill>
          <a:ln w="12700">
            <a:solidFill>
              <a:srgbClr val="E2E8F0"/>
            </a:solidFill>
            <a:prstDash val="solid"/>
          </a:ln>
        </p:spPr>
        <p:txBody>
          <a:bodyPr/>
          <a:lstStyle/>
          <a:p>
            <a:endParaRPr lang="en-GB"/>
          </a:p>
        </p:txBody>
      </p:sp>
      <p:sp>
        <p:nvSpPr>
          <p:cNvPr id="18" name="Shape 16"/>
          <p:cNvSpPr/>
          <p:nvPr/>
        </p:nvSpPr>
        <p:spPr>
          <a:xfrm>
            <a:off x="457200" y="4983480"/>
            <a:ext cx="137160" cy="1188720"/>
          </a:xfrm>
          <a:prstGeom prst="rect">
            <a:avLst/>
          </a:prstGeom>
          <a:solidFill>
            <a:srgbClr val="EF4444"/>
          </a:solidFill>
          <a:ln/>
        </p:spPr>
        <p:txBody>
          <a:bodyPr/>
          <a:lstStyle/>
          <a:p>
            <a:endParaRPr lang="en-GB"/>
          </a:p>
        </p:txBody>
      </p:sp>
      <p:sp>
        <p:nvSpPr>
          <p:cNvPr id="19" name="Text 17"/>
          <p:cNvSpPr/>
          <p:nvPr/>
        </p:nvSpPr>
        <p:spPr>
          <a:xfrm>
            <a:off x="777240" y="5120640"/>
            <a:ext cx="411480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Reference mismatch</a:t>
            </a:r>
            <a:endParaRPr lang="en-US" sz="1500" dirty="0"/>
          </a:p>
        </p:txBody>
      </p:sp>
      <p:sp>
        <p:nvSpPr>
          <p:cNvPr id="20" name="Text 18"/>
          <p:cNvSpPr/>
          <p:nvPr/>
        </p:nvSpPr>
        <p:spPr>
          <a:xfrm>
            <a:off x="777240" y="5532120"/>
            <a:ext cx="4114800" cy="5486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Active admission with a NULL ward</a:t>
            </a:r>
            <a:endParaRPr lang="en-US" sz="1100" dirty="0"/>
          </a:p>
        </p:txBody>
      </p:sp>
      <p:sp>
        <p:nvSpPr>
          <p:cNvPr id="21" name="Shape 19"/>
          <p:cNvSpPr/>
          <p:nvPr/>
        </p:nvSpPr>
        <p:spPr>
          <a:xfrm>
            <a:off x="5486400" y="5120640"/>
            <a:ext cx="6035040" cy="914400"/>
          </a:xfrm>
          <a:prstGeom prst="rect">
            <a:avLst/>
          </a:prstGeom>
          <a:solidFill>
            <a:srgbClr val="0F172A"/>
          </a:solidFill>
          <a:ln/>
        </p:spPr>
        <p:txBody>
          <a:bodyPr/>
          <a:lstStyle/>
          <a:p>
            <a:endParaRPr lang="en-GB"/>
          </a:p>
        </p:txBody>
      </p:sp>
      <p:sp>
        <p:nvSpPr>
          <p:cNvPr id="22" name="Text 20"/>
          <p:cNvSpPr/>
          <p:nvPr/>
        </p:nvSpPr>
        <p:spPr>
          <a:xfrm>
            <a:off x="5623560" y="5212080"/>
            <a:ext cx="5852160" cy="73152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WHERE DischargeDate IS NULL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AND WardID IS NULL</a:t>
            </a:r>
            <a:endParaRPr lang="en-US" sz="1100" dirty="0"/>
          </a:p>
        </p:txBody>
      </p:sp>
      <p:sp>
        <p:nvSpPr>
          <p:cNvPr id="24" name="Shape 21"/>
          <p:cNvSpPr/>
          <p:nvPr/>
        </p:nvSpPr>
        <p:spPr>
          <a:xfrm>
            <a:off x="0" y="6583680"/>
            <a:ext cx="12191695" cy="18288"/>
          </a:xfrm>
          <a:prstGeom prst="rect">
            <a:avLst/>
          </a:prstGeom>
          <a:solidFill>
            <a:srgbClr val="E2E8F0"/>
          </a:solidFill>
          <a:ln/>
        </p:spPr>
        <p:txBody>
          <a:bodyPr/>
          <a:lstStyle/>
          <a:p>
            <a:endParaRPr lang="en-GB"/>
          </a:p>
        </p:txBody>
      </p:sp>
      <p:sp>
        <p:nvSpPr>
          <p:cNvPr id="25" name="Text 22"/>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6" name="Text 23"/>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THE MISTAKES I SEE MOST OFTEN</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Five Profiling Pitfalls</a:t>
            </a:r>
            <a:endParaRPr lang="en-US" sz="3600" dirty="0"/>
          </a:p>
        </p:txBody>
      </p:sp>
      <p:sp>
        <p:nvSpPr>
          <p:cNvPr id="4" name="Shape 2"/>
          <p:cNvSpPr/>
          <p:nvPr/>
        </p:nvSpPr>
        <p:spPr>
          <a:xfrm>
            <a:off x="457200" y="1783080"/>
            <a:ext cx="11247120" cy="77724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783080"/>
            <a:ext cx="640080" cy="777240"/>
          </a:xfrm>
          <a:prstGeom prst="rect">
            <a:avLst/>
          </a:prstGeom>
          <a:solidFill>
            <a:srgbClr val="EF4444"/>
          </a:solidFill>
          <a:ln/>
        </p:spPr>
        <p:txBody>
          <a:bodyPr/>
          <a:lstStyle/>
          <a:p>
            <a:endParaRPr lang="en-GB"/>
          </a:p>
        </p:txBody>
      </p:sp>
      <p:sp>
        <p:nvSpPr>
          <p:cNvPr id="6" name="Text 4"/>
          <p:cNvSpPr/>
          <p:nvPr/>
        </p:nvSpPr>
        <p:spPr>
          <a:xfrm>
            <a:off x="457200" y="1783080"/>
            <a:ext cx="64008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7" name="Text 5"/>
          <p:cNvSpPr/>
          <p:nvPr/>
        </p:nvSpPr>
        <p:spPr>
          <a:xfrm>
            <a:off x="1325880" y="1892808"/>
            <a:ext cx="100584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Profiling one table at a time</a:t>
            </a:r>
            <a:endParaRPr lang="en-US" sz="1600" dirty="0"/>
          </a:p>
        </p:txBody>
      </p:sp>
      <p:sp>
        <p:nvSpPr>
          <p:cNvPr id="8" name="Text 6"/>
          <p:cNvSpPr/>
          <p:nvPr/>
        </p:nvSpPr>
        <p:spPr>
          <a:xfrm>
            <a:off x="1325880" y="2221992"/>
            <a:ext cx="1005840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Bugs hide at the joins. Profile related tables together.</a:t>
            </a:r>
            <a:endParaRPr lang="en-US" sz="1200" dirty="0"/>
          </a:p>
        </p:txBody>
      </p:sp>
      <p:sp>
        <p:nvSpPr>
          <p:cNvPr id="9" name="Shape 7"/>
          <p:cNvSpPr/>
          <p:nvPr/>
        </p:nvSpPr>
        <p:spPr>
          <a:xfrm>
            <a:off x="457200" y="2651760"/>
            <a:ext cx="11247120" cy="777240"/>
          </a:xfrm>
          <a:prstGeom prst="rect">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457200" y="2651760"/>
            <a:ext cx="640080" cy="777240"/>
          </a:xfrm>
          <a:prstGeom prst="rect">
            <a:avLst/>
          </a:prstGeom>
          <a:solidFill>
            <a:srgbClr val="EF4444"/>
          </a:solidFill>
          <a:ln/>
        </p:spPr>
        <p:txBody>
          <a:bodyPr/>
          <a:lstStyle/>
          <a:p>
            <a:endParaRPr lang="en-GB"/>
          </a:p>
        </p:txBody>
      </p:sp>
      <p:sp>
        <p:nvSpPr>
          <p:cNvPr id="11" name="Text 9"/>
          <p:cNvSpPr/>
          <p:nvPr/>
        </p:nvSpPr>
        <p:spPr>
          <a:xfrm>
            <a:off x="457200" y="2651760"/>
            <a:ext cx="64008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2" name="Text 10"/>
          <p:cNvSpPr/>
          <p:nvPr/>
        </p:nvSpPr>
        <p:spPr>
          <a:xfrm>
            <a:off x="1325880" y="2761488"/>
            <a:ext cx="100584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Trusting COUNT(*) blindly</a:t>
            </a:r>
            <a:endParaRPr lang="en-US" sz="1600" dirty="0"/>
          </a:p>
        </p:txBody>
      </p:sp>
      <p:sp>
        <p:nvSpPr>
          <p:cNvPr id="13" name="Text 11"/>
          <p:cNvSpPr/>
          <p:nvPr/>
        </p:nvSpPr>
        <p:spPr>
          <a:xfrm>
            <a:off x="1325880" y="3090672"/>
            <a:ext cx="1005840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Includes rows of pure NULL. Use COUNT(important_col) when you care about real data.</a:t>
            </a:r>
            <a:endParaRPr lang="en-US" sz="1200" dirty="0"/>
          </a:p>
        </p:txBody>
      </p:sp>
      <p:sp>
        <p:nvSpPr>
          <p:cNvPr id="14" name="Shape 12"/>
          <p:cNvSpPr/>
          <p:nvPr/>
        </p:nvSpPr>
        <p:spPr>
          <a:xfrm>
            <a:off x="457200" y="3520440"/>
            <a:ext cx="11247120" cy="77724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457200" y="3520440"/>
            <a:ext cx="640080" cy="777240"/>
          </a:xfrm>
          <a:prstGeom prst="rect">
            <a:avLst/>
          </a:prstGeom>
          <a:solidFill>
            <a:srgbClr val="EF4444"/>
          </a:solidFill>
          <a:ln/>
        </p:spPr>
        <p:txBody>
          <a:bodyPr/>
          <a:lstStyle/>
          <a:p>
            <a:endParaRPr lang="en-GB"/>
          </a:p>
        </p:txBody>
      </p:sp>
      <p:sp>
        <p:nvSpPr>
          <p:cNvPr id="16" name="Text 14"/>
          <p:cNvSpPr/>
          <p:nvPr/>
        </p:nvSpPr>
        <p:spPr>
          <a:xfrm>
            <a:off x="457200" y="3520440"/>
            <a:ext cx="64008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7" name="Text 15"/>
          <p:cNvSpPr/>
          <p:nvPr/>
        </p:nvSpPr>
        <p:spPr>
          <a:xfrm>
            <a:off x="1325880" y="3630168"/>
            <a:ext cx="100584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Forgetting NULL ≠ NULL</a:t>
            </a:r>
            <a:endParaRPr lang="en-US" sz="1600" dirty="0"/>
          </a:p>
        </p:txBody>
      </p:sp>
      <p:sp>
        <p:nvSpPr>
          <p:cNvPr id="18" name="Text 16"/>
          <p:cNvSpPr/>
          <p:nvPr/>
        </p:nvSpPr>
        <p:spPr>
          <a:xfrm>
            <a:off x="1325880" y="3959352"/>
            <a:ext cx="1005840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WHERE col = NULL returns nothing. Always IS NULL.</a:t>
            </a:r>
            <a:endParaRPr lang="en-US" sz="1200" dirty="0"/>
          </a:p>
        </p:txBody>
      </p:sp>
      <p:sp>
        <p:nvSpPr>
          <p:cNvPr id="19" name="Shape 17"/>
          <p:cNvSpPr/>
          <p:nvPr/>
        </p:nvSpPr>
        <p:spPr>
          <a:xfrm>
            <a:off x="457200" y="4389120"/>
            <a:ext cx="11247120" cy="777240"/>
          </a:xfrm>
          <a:prstGeom prst="rect">
            <a:avLst/>
          </a:prstGeom>
          <a:solidFill>
            <a:srgbClr val="FFFFFF"/>
          </a:solidFill>
          <a:ln w="12700">
            <a:solidFill>
              <a:srgbClr val="E2E8F0"/>
            </a:solidFill>
            <a:prstDash val="solid"/>
          </a:ln>
        </p:spPr>
        <p:txBody>
          <a:bodyPr/>
          <a:lstStyle/>
          <a:p>
            <a:endParaRPr lang="en-GB"/>
          </a:p>
        </p:txBody>
      </p:sp>
      <p:sp>
        <p:nvSpPr>
          <p:cNvPr id="20" name="Shape 18"/>
          <p:cNvSpPr/>
          <p:nvPr/>
        </p:nvSpPr>
        <p:spPr>
          <a:xfrm>
            <a:off x="457200" y="4389120"/>
            <a:ext cx="640080" cy="777240"/>
          </a:xfrm>
          <a:prstGeom prst="rect">
            <a:avLst/>
          </a:prstGeom>
          <a:solidFill>
            <a:srgbClr val="EF4444"/>
          </a:solidFill>
          <a:ln/>
        </p:spPr>
        <p:txBody>
          <a:bodyPr/>
          <a:lstStyle/>
          <a:p>
            <a:endParaRPr lang="en-GB"/>
          </a:p>
        </p:txBody>
      </p:sp>
      <p:sp>
        <p:nvSpPr>
          <p:cNvPr id="21" name="Text 19"/>
          <p:cNvSpPr/>
          <p:nvPr/>
        </p:nvSpPr>
        <p:spPr>
          <a:xfrm>
            <a:off x="457200" y="4389120"/>
            <a:ext cx="64008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22" name="Text 20"/>
          <p:cNvSpPr/>
          <p:nvPr/>
        </p:nvSpPr>
        <p:spPr>
          <a:xfrm>
            <a:off x="1325880" y="4498848"/>
            <a:ext cx="100584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Bucketing without seeing min/max first</a:t>
            </a:r>
            <a:endParaRPr lang="en-US" sz="1600" dirty="0"/>
          </a:p>
        </p:txBody>
      </p:sp>
      <p:sp>
        <p:nvSpPr>
          <p:cNvPr id="23" name="Text 21"/>
          <p:cNvSpPr/>
          <p:nvPr/>
        </p:nvSpPr>
        <p:spPr>
          <a:xfrm>
            <a:off x="1325880" y="4828032"/>
            <a:ext cx="1005840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Pick the wrong boundaries, waste your buckets.</a:t>
            </a:r>
            <a:endParaRPr lang="en-US" sz="1200" dirty="0"/>
          </a:p>
        </p:txBody>
      </p:sp>
      <p:sp>
        <p:nvSpPr>
          <p:cNvPr id="24" name="Shape 22"/>
          <p:cNvSpPr/>
          <p:nvPr/>
        </p:nvSpPr>
        <p:spPr>
          <a:xfrm>
            <a:off x="457200" y="5257800"/>
            <a:ext cx="11247120" cy="777240"/>
          </a:xfrm>
          <a:prstGeom prst="rect">
            <a:avLst/>
          </a:prstGeom>
          <a:solidFill>
            <a:srgbClr val="FFFFFF"/>
          </a:solidFill>
          <a:ln w="12700">
            <a:solidFill>
              <a:srgbClr val="E2E8F0"/>
            </a:solidFill>
            <a:prstDash val="solid"/>
          </a:ln>
        </p:spPr>
        <p:txBody>
          <a:bodyPr/>
          <a:lstStyle/>
          <a:p>
            <a:endParaRPr lang="en-GB"/>
          </a:p>
        </p:txBody>
      </p:sp>
      <p:sp>
        <p:nvSpPr>
          <p:cNvPr id="25" name="Shape 23"/>
          <p:cNvSpPr/>
          <p:nvPr/>
        </p:nvSpPr>
        <p:spPr>
          <a:xfrm>
            <a:off x="457200" y="5257800"/>
            <a:ext cx="640080" cy="777240"/>
          </a:xfrm>
          <a:prstGeom prst="rect">
            <a:avLst/>
          </a:prstGeom>
          <a:solidFill>
            <a:srgbClr val="EF4444"/>
          </a:solidFill>
          <a:ln/>
        </p:spPr>
        <p:txBody>
          <a:bodyPr/>
          <a:lstStyle/>
          <a:p>
            <a:endParaRPr lang="en-GB"/>
          </a:p>
        </p:txBody>
      </p:sp>
      <p:sp>
        <p:nvSpPr>
          <p:cNvPr id="26" name="Text 24"/>
          <p:cNvSpPr/>
          <p:nvPr/>
        </p:nvSpPr>
        <p:spPr>
          <a:xfrm>
            <a:off x="457200" y="5257800"/>
            <a:ext cx="64008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27" name="Text 25"/>
          <p:cNvSpPr/>
          <p:nvPr/>
        </p:nvSpPr>
        <p:spPr>
          <a:xfrm>
            <a:off x="1325880" y="5367528"/>
            <a:ext cx="100584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Profiling once, then never again</a:t>
            </a:r>
            <a:endParaRPr lang="en-US" sz="1600" dirty="0"/>
          </a:p>
        </p:txBody>
      </p:sp>
      <p:sp>
        <p:nvSpPr>
          <p:cNvPr id="28" name="Text 26"/>
          <p:cNvSpPr/>
          <p:nvPr/>
        </p:nvSpPr>
        <p:spPr>
          <a:xfrm>
            <a:off x="1325880" y="5696712"/>
            <a:ext cx="1005840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Data drifts. Schedule a re-profile after every load.</a:t>
            </a:r>
            <a:endParaRPr lang="en-US" sz="1200" dirty="0"/>
          </a:p>
        </p:txBody>
      </p:sp>
      <p:sp>
        <p:nvSpPr>
          <p:cNvPr id="30" name="Shape 27"/>
          <p:cNvSpPr/>
          <p:nvPr/>
        </p:nvSpPr>
        <p:spPr>
          <a:xfrm>
            <a:off x="0" y="6583680"/>
            <a:ext cx="12191695" cy="18288"/>
          </a:xfrm>
          <a:prstGeom prst="rect">
            <a:avLst/>
          </a:prstGeom>
          <a:solidFill>
            <a:srgbClr val="E2E8F0"/>
          </a:solidFill>
          <a:ln/>
        </p:spPr>
        <p:txBody>
          <a:bodyPr/>
          <a:lstStyle/>
          <a:p>
            <a:endParaRPr lang="en-GB"/>
          </a:p>
        </p:txBody>
      </p:sp>
      <p:sp>
        <p:nvSpPr>
          <p:cNvPr id="31" name="Text 28"/>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32" name="Text 29"/>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VAGUE PROMPT VERSUS STRUCTURED PROMPT</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AI as a Profiling Partner</a:t>
            </a:r>
            <a:endParaRPr lang="en-US" sz="3600" dirty="0"/>
          </a:p>
        </p:txBody>
      </p:sp>
      <p:sp>
        <p:nvSpPr>
          <p:cNvPr id="4" name="Shape 2"/>
          <p:cNvSpPr/>
          <p:nvPr/>
        </p:nvSpPr>
        <p:spPr>
          <a:xfrm>
            <a:off x="457200" y="1783080"/>
            <a:ext cx="5486400" cy="4389120"/>
          </a:xfrm>
          <a:prstGeom prst="rect">
            <a:avLst/>
          </a:prstGeom>
          <a:solidFill>
            <a:srgbClr val="FFFFFF"/>
          </a:solidFill>
          <a:ln w="25400">
            <a:solidFill>
              <a:srgbClr val="EF4444"/>
            </a:solidFill>
            <a:prstDash val="solid"/>
          </a:ln>
        </p:spPr>
        <p:txBody>
          <a:bodyPr/>
          <a:lstStyle/>
          <a:p>
            <a:endParaRPr lang="en-GB"/>
          </a:p>
        </p:txBody>
      </p:sp>
      <p:sp>
        <p:nvSpPr>
          <p:cNvPr id="5" name="Text 3"/>
          <p:cNvSpPr/>
          <p:nvPr/>
        </p:nvSpPr>
        <p:spPr>
          <a:xfrm>
            <a:off x="640080" y="1920240"/>
            <a:ext cx="5120640" cy="274320"/>
          </a:xfrm>
          <a:prstGeom prst="rect">
            <a:avLst/>
          </a:prstGeom>
          <a:noFill/>
          <a:ln/>
        </p:spPr>
        <p:txBody>
          <a:bodyPr wrap="square" lIns="0" tIns="0" rIns="0" bIns="0" rtlCol="0" anchor="ctr"/>
          <a:lstStyle/>
          <a:p>
            <a:pPr marL="0" indent="0">
              <a:buNone/>
            </a:pPr>
            <a:r>
              <a:rPr lang="en-US" sz="1000" b="1" kern="0" spc="400" dirty="0">
                <a:solidFill>
                  <a:srgbClr val="EF4444"/>
                </a:solidFill>
                <a:latin typeface="Calibri" pitchFamily="34" charset="0"/>
                <a:ea typeface="Calibri" pitchFamily="34" charset="-122"/>
                <a:cs typeface="Calibri" pitchFamily="34" charset="-120"/>
              </a:rPr>
              <a:t>VAGUE PROMPT</a:t>
            </a:r>
            <a:endParaRPr lang="en-US" sz="1000" dirty="0"/>
          </a:p>
        </p:txBody>
      </p:sp>
      <p:sp>
        <p:nvSpPr>
          <p:cNvPr id="6" name="Shape 4"/>
          <p:cNvSpPr/>
          <p:nvPr/>
        </p:nvSpPr>
        <p:spPr>
          <a:xfrm>
            <a:off x="640080" y="2240280"/>
            <a:ext cx="5120640" cy="1188720"/>
          </a:xfrm>
          <a:prstGeom prst="rect">
            <a:avLst/>
          </a:prstGeom>
          <a:solidFill>
            <a:srgbClr val="0F172A"/>
          </a:solidFill>
          <a:ln/>
        </p:spPr>
        <p:txBody>
          <a:bodyPr/>
          <a:lstStyle/>
          <a:p>
            <a:endParaRPr lang="en-GB"/>
          </a:p>
        </p:txBody>
      </p:sp>
      <p:sp>
        <p:nvSpPr>
          <p:cNvPr id="7" name="Text 5"/>
          <p:cNvSpPr/>
          <p:nvPr/>
        </p:nvSpPr>
        <p:spPr>
          <a:xfrm>
            <a:off x="777240" y="2331720"/>
            <a:ext cx="4937760" cy="1005840"/>
          </a:xfrm>
          <a:prstGeom prst="rect">
            <a:avLst/>
          </a:prstGeom>
          <a:noFill/>
          <a:ln/>
        </p:spPr>
        <p:txBody>
          <a:bodyPr wrap="square" lIns="0" tIns="0" rIns="0" bIns="0" rtlCol="0" anchor="ctr"/>
          <a:lstStyle/>
          <a:p>
            <a:pPr marL="0" indent="0">
              <a:buNone/>
            </a:pPr>
            <a:r>
              <a:rPr lang="en-US" sz="1300" i="1" dirty="0">
                <a:solidFill>
                  <a:srgbClr val="CBD5E1"/>
                </a:solidFill>
                <a:latin typeface="Consolas" pitchFamily="34" charset="0"/>
                <a:ea typeface="Consolas" pitchFamily="34" charset="-122"/>
                <a:cs typeface="Consolas" pitchFamily="34" charset="-120"/>
              </a:rPr>
              <a:t>Profile my admissions table.</a:t>
            </a:r>
            <a:endParaRPr lang="en-US" sz="1300" dirty="0"/>
          </a:p>
        </p:txBody>
      </p:sp>
      <p:sp>
        <p:nvSpPr>
          <p:cNvPr id="8" name="Text 6"/>
          <p:cNvSpPr/>
          <p:nvPr/>
        </p:nvSpPr>
        <p:spPr>
          <a:xfrm>
            <a:off x="640080" y="3611880"/>
            <a:ext cx="5120640" cy="27432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WHAT AI HAS TO GUESS</a:t>
            </a:r>
            <a:endParaRPr lang="en-US" sz="900" dirty="0"/>
          </a:p>
        </p:txBody>
      </p:sp>
      <p:sp>
        <p:nvSpPr>
          <p:cNvPr id="9" name="Text 7"/>
          <p:cNvSpPr/>
          <p:nvPr/>
        </p:nvSpPr>
        <p:spPr>
          <a:xfrm>
            <a:off x="640080" y="3931920"/>
            <a:ext cx="512064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Which dialect? (T-SQL? Postgres? MySQL?)</a:t>
            </a:r>
            <a:endParaRPr lang="en-US" sz="1100" dirty="0"/>
          </a:p>
        </p:txBody>
      </p:sp>
      <p:sp>
        <p:nvSpPr>
          <p:cNvPr id="10" name="Text 8"/>
          <p:cNvSpPr/>
          <p:nvPr/>
        </p:nvSpPr>
        <p:spPr>
          <a:xfrm>
            <a:off x="640080" y="4343400"/>
            <a:ext cx="512064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Which columns exist?</a:t>
            </a:r>
            <a:endParaRPr lang="en-US" sz="1100" dirty="0"/>
          </a:p>
        </p:txBody>
      </p:sp>
      <p:sp>
        <p:nvSpPr>
          <p:cNvPr id="11" name="Text 9"/>
          <p:cNvSpPr/>
          <p:nvPr/>
        </p:nvSpPr>
        <p:spPr>
          <a:xfrm>
            <a:off x="640080" y="4754880"/>
            <a:ext cx="512064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What 'profile' means to you</a:t>
            </a:r>
            <a:endParaRPr lang="en-US" sz="1100" dirty="0"/>
          </a:p>
        </p:txBody>
      </p:sp>
      <p:sp>
        <p:nvSpPr>
          <p:cNvPr id="12" name="Text 10"/>
          <p:cNvSpPr/>
          <p:nvPr/>
        </p:nvSpPr>
        <p:spPr>
          <a:xfrm>
            <a:off x="640080" y="5166360"/>
            <a:ext cx="512064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What level of detail you want</a:t>
            </a:r>
            <a:endParaRPr lang="en-US" sz="1100" dirty="0"/>
          </a:p>
        </p:txBody>
      </p:sp>
      <p:sp>
        <p:nvSpPr>
          <p:cNvPr id="13" name="Shape 11"/>
          <p:cNvSpPr/>
          <p:nvPr/>
        </p:nvSpPr>
        <p:spPr>
          <a:xfrm>
            <a:off x="6217920" y="1783080"/>
            <a:ext cx="5486400" cy="4389120"/>
          </a:xfrm>
          <a:prstGeom prst="rect">
            <a:avLst/>
          </a:prstGeom>
          <a:solidFill>
            <a:srgbClr val="FFFFFF"/>
          </a:solidFill>
          <a:ln w="25400">
            <a:solidFill>
              <a:srgbClr val="10B981"/>
            </a:solidFill>
            <a:prstDash val="solid"/>
          </a:ln>
        </p:spPr>
        <p:txBody>
          <a:bodyPr/>
          <a:lstStyle/>
          <a:p>
            <a:endParaRPr lang="en-GB"/>
          </a:p>
        </p:txBody>
      </p:sp>
      <p:sp>
        <p:nvSpPr>
          <p:cNvPr id="14" name="Text 12"/>
          <p:cNvSpPr/>
          <p:nvPr/>
        </p:nvSpPr>
        <p:spPr>
          <a:xfrm>
            <a:off x="6400800" y="1920240"/>
            <a:ext cx="5120640" cy="274320"/>
          </a:xfrm>
          <a:prstGeom prst="rect">
            <a:avLst/>
          </a:prstGeom>
          <a:noFill/>
          <a:ln/>
        </p:spPr>
        <p:txBody>
          <a:bodyPr wrap="square" lIns="0" tIns="0" rIns="0" bIns="0" rtlCol="0" anchor="ctr"/>
          <a:lstStyle/>
          <a:p>
            <a:pPr marL="0" indent="0">
              <a:buNone/>
            </a:pPr>
            <a:r>
              <a:rPr lang="en-US" sz="1000" b="1" kern="0" spc="400" dirty="0">
                <a:solidFill>
                  <a:srgbClr val="10B981"/>
                </a:solidFill>
                <a:latin typeface="Calibri" pitchFamily="34" charset="0"/>
                <a:ea typeface="Calibri" pitchFamily="34" charset="-122"/>
                <a:cs typeface="Calibri" pitchFamily="34" charset="-120"/>
              </a:rPr>
              <a:t>STRUCTURED PROMPT</a:t>
            </a:r>
            <a:endParaRPr lang="en-US" sz="1000" dirty="0"/>
          </a:p>
        </p:txBody>
      </p:sp>
      <p:sp>
        <p:nvSpPr>
          <p:cNvPr id="15" name="Shape 13"/>
          <p:cNvSpPr/>
          <p:nvPr/>
        </p:nvSpPr>
        <p:spPr>
          <a:xfrm>
            <a:off x="6400800" y="2286000"/>
            <a:ext cx="5120640" cy="685800"/>
          </a:xfrm>
          <a:prstGeom prst="rect">
            <a:avLst/>
          </a:prstGeom>
          <a:solidFill>
            <a:srgbClr val="F8FAFC"/>
          </a:solidFill>
          <a:ln/>
        </p:spPr>
        <p:txBody>
          <a:bodyPr/>
          <a:lstStyle/>
          <a:p>
            <a:endParaRPr lang="en-GB"/>
          </a:p>
        </p:txBody>
      </p:sp>
      <p:sp>
        <p:nvSpPr>
          <p:cNvPr id="16" name="Shape 14"/>
          <p:cNvSpPr/>
          <p:nvPr/>
        </p:nvSpPr>
        <p:spPr>
          <a:xfrm>
            <a:off x="6400800" y="2286000"/>
            <a:ext cx="73152" cy="685800"/>
          </a:xfrm>
          <a:prstGeom prst="rect">
            <a:avLst/>
          </a:prstGeom>
          <a:solidFill>
            <a:srgbClr val="10B981"/>
          </a:solidFill>
          <a:ln/>
        </p:spPr>
        <p:txBody>
          <a:bodyPr/>
          <a:lstStyle/>
          <a:p>
            <a:endParaRPr lang="en-GB"/>
          </a:p>
        </p:txBody>
      </p:sp>
      <p:sp>
        <p:nvSpPr>
          <p:cNvPr id="17" name="Text 15"/>
          <p:cNvSpPr/>
          <p:nvPr/>
        </p:nvSpPr>
        <p:spPr>
          <a:xfrm>
            <a:off x="6583680" y="2359152"/>
            <a:ext cx="1280160" cy="274320"/>
          </a:xfrm>
          <a:prstGeom prst="rect">
            <a:avLst/>
          </a:prstGeom>
          <a:noFill/>
          <a:ln/>
        </p:spPr>
        <p:txBody>
          <a:bodyPr wrap="square" lIns="0" tIns="0" rIns="0" bIns="0" rtlCol="0" anchor="ctr"/>
          <a:lstStyle/>
          <a:p>
            <a:pPr marL="0" indent="0">
              <a:buNone/>
            </a:pPr>
            <a:r>
              <a:rPr lang="en-US" sz="900" b="1" kern="0" spc="300" dirty="0">
                <a:solidFill>
                  <a:srgbClr val="10B981"/>
                </a:solidFill>
                <a:latin typeface="Calibri" pitchFamily="34" charset="0"/>
                <a:ea typeface="Calibri" pitchFamily="34" charset="-122"/>
                <a:cs typeface="Calibri" pitchFamily="34" charset="-120"/>
              </a:rPr>
              <a:t>DIALECT</a:t>
            </a:r>
            <a:endParaRPr lang="en-US" sz="900" dirty="0"/>
          </a:p>
        </p:txBody>
      </p:sp>
      <p:sp>
        <p:nvSpPr>
          <p:cNvPr id="18" name="Text 16"/>
          <p:cNvSpPr/>
          <p:nvPr/>
        </p:nvSpPr>
        <p:spPr>
          <a:xfrm>
            <a:off x="6583680" y="2615184"/>
            <a:ext cx="4846320" cy="32004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T-SQL on SQL Server</a:t>
            </a:r>
            <a:endParaRPr lang="en-US" sz="1100" dirty="0"/>
          </a:p>
        </p:txBody>
      </p:sp>
      <p:sp>
        <p:nvSpPr>
          <p:cNvPr id="19" name="Shape 17"/>
          <p:cNvSpPr/>
          <p:nvPr/>
        </p:nvSpPr>
        <p:spPr>
          <a:xfrm>
            <a:off x="6400800" y="3063240"/>
            <a:ext cx="5120640" cy="685800"/>
          </a:xfrm>
          <a:prstGeom prst="rect">
            <a:avLst/>
          </a:prstGeom>
          <a:solidFill>
            <a:srgbClr val="F8FAFC"/>
          </a:solidFill>
          <a:ln/>
        </p:spPr>
        <p:txBody>
          <a:bodyPr/>
          <a:lstStyle/>
          <a:p>
            <a:endParaRPr lang="en-GB"/>
          </a:p>
        </p:txBody>
      </p:sp>
      <p:sp>
        <p:nvSpPr>
          <p:cNvPr id="20" name="Shape 18"/>
          <p:cNvSpPr/>
          <p:nvPr/>
        </p:nvSpPr>
        <p:spPr>
          <a:xfrm>
            <a:off x="6400800" y="3063240"/>
            <a:ext cx="73152" cy="685800"/>
          </a:xfrm>
          <a:prstGeom prst="rect">
            <a:avLst/>
          </a:prstGeom>
          <a:solidFill>
            <a:srgbClr val="10B981"/>
          </a:solidFill>
          <a:ln/>
        </p:spPr>
        <p:txBody>
          <a:bodyPr/>
          <a:lstStyle/>
          <a:p>
            <a:endParaRPr lang="en-GB"/>
          </a:p>
        </p:txBody>
      </p:sp>
      <p:sp>
        <p:nvSpPr>
          <p:cNvPr id="21" name="Text 19"/>
          <p:cNvSpPr/>
          <p:nvPr/>
        </p:nvSpPr>
        <p:spPr>
          <a:xfrm>
            <a:off x="6583680" y="3136392"/>
            <a:ext cx="1280160" cy="274320"/>
          </a:xfrm>
          <a:prstGeom prst="rect">
            <a:avLst/>
          </a:prstGeom>
          <a:noFill/>
          <a:ln/>
        </p:spPr>
        <p:txBody>
          <a:bodyPr wrap="square" lIns="0" tIns="0" rIns="0" bIns="0" rtlCol="0" anchor="ctr"/>
          <a:lstStyle/>
          <a:p>
            <a:pPr marL="0" indent="0">
              <a:buNone/>
            </a:pPr>
            <a:r>
              <a:rPr lang="en-US" sz="900" b="1" kern="0" spc="300" dirty="0">
                <a:solidFill>
                  <a:srgbClr val="10B981"/>
                </a:solidFill>
                <a:latin typeface="Calibri" pitchFamily="34" charset="0"/>
                <a:ea typeface="Calibri" pitchFamily="34" charset="-122"/>
                <a:cs typeface="Calibri" pitchFamily="34" charset="-120"/>
              </a:rPr>
              <a:t>SCHEMA</a:t>
            </a:r>
            <a:endParaRPr lang="en-US" sz="900" dirty="0"/>
          </a:p>
        </p:txBody>
      </p:sp>
      <p:sp>
        <p:nvSpPr>
          <p:cNvPr id="22" name="Text 20"/>
          <p:cNvSpPr/>
          <p:nvPr/>
        </p:nvSpPr>
        <p:spPr>
          <a:xfrm>
            <a:off x="6583680" y="3392424"/>
            <a:ext cx="4846320" cy="32004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&lt;paste DDL&gt;</a:t>
            </a:r>
            <a:endParaRPr lang="en-US" sz="1100" dirty="0"/>
          </a:p>
        </p:txBody>
      </p:sp>
      <p:sp>
        <p:nvSpPr>
          <p:cNvPr id="23" name="Shape 21"/>
          <p:cNvSpPr/>
          <p:nvPr/>
        </p:nvSpPr>
        <p:spPr>
          <a:xfrm>
            <a:off x="6400800" y="3840480"/>
            <a:ext cx="5120640" cy="685800"/>
          </a:xfrm>
          <a:prstGeom prst="rect">
            <a:avLst/>
          </a:prstGeom>
          <a:solidFill>
            <a:srgbClr val="F8FAFC"/>
          </a:solidFill>
          <a:ln/>
        </p:spPr>
        <p:txBody>
          <a:bodyPr/>
          <a:lstStyle/>
          <a:p>
            <a:endParaRPr lang="en-GB"/>
          </a:p>
        </p:txBody>
      </p:sp>
      <p:sp>
        <p:nvSpPr>
          <p:cNvPr id="24" name="Shape 22"/>
          <p:cNvSpPr/>
          <p:nvPr/>
        </p:nvSpPr>
        <p:spPr>
          <a:xfrm>
            <a:off x="6400800" y="3840480"/>
            <a:ext cx="73152" cy="685800"/>
          </a:xfrm>
          <a:prstGeom prst="rect">
            <a:avLst/>
          </a:prstGeom>
          <a:solidFill>
            <a:srgbClr val="10B981"/>
          </a:solidFill>
          <a:ln/>
        </p:spPr>
        <p:txBody>
          <a:bodyPr/>
          <a:lstStyle/>
          <a:p>
            <a:endParaRPr lang="en-GB"/>
          </a:p>
        </p:txBody>
      </p:sp>
      <p:sp>
        <p:nvSpPr>
          <p:cNvPr id="25" name="Text 23"/>
          <p:cNvSpPr/>
          <p:nvPr/>
        </p:nvSpPr>
        <p:spPr>
          <a:xfrm>
            <a:off x="6583680" y="3913632"/>
            <a:ext cx="1280160" cy="274320"/>
          </a:xfrm>
          <a:prstGeom prst="rect">
            <a:avLst/>
          </a:prstGeom>
          <a:noFill/>
          <a:ln/>
        </p:spPr>
        <p:txBody>
          <a:bodyPr wrap="square" lIns="0" tIns="0" rIns="0" bIns="0" rtlCol="0" anchor="ctr"/>
          <a:lstStyle/>
          <a:p>
            <a:pPr marL="0" indent="0">
              <a:buNone/>
            </a:pPr>
            <a:r>
              <a:rPr lang="en-US" sz="900" b="1" kern="0" spc="300" dirty="0">
                <a:solidFill>
                  <a:srgbClr val="10B981"/>
                </a:solidFill>
                <a:latin typeface="Calibri" pitchFamily="34" charset="0"/>
                <a:ea typeface="Calibri" pitchFamily="34" charset="-122"/>
                <a:cs typeface="Calibri" pitchFamily="34" charset="-120"/>
              </a:rPr>
              <a:t>GOAL</a:t>
            </a:r>
            <a:endParaRPr lang="en-US" sz="900" dirty="0"/>
          </a:p>
        </p:txBody>
      </p:sp>
      <p:sp>
        <p:nvSpPr>
          <p:cNvPr id="26" name="Text 24"/>
          <p:cNvSpPr/>
          <p:nvPr/>
        </p:nvSpPr>
        <p:spPr>
          <a:xfrm>
            <a:off x="6583680" y="4169664"/>
            <a:ext cx="4846320" cy="32004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one-row profile: total, NULLs, distincts</a:t>
            </a:r>
            <a:endParaRPr lang="en-US" sz="1100" dirty="0"/>
          </a:p>
        </p:txBody>
      </p:sp>
      <p:sp>
        <p:nvSpPr>
          <p:cNvPr id="27" name="Shape 25"/>
          <p:cNvSpPr/>
          <p:nvPr/>
        </p:nvSpPr>
        <p:spPr>
          <a:xfrm>
            <a:off x="6400800" y="4617720"/>
            <a:ext cx="5120640" cy="685800"/>
          </a:xfrm>
          <a:prstGeom prst="rect">
            <a:avLst/>
          </a:prstGeom>
          <a:solidFill>
            <a:srgbClr val="F8FAFC"/>
          </a:solidFill>
          <a:ln/>
        </p:spPr>
        <p:txBody>
          <a:bodyPr/>
          <a:lstStyle/>
          <a:p>
            <a:endParaRPr lang="en-GB"/>
          </a:p>
        </p:txBody>
      </p:sp>
      <p:sp>
        <p:nvSpPr>
          <p:cNvPr id="28" name="Shape 26"/>
          <p:cNvSpPr/>
          <p:nvPr/>
        </p:nvSpPr>
        <p:spPr>
          <a:xfrm>
            <a:off x="6400800" y="4617720"/>
            <a:ext cx="73152" cy="685800"/>
          </a:xfrm>
          <a:prstGeom prst="rect">
            <a:avLst/>
          </a:prstGeom>
          <a:solidFill>
            <a:srgbClr val="10B981"/>
          </a:solidFill>
          <a:ln/>
        </p:spPr>
        <p:txBody>
          <a:bodyPr/>
          <a:lstStyle/>
          <a:p>
            <a:endParaRPr lang="en-GB"/>
          </a:p>
        </p:txBody>
      </p:sp>
      <p:sp>
        <p:nvSpPr>
          <p:cNvPr id="29" name="Text 27"/>
          <p:cNvSpPr/>
          <p:nvPr/>
        </p:nvSpPr>
        <p:spPr>
          <a:xfrm>
            <a:off x="6583680" y="4690872"/>
            <a:ext cx="1280160" cy="274320"/>
          </a:xfrm>
          <a:prstGeom prst="rect">
            <a:avLst/>
          </a:prstGeom>
          <a:noFill/>
          <a:ln/>
        </p:spPr>
        <p:txBody>
          <a:bodyPr wrap="square" lIns="0" tIns="0" rIns="0" bIns="0" rtlCol="0" anchor="ctr"/>
          <a:lstStyle/>
          <a:p>
            <a:pPr marL="0" indent="0">
              <a:buNone/>
            </a:pPr>
            <a:r>
              <a:rPr lang="en-US" sz="900" b="1" kern="0" spc="300" dirty="0">
                <a:solidFill>
                  <a:srgbClr val="10B981"/>
                </a:solidFill>
                <a:latin typeface="Calibri" pitchFamily="34" charset="0"/>
                <a:ea typeface="Calibri" pitchFamily="34" charset="-122"/>
                <a:cs typeface="Calibri" pitchFamily="34" charset="-120"/>
              </a:rPr>
              <a:t>QUALITY</a:t>
            </a:r>
            <a:endParaRPr lang="en-US" sz="900" dirty="0"/>
          </a:p>
        </p:txBody>
      </p:sp>
      <p:sp>
        <p:nvSpPr>
          <p:cNvPr id="30" name="Text 28"/>
          <p:cNvSpPr/>
          <p:nvPr/>
        </p:nvSpPr>
        <p:spPr>
          <a:xfrm>
            <a:off x="6583680" y="4946904"/>
            <a:ext cx="4846320" cy="32004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aliases, one column per line, T-SQL only</a:t>
            </a:r>
            <a:endParaRPr lang="en-US" sz="1100" dirty="0"/>
          </a:p>
        </p:txBody>
      </p:sp>
      <p:sp>
        <p:nvSpPr>
          <p:cNvPr id="31" name="Shape 29"/>
          <p:cNvSpPr/>
          <p:nvPr/>
        </p:nvSpPr>
        <p:spPr>
          <a:xfrm>
            <a:off x="6400800" y="5394960"/>
            <a:ext cx="5120640" cy="685800"/>
          </a:xfrm>
          <a:prstGeom prst="rect">
            <a:avLst/>
          </a:prstGeom>
          <a:solidFill>
            <a:srgbClr val="F8FAFC"/>
          </a:solidFill>
          <a:ln/>
        </p:spPr>
        <p:txBody>
          <a:bodyPr/>
          <a:lstStyle/>
          <a:p>
            <a:endParaRPr lang="en-GB"/>
          </a:p>
        </p:txBody>
      </p:sp>
      <p:sp>
        <p:nvSpPr>
          <p:cNvPr id="32" name="Shape 30"/>
          <p:cNvSpPr/>
          <p:nvPr/>
        </p:nvSpPr>
        <p:spPr>
          <a:xfrm>
            <a:off x="6400800" y="5394960"/>
            <a:ext cx="73152" cy="685800"/>
          </a:xfrm>
          <a:prstGeom prst="rect">
            <a:avLst/>
          </a:prstGeom>
          <a:solidFill>
            <a:srgbClr val="10B981"/>
          </a:solidFill>
          <a:ln/>
        </p:spPr>
        <p:txBody>
          <a:bodyPr/>
          <a:lstStyle/>
          <a:p>
            <a:endParaRPr lang="en-GB"/>
          </a:p>
        </p:txBody>
      </p:sp>
      <p:sp>
        <p:nvSpPr>
          <p:cNvPr id="33" name="Text 31"/>
          <p:cNvSpPr/>
          <p:nvPr/>
        </p:nvSpPr>
        <p:spPr>
          <a:xfrm>
            <a:off x="6583680" y="5468112"/>
            <a:ext cx="1280160" cy="274320"/>
          </a:xfrm>
          <a:prstGeom prst="rect">
            <a:avLst/>
          </a:prstGeom>
          <a:noFill/>
          <a:ln/>
        </p:spPr>
        <p:txBody>
          <a:bodyPr wrap="square" lIns="0" tIns="0" rIns="0" bIns="0" rtlCol="0" anchor="ctr"/>
          <a:lstStyle/>
          <a:p>
            <a:pPr marL="0" indent="0">
              <a:buNone/>
            </a:pPr>
            <a:r>
              <a:rPr lang="en-US" sz="900" b="1" kern="0" spc="300" dirty="0">
                <a:solidFill>
                  <a:srgbClr val="10B981"/>
                </a:solidFill>
                <a:latin typeface="Calibri" pitchFamily="34" charset="0"/>
                <a:ea typeface="Calibri" pitchFamily="34" charset="-122"/>
                <a:cs typeface="Calibri" pitchFamily="34" charset="-120"/>
              </a:rPr>
              <a:t>VERIFY</a:t>
            </a:r>
            <a:endParaRPr lang="en-US" sz="900" dirty="0"/>
          </a:p>
        </p:txBody>
      </p:sp>
      <p:sp>
        <p:nvSpPr>
          <p:cNvPr id="34" name="Text 32"/>
          <p:cNvSpPr/>
          <p:nvPr/>
        </p:nvSpPr>
        <p:spPr>
          <a:xfrm>
            <a:off x="6583680" y="5724144"/>
            <a:ext cx="4846320" cy="32004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list 3 sanity checks for the output</a:t>
            </a:r>
            <a:endParaRPr lang="en-US" sz="1100" dirty="0"/>
          </a:p>
        </p:txBody>
      </p:sp>
      <p:sp>
        <p:nvSpPr>
          <p:cNvPr id="36" name="Shape 33"/>
          <p:cNvSpPr/>
          <p:nvPr/>
        </p:nvSpPr>
        <p:spPr>
          <a:xfrm>
            <a:off x="0" y="6583680"/>
            <a:ext cx="12191695" cy="18288"/>
          </a:xfrm>
          <a:prstGeom prst="rect">
            <a:avLst/>
          </a:prstGeom>
          <a:solidFill>
            <a:srgbClr val="E2E8F0"/>
          </a:solidFill>
          <a:ln/>
        </p:spPr>
        <p:txBody>
          <a:bodyPr/>
          <a:lstStyle/>
          <a:p>
            <a:endParaRPr lang="en-GB"/>
          </a:p>
        </p:txBody>
      </p:sp>
      <p:sp>
        <p:nvSpPr>
          <p:cNvPr id="37" name="Text 34"/>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38" name="Text 35"/>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BEYOND JUST WRITING THE QUERY</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Three Ways AI Helps With Profiling</a:t>
            </a:r>
            <a:endParaRPr lang="en-US" sz="3600" dirty="0"/>
          </a:p>
        </p:txBody>
      </p:sp>
      <p:sp>
        <p:nvSpPr>
          <p:cNvPr id="4" name="Shape 2"/>
          <p:cNvSpPr/>
          <p:nvPr/>
        </p:nvSpPr>
        <p:spPr>
          <a:xfrm>
            <a:off x="457200" y="1828800"/>
            <a:ext cx="11247120" cy="123444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828800"/>
            <a:ext cx="1371600" cy="1234440"/>
          </a:xfrm>
          <a:prstGeom prst="rect">
            <a:avLst/>
          </a:prstGeom>
          <a:solidFill>
            <a:srgbClr val="06B6D4"/>
          </a:solidFill>
          <a:ln/>
        </p:spPr>
        <p:txBody>
          <a:bodyPr/>
          <a:lstStyle/>
          <a:p>
            <a:endParaRPr lang="en-GB"/>
          </a:p>
        </p:txBody>
      </p:sp>
      <p:sp>
        <p:nvSpPr>
          <p:cNvPr id="6" name="Text 4"/>
          <p:cNvSpPr/>
          <p:nvPr/>
        </p:nvSpPr>
        <p:spPr>
          <a:xfrm>
            <a:off x="457200" y="1828800"/>
            <a:ext cx="1371600" cy="123444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01</a:t>
            </a:r>
            <a:endParaRPr lang="en-US" sz="4400" dirty="0"/>
          </a:p>
        </p:txBody>
      </p:sp>
      <p:sp>
        <p:nvSpPr>
          <p:cNvPr id="7" name="Text 5"/>
          <p:cNvSpPr/>
          <p:nvPr/>
        </p:nvSpPr>
        <p:spPr>
          <a:xfrm>
            <a:off x="2011680" y="1993392"/>
            <a:ext cx="950976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Suggest profile checks for a new dataset</a:t>
            </a:r>
            <a:endParaRPr lang="en-US" sz="1700" dirty="0"/>
          </a:p>
        </p:txBody>
      </p:sp>
      <p:sp>
        <p:nvSpPr>
          <p:cNvPr id="8" name="Text 6"/>
          <p:cNvSpPr/>
          <p:nvPr/>
        </p:nvSpPr>
        <p:spPr>
          <a:xfrm>
            <a:off x="2011680" y="2377440"/>
            <a:ext cx="950976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Paste a schema, ask: "What should I check first?" AI is great at naming the obvious lenses you might skip.</a:t>
            </a:r>
            <a:endParaRPr lang="en-US" sz="1200" dirty="0"/>
          </a:p>
        </p:txBody>
      </p:sp>
      <p:sp>
        <p:nvSpPr>
          <p:cNvPr id="9" name="Shape 7"/>
          <p:cNvSpPr/>
          <p:nvPr/>
        </p:nvSpPr>
        <p:spPr>
          <a:xfrm>
            <a:off x="457200" y="3291840"/>
            <a:ext cx="11247120" cy="1234440"/>
          </a:xfrm>
          <a:prstGeom prst="rect">
            <a:avLst/>
          </a:prstGeom>
          <a:solidFill>
            <a:srgbClr val="FFFFFF"/>
          </a:solidFill>
          <a:ln w="12700">
            <a:solidFill>
              <a:srgbClr val="E2E8F0"/>
            </a:solidFill>
            <a:prstDash val="solid"/>
          </a:ln>
        </p:spPr>
        <p:txBody>
          <a:bodyPr/>
          <a:lstStyle/>
          <a:p>
            <a:endParaRPr lang="en-GB"/>
          </a:p>
        </p:txBody>
      </p:sp>
      <p:sp>
        <p:nvSpPr>
          <p:cNvPr id="10" name="Shape 8"/>
          <p:cNvSpPr/>
          <p:nvPr/>
        </p:nvSpPr>
        <p:spPr>
          <a:xfrm>
            <a:off x="457200" y="3291840"/>
            <a:ext cx="1371600" cy="1234440"/>
          </a:xfrm>
          <a:prstGeom prst="rect">
            <a:avLst/>
          </a:prstGeom>
          <a:solidFill>
            <a:srgbClr val="F59E0B"/>
          </a:solidFill>
          <a:ln/>
        </p:spPr>
        <p:txBody>
          <a:bodyPr/>
          <a:lstStyle/>
          <a:p>
            <a:endParaRPr lang="en-GB"/>
          </a:p>
        </p:txBody>
      </p:sp>
      <p:sp>
        <p:nvSpPr>
          <p:cNvPr id="11" name="Text 9"/>
          <p:cNvSpPr/>
          <p:nvPr/>
        </p:nvSpPr>
        <p:spPr>
          <a:xfrm>
            <a:off x="457200" y="3291840"/>
            <a:ext cx="1371600" cy="123444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02</a:t>
            </a:r>
            <a:endParaRPr lang="en-US" sz="4400" dirty="0"/>
          </a:p>
        </p:txBody>
      </p:sp>
      <p:sp>
        <p:nvSpPr>
          <p:cNvPr id="12" name="Text 10"/>
          <p:cNvSpPr/>
          <p:nvPr/>
        </p:nvSpPr>
        <p:spPr>
          <a:xfrm>
            <a:off x="2011680" y="3456432"/>
            <a:ext cx="950976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Explain a weird distribution</a:t>
            </a:r>
            <a:endParaRPr lang="en-US" sz="1700" dirty="0"/>
          </a:p>
        </p:txBody>
      </p:sp>
      <p:sp>
        <p:nvSpPr>
          <p:cNvPr id="13" name="Text 11"/>
          <p:cNvSpPr/>
          <p:nvPr/>
        </p:nvSpPr>
        <p:spPr>
          <a:xfrm>
            <a:off x="2011680" y="3840480"/>
            <a:ext cx="950976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Paste the output of a histogram or frequency table, ask: "What might cause this shape?" Often surfaces hypotheses you wouldn't have considered.</a:t>
            </a:r>
            <a:endParaRPr lang="en-US" sz="1200" dirty="0"/>
          </a:p>
        </p:txBody>
      </p:sp>
      <p:sp>
        <p:nvSpPr>
          <p:cNvPr id="14" name="Shape 12"/>
          <p:cNvSpPr/>
          <p:nvPr/>
        </p:nvSpPr>
        <p:spPr>
          <a:xfrm>
            <a:off x="457200" y="4754880"/>
            <a:ext cx="11247120" cy="1234440"/>
          </a:xfrm>
          <a:prstGeom prst="rect">
            <a:avLst/>
          </a:prstGeom>
          <a:solidFill>
            <a:srgbClr val="FFFFFF"/>
          </a:solidFill>
          <a:ln w="12700">
            <a:solidFill>
              <a:srgbClr val="E2E8F0"/>
            </a:solidFill>
            <a:prstDash val="solid"/>
          </a:ln>
        </p:spPr>
        <p:txBody>
          <a:bodyPr/>
          <a:lstStyle/>
          <a:p>
            <a:endParaRPr lang="en-GB"/>
          </a:p>
        </p:txBody>
      </p:sp>
      <p:sp>
        <p:nvSpPr>
          <p:cNvPr id="15" name="Shape 13"/>
          <p:cNvSpPr/>
          <p:nvPr/>
        </p:nvSpPr>
        <p:spPr>
          <a:xfrm>
            <a:off x="457200" y="4754880"/>
            <a:ext cx="1371600" cy="1234440"/>
          </a:xfrm>
          <a:prstGeom prst="rect">
            <a:avLst/>
          </a:prstGeom>
          <a:solidFill>
            <a:srgbClr val="10B981"/>
          </a:solidFill>
          <a:ln/>
        </p:spPr>
        <p:txBody>
          <a:bodyPr/>
          <a:lstStyle/>
          <a:p>
            <a:endParaRPr lang="en-GB"/>
          </a:p>
        </p:txBody>
      </p:sp>
      <p:sp>
        <p:nvSpPr>
          <p:cNvPr id="16" name="Text 14"/>
          <p:cNvSpPr/>
          <p:nvPr/>
        </p:nvSpPr>
        <p:spPr>
          <a:xfrm>
            <a:off x="457200" y="4754880"/>
            <a:ext cx="1371600" cy="123444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03</a:t>
            </a:r>
            <a:endParaRPr lang="en-US" sz="4400" dirty="0"/>
          </a:p>
        </p:txBody>
      </p:sp>
      <p:sp>
        <p:nvSpPr>
          <p:cNvPr id="17" name="Text 15"/>
          <p:cNvSpPr/>
          <p:nvPr/>
        </p:nvSpPr>
        <p:spPr>
          <a:xfrm>
            <a:off x="2011680" y="4919472"/>
            <a:ext cx="950976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Write the cross-field checks</a:t>
            </a:r>
            <a:endParaRPr lang="en-US" sz="1700" dirty="0"/>
          </a:p>
        </p:txBody>
      </p:sp>
      <p:sp>
        <p:nvSpPr>
          <p:cNvPr id="18" name="Text 16"/>
          <p:cNvSpPr/>
          <p:nvPr/>
        </p:nvSpPr>
        <p:spPr>
          <a:xfrm>
            <a:off x="2011680" y="5303520"/>
            <a:ext cx="950976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Hardest to come up with, easiest for AI to generate. Describe the two columns and the rule. AI writes the WHERE clause.</a:t>
            </a:r>
            <a:endParaRPr lang="en-US" sz="1200" dirty="0"/>
          </a:p>
        </p:txBody>
      </p:sp>
      <p:sp>
        <p:nvSpPr>
          <p:cNvPr id="19" name="Shape 17"/>
          <p:cNvSpPr/>
          <p:nvPr/>
        </p:nvSpPr>
        <p:spPr>
          <a:xfrm>
            <a:off x="457200" y="6217920"/>
            <a:ext cx="11247120" cy="274320"/>
          </a:xfrm>
          <a:prstGeom prst="rect">
            <a:avLst/>
          </a:prstGeom>
          <a:solidFill>
            <a:srgbClr val="0F172A"/>
          </a:solidFill>
          <a:ln/>
        </p:spPr>
        <p:txBody>
          <a:bodyPr/>
          <a:lstStyle/>
          <a:p>
            <a:endParaRPr lang="en-GB"/>
          </a:p>
        </p:txBody>
      </p:sp>
      <p:sp>
        <p:nvSpPr>
          <p:cNvPr id="20" name="Text 18"/>
          <p:cNvSpPr/>
          <p:nvPr/>
        </p:nvSpPr>
        <p:spPr>
          <a:xfrm>
            <a:off x="640080" y="6217920"/>
            <a:ext cx="10972800" cy="274320"/>
          </a:xfrm>
          <a:prstGeom prst="rect">
            <a:avLst/>
          </a:prstGeom>
          <a:noFill/>
          <a:ln/>
        </p:spPr>
        <p:txBody>
          <a:bodyPr wrap="square" lIns="0" tIns="0" rIns="0" bIns="0" rtlCol="0" anchor="ctr"/>
          <a:lstStyle/>
          <a:p>
            <a:pPr marL="0" indent="0">
              <a:buNone/>
            </a:pPr>
            <a:r>
              <a:rPr lang="en-US" sz="1200" b="1" i="1" dirty="0">
                <a:solidFill>
                  <a:srgbClr val="F59E0B"/>
                </a:solidFill>
                <a:latin typeface="Calibri" pitchFamily="34" charset="0"/>
                <a:ea typeface="Calibri" pitchFamily="34" charset="-122"/>
                <a:cs typeface="Calibri" pitchFamily="34" charset="-120"/>
              </a:rPr>
              <a:t>Always verify: read the SQL  -&gt;  run it  -&gt;  sanity-check the output.</a:t>
            </a:r>
            <a:endParaRPr lang="en-US" sz="1200" dirty="0"/>
          </a:p>
        </p:txBody>
      </p:sp>
      <p:sp>
        <p:nvSpPr>
          <p:cNvPr id="22" name="Shape 19"/>
          <p:cNvSpPr/>
          <p:nvPr/>
        </p:nvSpPr>
        <p:spPr>
          <a:xfrm>
            <a:off x="0" y="6583680"/>
            <a:ext cx="12191695" cy="18288"/>
          </a:xfrm>
          <a:prstGeom prst="rect">
            <a:avLst/>
          </a:prstGeom>
          <a:solidFill>
            <a:srgbClr val="E2E8F0"/>
          </a:solidFill>
          <a:ln/>
        </p:spPr>
        <p:txBody>
          <a:bodyPr/>
          <a:lstStyle/>
          <a:p>
            <a:endParaRPr lang="en-GB"/>
          </a:p>
        </p:txBody>
      </p:sp>
      <p:sp>
        <p:nvSpPr>
          <p:cNvPr id="23" name="Text 20"/>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4" name="Text 21"/>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365760"/>
          </a:xfrm>
          <a:prstGeom prst="rect">
            <a:avLst/>
          </a:prstGeom>
          <a:noFill/>
          <a:ln/>
        </p:spPr>
        <p:txBody>
          <a:bodyPr wrap="square" lIns="0" tIns="0" rIns="0" bIns="0" rtlCol="0" anchor="ctr"/>
          <a:lstStyle/>
          <a:p>
            <a:pPr marL="0" indent="0">
              <a:buNone/>
            </a:pPr>
            <a:r>
              <a:rPr lang="en-US" sz="1200" b="1" kern="0" spc="600" dirty="0">
                <a:solidFill>
                  <a:srgbClr val="F59E0B"/>
                </a:solidFill>
                <a:latin typeface="Calibri" pitchFamily="34" charset="0"/>
                <a:ea typeface="Calibri" pitchFamily="34" charset="-122"/>
                <a:cs typeface="Calibri" pitchFamily="34" charset="-120"/>
              </a:rPr>
              <a:t>HANDS ON</a:t>
            </a:r>
            <a:endParaRPr lang="en-US" sz="1200" dirty="0"/>
          </a:p>
        </p:txBody>
      </p:sp>
      <p:sp>
        <p:nvSpPr>
          <p:cNvPr id="3" name="Text 1"/>
          <p:cNvSpPr/>
          <p:nvPr/>
        </p:nvSpPr>
        <p:spPr>
          <a:xfrm>
            <a:off x="457200" y="777240"/>
            <a:ext cx="109728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Your turn</a:t>
            </a:r>
            <a:endParaRPr lang="en-US" sz="5600" dirty="0"/>
          </a:p>
        </p:txBody>
      </p:sp>
      <p:sp>
        <p:nvSpPr>
          <p:cNvPr id="4" name="Text 2"/>
          <p:cNvSpPr/>
          <p:nvPr/>
        </p:nvSpPr>
        <p:spPr>
          <a:xfrm>
            <a:off x="457200" y="1828800"/>
            <a:ext cx="10972800" cy="457200"/>
          </a:xfrm>
          <a:prstGeom prst="rect">
            <a:avLst/>
          </a:prstGeom>
          <a:noFill/>
          <a:ln/>
        </p:spPr>
        <p:txBody>
          <a:bodyPr wrap="square" lIns="0" tIns="0" rIns="0" bIns="0" rtlCol="0" anchor="ctr"/>
          <a:lstStyle/>
          <a:p>
            <a:pPr marL="0" indent="0">
              <a:buNone/>
            </a:pPr>
            <a:r>
              <a:rPr lang="en-US" sz="2000" i="1" dirty="0">
                <a:solidFill>
                  <a:srgbClr val="06B6D4"/>
                </a:solidFill>
                <a:latin typeface="Calibri" pitchFamily="34" charset="0"/>
                <a:ea typeface="Calibri" pitchFamily="34" charset="-122"/>
                <a:cs typeface="Calibri" pitchFamily="34" charset="-120"/>
              </a:rPr>
              <a:t>Open  02-exercises.sql  in your Codespace.</a:t>
            </a:r>
            <a:endParaRPr lang="en-US" sz="2000" dirty="0"/>
          </a:p>
        </p:txBody>
      </p:sp>
      <p:sp>
        <p:nvSpPr>
          <p:cNvPr id="5" name="Shape 3"/>
          <p:cNvSpPr/>
          <p:nvPr/>
        </p:nvSpPr>
        <p:spPr>
          <a:xfrm>
            <a:off x="457200" y="2606040"/>
            <a:ext cx="11247120" cy="438912"/>
          </a:xfrm>
          <a:prstGeom prst="rect">
            <a:avLst/>
          </a:prstGeom>
          <a:solidFill>
            <a:srgbClr val="1E293B"/>
          </a:solidFill>
          <a:ln/>
        </p:spPr>
        <p:txBody>
          <a:bodyPr/>
          <a:lstStyle/>
          <a:p>
            <a:endParaRPr lang="en-GB"/>
          </a:p>
        </p:txBody>
      </p:sp>
      <p:sp>
        <p:nvSpPr>
          <p:cNvPr id="6" name="Shape 4"/>
          <p:cNvSpPr/>
          <p:nvPr/>
        </p:nvSpPr>
        <p:spPr>
          <a:xfrm>
            <a:off x="457200" y="2606040"/>
            <a:ext cx="457200" cy="438912"/>
          </a:xfrm>
          <a:prstGeom prst="rect">
            <a:avLst/>
          </a:prstGeom>
          <a:solidFill>
            <a:srgbClr val="06B6D4"/>
          </a:solidFill>
          <a:ln/>
        </p:spPr>
        <p:txBody>
          <a:bodyPr/>
          <a:lstStyle/>
          <a:p>
            <a:endParaRPr lang="en-GB"/>
          </a:p>
        </p:txBody>
      </p:sp>
      <p:sp>
        <p:nvSpPr>
          <p:cNvPr id="7" name="Text 5"/>
          <p:cNvSpPr/>
          <p:nvPr/>
        </p:nvSpPr>
        <p:spPr>
          <a:xfrm>
            <a:off x="457200" y="260604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260604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Shape warm-up (multi-table row counts)</a:t>
            </a:r>
            <a:endParaRPr lang="en-US" sz="1400" dirty="0"/>
          </a:p>
        </p:txBody>
      </p:sp>
      <p:sp>
        <p:nvSpPr>
          <p:cNvPr id="9" name="Text 7"/>
          <p:cNvSpPr/>
          <p:nvPr/>
        </p:nvSpPr>
        <p:spPr>
          <a:xfrm>
            <a:off x="10058400" y="260604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2 min</a:t>
            </a:r>
            <a:endParaRPr lang="en-US" sz="1100" dirty="0"/>
          </a:p>
        </p:txBody>
      </p:sp>
      <p:sp>
        <p:nvSpPr>
          <p:cNvPr id="10" name="Shape 8"/>
          <p:cNvSpPr/>
          <p:nvPr/>
        </p:nvSpPr>
        <p:spPr>
          <a:xfrm>
            <a:off x="457200" y="3108960"/>
            <a:ext cx="11247120" cy="438912"/>
          </a:xfrm>
          <a:prstGeom prst="rect">
            <a:avLst/>
          </a:prstGeom>
          <a:solidFill>
            <a:srgbClr val="1E293B"/>
          </a:solidFill>
          <a:ln/>
        </p:spPr>
        <p:txBody>
          <a:bodyPr/>
          <a:lstStyle/>
          <a:p>
            <a:endParaRPr lang="en-GB"/>
          </a:p>
        </p:txBody>
      </p:sp>
      <p:sp>
        <p:nvSpPr>
          <p:cNvPr id="11" name="Shape 9"/>
          <p:cNvSpPr/>
          <p:nvPr/>
        </p:nvSpPr>
        <p:spPr>
          <a:xfrm>
            <a:off x="457200" y="3108960"/>
            <a:ext cx="457200" cy="438912"/>
          </a:xfrm>
          <a:prstGeom prst="rect">
            <a:avLst/>
          </a:prstGeom>
          <a:solidFill>
            <a:srgbClr val="06B6D4"/>
          </a:solidFill>
          <a:ln/>
        </p:spPr>
        <p:txBody>
          <a:bodyPr/>
          <a:lstStyle/>
          <a:p>
            <a:endParaRPr lang="en-GB"/>
          </a:p>
        </p:txBody>
      </p:sp>
      <p:sp>
        <p:nvSpPr>
          <p:cNvPr id="12" name="Text 10"/>
          <p:cNvSpPr/>
          <p:nvPr/>
        </p:nvSpPr>
        <p:spPr>
          <a:xfrm>
            <a:off x="457200" y="310896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97280" y="310896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NULL profile of Patients</a:t>
            </a:r>
            <a:endParaRPr lang="en-US" sz="1400" dirty="0"/>
          </a:p>
        </p:txBody>
      </p:sp>
      <p:sp>
        <p:nvSpPr>
          <p:cNvPr id="14" name="Text 12"/>
          <p:cNvSpPr/>
          <p:nvPr/>
        </p:nvSpPr>
        <p:spPr>
          <a:xfrm>
            <a:off x="10058400" y="310896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3 min</a:t>
            </a:r>
            <a:endParaRPr lang="en-US" sz="1100" dirty="0"/>
          </a:p>
        </p:txBody>
      </p:sp>
      <p:sp>
        <p:nvSpPr>
          <p:cNvPr id="15" name="Shape 13"/>
          <p:cNvSpPr/>
          <p:nvPr/>
        </p:nvSpPr>
        <p:spPr>
          <a:xfrm>
            <a:off x="457200" y="3611880"/>
            <a:ext cx="11247120" cy="438912"/>
          </a:xfrm>
          <a:prstGeom prst="rect">
            <a:avLst/>
          </a:prstGeom>
          <a:solidFill>
            <a:srgbClr val="1E293B"/>
          </a:solidFill>
          <a:ln/>
        </p:spPr>
        <p:txBody>
          <a:bodyPr/>
          <a:lstStyle/>
          <a:p>
            <a:endParaRPr lang="en-GB"/>
          </a:p>
        </p:txBody>
      </p:sp>
      <p:sp>
        <p:nvSpPr>
          <p:cNvPr id="16" name="Shape 14"/>
          <p:cNvSpPr/>
          <p:nvPr/>
        </p:nvSpPr>
        <p:spPr>
          <a:xfrm>
            <a:off x="457200" y="3611880"/>
            <a:ext cx="457200" cy="438912"/>
          </a:xfrm>
          <a:prstGeom prst="rect">
            <a:avLst/>
          </a:prstGeom>
          <a:solidFill>
            <a:srgbClr val="06B6D4"/>
          </a:solidFill>
          <a:ln/>
        </p:spPr>
        <p:txBody>
          <a:bodyPr/>
          <a:lstStyle/>
          <a:p>
            <a:endParaRPr lang="en-GB"/>
          </a:p>
        </p:txBody>
      </p:sp>
      <p:sp>
        <p:nvSpPr>
          <p:cNvPr id="17" name="Text 15"/>
          <p:cNvSpPr/>
          <p:nvPr/>
        </p:nvSpPr>
        <p:spPr>
          <a:xfrm>
            <a:off x="457200" y="361188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097280" y="361188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Cardinality + percentages on WardType</a:t>
            </a:r>
            <a:endParaRPr lang="en-US" sz="1400" dirty="0"/>
          </a:p>
        </p:txBody>
      </p:sp>
      <p:sp>
        <p:nvSpPr>
          <p:cNvPr id="19" name="Text 17"/>
          <p:cNvSpPr/>
          <p:nvPr/>
        </p:nvSpPr>
        <p:spPr>
          <a:xfrm>
            <a:off x="10058400" y="361188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4 min</a:t>
            </a:r>
            <a:endParaRPr lang="en-US" sz="1100" dirty="0"/>
          </a:p>
        </p:txBody>
      </p:sp>
      <p:sp>
        <p:nvSpPr>
          <p:cNvPr id="20" name="Shape 18"/>
          <p:cNvSpPr/>
          <p:nvPr/>
        </p:nvSpPr>
        <p:spPr>
          <a:xfrm>
            <a:off x="457200" y="4114800"/>
            <a:ext cx="11247120" cy="438912"/>
          </a:xfrm>
          <a:prstGeom prst="rect">
            <a:avLst/>
          </a:prstGeom>
          <a:solidFill>
            <a:srgbClr val="1E293B"/>
          </a:solidFill>
          <a:ln/>
        </p:spPr>
        <p:txBody>
          <a:bodyPr/>
          <a:lstStyle/>
          <a:p>
            <a:endParaRPr lang="en-GB"/>
          </a:p>
        </p:txBody>
      </p:sp>
      <p:sp>
        <p:nvSpPr>
          <p:cNvPr id="21" name="Shape 19"/>
          <p:cNvSpPr/>
          <p:nvPr/>
        </p:nvSpPr>
        <p:spPr>
          <a:xfrm>
            <a:off x="457200" y="4114800"/>
            <a:ext cx="457200" cy="438912"/>
          </a:xfrm>
          <a:prstGeom prst="rect">
            <a:avLst/>
          </a:prstGeom>
          <a:solidFill>
            <a:srgbClr val="06B6D4"/>
          </a:solidFill>
          <a:ln/>
        </p:spPr>
        <p:txBody>
          <a:bodyPr/>
          <a:lstStyle/>
          <a:p>
            <a:endParaRPr lang="en-GB"/>
          </a:p>
        </p:txBody>
      </p:sp>
      <p:sp>
        <p:nvSpPr>
          <p:cNvPr id="22" name="Text 20"/>
          <p:cNvSpPr/>
          <p:nvPr/>
        </p:nvSpPr>
        <p:spPr>
          <a:xfrm>
            <a:off x="457200" y="411480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097280" y="411480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Age distribution histogram</a:t>
            </a:r>
            <a:endParaRPr lang="en-US" sz="1400" dirty="0"/>
          </a:p>
        </p:txBody>
      </p:sp>
      <p:sp>
        <p:nvSpPr>
          <p:cNvPr id="24" name="Text 22"/>
          <p:cNvSpPr/>
          <p:nvPr/>
        </p:nvSpPr>
        <p:spPr>
          <a:xfrm>
            <a:off x="10058400" y="411480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4 min</a:t>
            </a:r>
            <a:endParaRPr lang="en-US" sz="1100" dirty="0"/>
          </a:p>
        </p:txBody>
      </p:sp>
      <p:sp>
        <p:nvSpPr>
          <p:cNvPr id="25" name="Shape 23"/>
          <p:cNvSpPr/>
          <p:nvPr/>
        </p:nvSpPr>
        <p:spPr>
          <a:xfrm>
            <a:off x="457200" y="4617720"/>
            <a:ext cx="11247120" cy="438912"/>
          </a:xfrm>
          <a:prstGeom prst="rect">
            <a:avLst/>
          </a:prstGeom>
          <a:solidFill>
            <a:srgbClr val="1E293B"/>
          </a:solidFill>
          <a:ln/>
        </p:spPr>
        <p:txBody>
          <a:bodyPr/>
          <a:lstStyle/>
          <a:p>
            <a:endParaRPr lang="en-GB"/>
          </a:p>
        </p:txBody>
      </p:sp>
      <p:sp>
        <p:nvSpPr>
          <p:cNvPr id="26" name="Shape 24"/>
          <p:cNvSpPr/>
          <p:nvPr/>
        </p:nvSpPr>
        <p:spPr>
          <a:xfrm>
            <a:off x="457200" y="4617720"/>
            <a:ext cx="457200" cy="438912"/>
          </a:xfrm>
          <a:prstGeom prst="rect">
            <a:avLst/>
          </a:prstGeom>
          <a:solidFill>
            <a:srgbClr val="06B6D4"/>
          </a:solidFill>
          <a:ln/>
        </p:spPr>
        <p:txBody>
          <a:bodyPr/>
          <a:lstStyle/>
          <a:p>
            <a:endParaRPr lang="en-GB"/>
          </a:p>
        </p:txBody>
      </p:sp>
      <p:sp>
        <p:nvSpPr>
          <p:cNvPr id="27" name="Text 25"/>
          <p:cNvSpPr/>
          <p:nvPr/>
        </p:nvSpPr>
        <p:spPr>
          <a:xfrm>
            <a:off x="457200" y="461772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097280" y="461772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Length-of-stay outliers (BONUS)</a:t>
            </a:r>
            <a:endParaRPr lang="en-US" sz="1400" dirty="0"/>
          </a:p>
        </p:txBody>
      </p:sp>
      <p:sp>
        <p:nvSpPr>
          <p:cNvPr id="29" name="Text 27"/>
          <p:cNvSpPr/>
          <p:nvPr/>
        </p:nvSpPr>
        <p:spPr>
          <a:xfrm>
            <a:off x="10058400" y="461772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homework</a:t>
            </a:r>
            <a:endParaRPr lang="en-US" sz="1100" dirty="0"/>
          </a:p>
        </p:txBody>
      </p:sp>
      <p:sp>
        <p:nvSpPr>
          <p:cNvPr id="30" name="Shape 28"/>
          <p:cNvSpPr/>
          <p:nvPr/>
        </p:nvSpPr>
        <p:spPr>
          <a:xfrm>
            <a:off x="457200" y="5120640"/>
            <a:ext cx="11247120" cy="438912"/>
          </a:xfrm>
          <a:prstGeom prst="rect">
            <a:avLst/>
          </a:prstGeom>
          <a:solidFill>
            <a:srgbClr val="1E293B"/>
          </a:solidFill>
          <a:ln/>
        </p:spPr>
        <p:txBody>
          <a:bodyPr/>
          <a:lstStyle/>
          <a:p>
            <a:endParaRPr lang="en-GB"/>
          </a:p>
        </p:txBody>
      </p:sp>
      <p:sp>
        <p:nvSpPr>
          <p:cNvPr id="31" name="Shape 29"/>
          <p:cNvSpPr/>
          <p:nvPr/>
        </p:nvSpPr>
        <p:spPr>
          <a:xfrm>
            <a:off x="457200" y="5120640"/>
            <a:ext cx="457200" cy="438912"/>
          </a:xfrm>
          <a:prstGeom prst="rect">
            <a:avLst/>
          </a:prstGeom>
          <a:solidFill>
            <a:srgbClr val="06B6D4"/>
          </a:solidFill>
          <a:ln/>
        </p:spPr>
        <p:txBody>
          <a:bodyPr/>
          <a:lstStyle/>
          <a:p>
            <a:endParaRPr lang="en-GB"/>
          </a:p>
        </p:txBody>
      </p:sp>
      <p:sp>
        <p:nvSpPr>
          <p:cNvPr id="32" name="Text 30"/>
          <p:cNvSpPr/>
          <p:nvPr/>
        </p:nvSpPr>
        <p:spPr>
          <a:xfrm>
            <a:off x="457200" y="512064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1097280" y="512064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Postcode format check (BONUS)</a:t>
            </a:r>
            <a:endParaRPr lang="en-US" sz="1400" dirty="0"/>
          </a:p>
        </p:txBody>
      </p:sp>
      <p:sp>
        <p:nvSpPr>
          <p:cNvPr id="34" name="Text 32"/>
          <p:cNvSpPr/>
          <p:nvPr/>
        </p:nvSpPr>
        <p:spPr>
          <a:xfrm>
            <a:off x="10058400" y="512064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homework</a:t>
            </a:r>
            <a:endParaRPr lang="en-US" sz="1100" dirty="0"/>
          </a:p>
        </p:txBody>
      </p:sp>
      <p:sp>
        <p:nvSpPr>
          <p:cNvPr id="35" name="Shape 33"/>
          <p:cNvSpPr/>
          <p:nvPr/>
        </p:nvSpPr>
        <p:spPr>
          <a:xfrm>
            <a:off x="457200" y="5623560"/>
            <a:ext cx="11247120" cy="438912"/>
          </a:xfrm>
          <a:prstGeom prst="rect">
            <a:avLst/>
          </a:prstGeom>
          <a:solidFill>
            <a:srgbClr val="1E293B"/>
          </a:solidFill>
          <a:ln/>
        </p:spPr>
        <p:txBody>
          <a:bodyPr/>
          <a:lstStyle/>
          <a:p>
            <a:endParaRPr lang="en-GB"/>
          </a:p>
        </p:txBody>
      </p:sp>
      <p:sp>
        <p:nvSpPr>
          <p:cNvPr id="36" name="Shape 34"/>
          <p:cNvSpPr/>
          <p:nvPr/>
        </p:nvSpPr>
        <p:spPr>
          <a:xfrm>
            <a:off x="457200" y="5623560"/>
            <a:ext cx="457200" cy="438912"/>
          </a:xfrm>
          <a:prstGeom prst="rect">
            <a:avLst/>
          </a:prstGeom>
          <a:solidFill>
            <a:srgbClr val="06B6D4"/>
          </a:solidFill>
          <a:ln/>
        </p:spPr>
        <p:txBody>
          <a:bodyPr/>
          <a:lstStyle/>
          <a:p>
            <a:endParaRPr lang="en-GB"/>
          </a:p>
        </p:txBody>
      </p:sp>
      <p:sp>
        <p:nvSpPr>
          <p:cNvPr id="37" name="Text 35"/>
          <p:cNvSpPr/>
          <p:nvPr/>
        </p:nvSpPr>
        <p:spPr>
          <a:xfrm>
            <a:off x="457200" y="562356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8" name="Text 36"/>
          <p:cNvSpPr/>
          <p:nvPr/>
        </p:nvSpPr>
        <p:spPr>
          <a:xfrm>
            <a:off x="1097280" y="5623560"/>
            <a:ext cx="868680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AI profiling prompt (HOMEWORK)</a:t>
            </a:r>
            <a:endParaRPr lang="en-US" sz="1400" dirty="0"/>
          </a:p>
        </p:txBody>
      </p:sp>
      <p:sp>
        <p:nvSpPr>
          <p:cNvPr id="39" name="Text 37"/>
          <p:cNvSpPr/>
          <p:nvPr/>
        </p:nvSpPr>
        <p:spPr>
          <a:xfrm>
            <a:off x="10058400" y="5623560"/>
            <a:ext cx="1554480" cy="438912"/>
          </a:xfrm>
          <a:prstGeom prst="rect">
            <a:avLst/>
          </a:prstGeom>
          <a:noFill/>
          <a:ln/>
        </p:spPr>
        <p:txBody>
          <a:bodyPr wrap="square" lIns="0" tIns="0" rIns="0" bIns="0" rtlCol="0" anchor="ctr"/>
          <a:lstStyle/>
          <a:p>
            <a:pPr marL="0" indent="0" algn="r">
              <a:buNone/>
            </a:pPr>
            <a:r>
              <a:rPr lang="en-US" sz="1100" i="1" dirty="0">
                <a:solidFill>
                  <a:srgbClr val="F59E0B"/>
                </a:solidFill>
                <a:latin typeface="Calibri" pitchFamily="34" charset="0"/>
                <a:ea typeface="Calibri" pitchFamily="34" charset="-122"/>
                <a:cs typeface="Calibri" pitchFamily="34" charset="-120"/>
              </a:rPr>
              <a:t>homework</a:t>
            </a:r>
            <a:endParaRPr lang="en-US" sz="1100" dirty="0"/>
          </a:p>
        </p:txBody>
      </p:sp>
      <p:sp>
        <p:nvSpPr>
          <p:cNvPr id="40" name="Text 38"/>
          <p:cNvSpPr/>
          <p:nvPr/>
        </p:nvSpPr>
        <p:spPr>
          <a:xfrm>
            <a:off x="457200" y="6263640"/>
            <a:ext cx="11247120" cy="365760"/>
          </a:xfrm>
          <a:prstGeom prst="rect">
            <a:avLst/>
          </a:prstGeom>
          <a:noFill/>
          <a:ln/>
        </p:spPr>
        <p:txBody>
          <a:bodyPr wrap="square" lIns="0" tIns="0" rIns="0" bIns="0" rtlCol="0" anchor="ctr"/>
          <a:lstStyle/>
          <a:p>
            <a:pPr marL="0" indent="0">
              <a:buNone/>
            </a:pPr>
            <a:r>
              <a:rPr lang="en-US" sz="1200" i="1" dirty="0">
                <a:solidFill>
                  <a:srgbClr val="CBD5E1"/>
                </a:solidFill>
                <a:latin typeface="Calibri" pitchFamily="34" charset="0"/>
                <a:ea typeface="Calibri" pitchFamily="34" charset="-122"/>
                <a:cs typeface="Calibri" pitchFamily="34" charset="-120"/>
              </a:rPr>
              <a:t>Use AI if you want. Type it yourself if you can. Either way, RUN IT and read the result.</a:t>
            </a:r>
            <a:endParaRPr lang="en-US" sz="1200" dirty="0"/>
          </a:p>
        </p:txBody>
      </p:sp>
      <p:sp>
        <p:nvSpPr>
          <p:cNvPr id="41" name="Shape 39"/>
          <p:cNvSpPr/>
          <p:nvPr/>
        </p:nvSpPr>
        <p:spPr>
          <a:xfrm>
            <a:off x="0" y="6583680"/>
            <a:ext cx="12191695" cy="18288"/>
          </a:xfrm>
          <a:prstGeom prst="rect">
            <a:avLst/>
          </a:prstGeom>
          <a:solidFill>
            <a:srgbClr val="E2E8F0"/>
          </a:solidFill>
          <a:ln/>
        </p:spPr>
        <p:txBody>
          <a:bodyPr/>
          <a:lstStyle/>
          <a:p>
            <a:endParaRPr lang="en-GB"/>
          </a:p>
        </p:txBody>
      </p:sp>
      <p:sp>
        <p:nvSpPr>
          <p:cNvPr id="42" name="Text 40"/>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43" name="Text 41"/>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CARDINALITY WITH PERCENTAGES</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Walkthrough: Exercise 3</a:t>
            </a:r>
            <a:endParaRPr lang="en-US" sz="3600" dirty="0"/>
          </a:p>
        </p:txBody>
      </p:sp>
      <p:sp>
        <p:nvSpPr>
          <p:cNvPr id="4" name="Shape 2"/>
          <p:cNvSpPr/>
          <p:nvPr/>
        </p:nvSpPr>
        <p:spPr>
          <a:xfrm>
            <a:off x="457200" y="1783080"/>
            <a:ext cx="11247120" cy="640080"/>
          </a:xfrm>
          <a:prstGeom prst="rect">
            <a:avLst/>
          </a:prstGeom>
          <a:solidFill>
            <a:srgbClr val="FFFFFF"/>
          </a:solidFill>
          <a:ln w="12700">
            <a:solidFill>
              <a:srgbClr val="E2E8F0"/>
            </a:solidFill>
            <a:prstDash val="solid"/>
          </a:ln>
        </p:spPr>
        <p:txBody>
          <a:bodyPr/>
          <a:lstStyle/>
          <a:p>
            <a:endParaRPr lang="en-GB"/>
          </a:p>
        </p:txBody>
      </p:sp>
      <p:sp>
        <p:nvSpPr>
          <p:cNvPr id="5" name="Shape 3"/>
          <p:cNvSpPr/>
          <p:nvPr/>
        </p:nvSpPr>
        <p:spPr>
          <a:xfrm>
            <a:off x="457200" y="1783080"/>
            <a:ext cx="137160" cy="640080"/>
          </a:xfrm>
          <a:prstGeom prst="rect">
            <a:avLst/>
          </a:prstGeom>
          <a:solidFill>
            <a:srgbClr val="F59E0B"/>
          </a:solidFill>
          <a:ln/>
        </p:spPr>
        <p:txBody>
          <a:bodyPr/>
          <a:lstStyle/>
          <a:p>
            <a:endParaRPr lang="en-GB"/>
          </a:p>
        </p:txBody>
      </p:sp>
      <p:sp>
        <p:nvSpPr>
          <p:cNvPr id="6" name="Text 4"/>
          <p:cNvSpPr/>
          <p:nvPr/>
        </p:nvSpPr>
        <p:spPr>
          <a:xfrm>
            <a:off x="777240" y="1828800"/>
            <a:ext cx="3657600" cy="228600"/>
          </a:xfrm>
          <a:prstGeom prst="rect">
            <a:avLst/>
          </a:prstGeom>
          <a:noFill/>
          <a:ln/>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THE QUESTION</a:t>
            </a:r>
            <a:endParaRPr lang="en-US" sz="900" dirty="0"/>
          </a:p>
        </p:txBody>
      </p:sp>
      <p:sp>
        <p:nvSpPr>
          <p:cNvPr id="7" name="Text 5"/>
          <p:cNvSpPr/>
          <p:nvPr/>
        </p:nvSpPr>
        <p:spPr>
          <a:xfrm>
            <a:off x="777240" y="2029968"/>
            <a:ext cx="10789920" cy="411480"/>
          </a:xfrm>
          <a:prstGeom prst="rect">
            <a:avLst/>
          </a:prstGeom>
          <a:noFill/>
          <a:ln/>
        </p:spPr>
        <p:txBody>
          <a:bodyPr wrap="square" lIns="0" tIns="0" rIns="0" bIns="0" rtlCol="0" anchor="ctr"/>
          <a:lstStyle/>
          <a:p>
            <a:pPr marL="0" indent="0">
              <a:buNone/>
            </a:pPr>
            <a:r>
              <a:rPr lang="en-US" sz="1300" i="1" dirty="0">
                <a:solidFill>
                  <a:srgbClr val="0F172A"/>
                </a:solidFill>
                <a:latin typeface="Calibri" pitchFamily="34" charset="0"/>
                <a:ea typeface="Calibri" pitchFamily="34" charset="-122"/>
                <a:cs typeface="Calibri" pitchFamily="34" charset="-120"/>
              </a:rPr>
              <a:t>For Wards, return each WardType with its frequency and percentage of the total, ordered by frequency descending.</a:t>
            </a:r>
            <a:endParaRPr lang="en-US" sz="1300" dirty="0"/>
          </a:p>
        </p:txBody>
      </p:sp>
      <p:sp>
        <p:nvSpPr>
          <p:cNvPr id="8" name="Shape 6"/>
          <p:cNvSpPr/>
          <p:nvPr/>
        </p:nvSpPr>
        <p:spPr>
          <a:xfrm>
            <a:off x="457200" y="2606040"/>
            <a:ext cx="6858000" cy="2743200"/>
          </a:xfrm>
          <a:prstGeom prst="rect">
            <a:avLst/>
          </a:prstGeom>
          <a:solidFill>
            <a:srgbClr val="0F172A"/>
          </a:solidFill>
          <a:ln/>
        </p:spPr>
        <p:txBody>
          <a:bodyPr/>
          <a:lstStyle/>
          <a:p>
            <a:endParaRPr lang="en-GB"/>
          </a:p>
        </p:txBody>
      </p:sp>
      <p:sp>
        <p:nvSpPr>
          <p:cNvPr id="9" name="Shape 7"/>
          <p:cNvSpPr/>
          <p:nvPr/>
        </p:nvSpPr>
        <p:spPr>
          <a:xfrm>
            <a:off x="457200" y="2606040"/>
            <a:ext cx="73152" cy="2743200"/>
          </a:xfrm>
          <a:prstGeom prst="rect">
            <a:avLst/>
          </a:prstGeom>
          <a:solidFill>
            <a:srgbClr val="06B6D4"/>
          </a:solidFill>
          <a:ln/>
        </p:spPr>
        <p:txBody>
          <a:bodyPr/>
          <a:lstStyle/>
          <a:p>
            <a:endParaRPr lang="en-GB"/>
          </a:p>
        </p:txBody>
      </p:sp>
      <p:sp>
        <p:nvSpPr>
          <p:cNvPr id="10" name="Text 8"/>
          <p:cNvSpPr/>
          <p:nvPr/>
        </p:nvSpPr>
        <p:spPr>
          <a:xfrm>
            <a:off x="685800" y="2743200"/>
            <a:ext cx="6492240" cy="2468880"/>
          </a:xfrm>
          <a:prstGeom prst="rect">
            <a:avLst/>
          </a:prstGeom>
          <a:noFill/>
          <a:ln/>
        </p:spPr>
        <p:txBody>
          <a:bodyPr wrap="square" lIns="0" tIns="0" rIns="0" bIns="0" rtlCol="0" anchor="t"/>
          <a:lstStyle/>
          <a:p>
            <a:pPr marL="0" indent="0">
              <a:buNone/>
            </a:pPr>
            <a:r>
              <a:rPr lang="en-US" sz="1200" dirty="0">
                <a:solidFill>
                  <a:srgbClr val="F8FAFC"/>
                </a:solidFill>
                <a:latin typeface="Consolas" pitchFamily="34" charset="0"/>
                <a:ea typeface="Consolas" pitchFamily="34" charset="-122"/>
                <a:cs typeface="Consolas" pitchFamily="34" charset="-120"/>
              </a:rPr>
              <a:t>SELECT</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    WardType,</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    COUNT(*) AS frequency,</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    CAST(100.0 * COUNT(*) /</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         SUM(COUNT(*)) OVER ()</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         AS DECIMAL(5,2)) AS pct_of_total</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FROM Wards</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GROUP BY WardType</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ORDER BY frequency DESC;</a:t>
            </a:r>
            <a:endParaRPr lang="en-US" sz="1200" dirty="0"/>
          </a:p>
        </p:txBody>
      </p:sp>
      <p:sp>
        <p:nvSpPr>
          <p:cNvPr id="11" name="Shape 9"/>
          <p:cNvSpPr/>
          <p:nvPr/>
        </p:nvSpPr>
        <p:spPr>
          <a:xfrm>
            <a:off x="7589520" y="2606040"/>
            <a:ext cx="4114800" cy="2743200"/>
          </a:xfrm>
          <a:prstGeom prst="rect">
            <a:avLst/>
          </a:prstGeom>
          <a:solidFill>
            <a:srgbClr val="FFFFFF"/>
          </a:solidFill>
          <a:ln w="12700">
            <a:solidFill>
              <a:srgbClr val="E2E8F0"/>
            </a:solidFill>
            <a:prstDash val="solid"/>
          </a:ln>
        </p:spPr>
        <p:txBody>
          <a:bodyPr/>
          <a:lstStyle/>
          <a:p>
            <a:endParaRPr lang="en-GB"/>
          </a:p>
        </p:txBody>
      </p:sp>
      <p:sp>
        <p:nvSpPr>
          <p:cNvPr id="12" name="Text 10"/>
          <p:cNvSpPr/>
          <p:nvPr/>
        </p:nvSpPr>
        <p:spPr>
          <a:xfrm>
            <a:off x="7772400" y="2743200"/>
            <a:ext cx="384048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WHY THIS WORKS</a:t>
            </a:r>
            <a:endParaRPr lang="en-US" sz="1000" dirty="0"/>
          </a:p>
        </p:txBody>
      </p:sp>
      <p:sp>
        <p:nvSpPr>
          <p:cNvPr id="13" name="Text 11"/>
          <p:cNvSpPr/>
          <p:nvPr/>
        </p:nvSpPr>
        <p:spPr>
          <a:xfrm>
            <a:off x="7772400" y="3063240"/>
            <a:ext cx="38404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GROUP BY collapses rows by WardType</a:t>
            </a:r>
            <a:endParaRPr lang="en-US" sz="1100" dirty="0"/>
          </a:p>
        </p:txBody>
      </p:sp>
      <p:sp>
        <p:nvSpPr>
          <p:cNvPr id="14" name="Text 12"/>
          <p:cNvSpPr/>
          <p:nvPr/>
        </p:nvSpPr>
        <p:spPr>
          <a:xfrm>
            <a:off x="7772400" y="3611880"/>
            <a:ext cx="38404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COUNT(*) gives per-group frequency</a:t>
            </a:r>
            <a:endParaRPr lang="en-US" sz="1100" dirty="0"/>
          </a:p>
        </p:txBody>
      </p:sp>
      <p:sp>
        <p:nvSpPr>
          <p:cNvPr id="15" name="Text 13"/>
          <p:cNvSpPr/>
          <p:nvPr/>
        </p:nvSpPr>
        <p:spPr>
          <a:xfrm>
            <a:off x="7772400" y="4160520"/>
            <a:ext cx="38404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SUM(COUNT(*)) OVER () sums the per-group counts across the whole result</a:t>
            </a:r>
            <a:endParaRPr lang="en-US" sz="1100" dirty="0"/>
          </a:p>
        </p:txBody>
      </p:sp>
      <p:sp>
        <p:nvSpPr>
          <p:cNvPr id="16" name="Text 14"/>
          <p:cNvSpPr/>
          <p:nvPr/>
        </p:nvSpPr>
        <p:spPr>
          <a:xfrm>
            <a:off x="7772400" y="4709160"/>
            <a:ext cx="3840480" cy="5029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CAST to DECIMAL(5,2) keeps it readable</a:t>
            </a:r>
            <a:endParaRPr lang="en-US" sz="1100" dirty="0"/>
          </a:p>
        </p:txBody>
      </p:sp>
      <p:sp>
        <p:nvSpPr>
          <p:cNvPr id="17" name="Shape 15"/>
          <p:cNvSpPr/>
          <p:nvPr/>
        </p:nvSpPr>
        <p:spPr>
          <a:xfrm>
            <a:off x="457200" y="5486400"/>
            <a:ext cx="11247120" cy="822960"/>
          </a:xfrm>
          <a:prstGeom prst="rect">
            <a:avLst/>
          </a:prstGeom>
          <a:solidFill>
            <a:srgbClr val="0F172A"/>
          </a:solidFill>
          <a:ln/>
        </p:spPr>
        <p:txBody>
          <a:bodyPr/>
          <a:lstStyle/>
          <a:p>
            <a:endParaRPr lang="en-GB"/>
          </a:p>
        </p:txBody>
      </p:sp>
      <p:sp>
        <p:nvSpPr>
          <p:cNvPr id="18" name="Shape 16"/>
          <p:cNvSpPr/>
          <p:nvPr/>
        </p:nvSpPr>
        <p:spPr>
          <a:xfrm>
            <a:off x="457200" y="5486400"/>
            <a:ext cx="137160" cy="822960"/>
          </a:xfrm>
          <a:prstGeom prst="rect">
            <a:avLst/>
          </a:prstGeom>
          <a:solidFill>
            <a:srgbClr val="F59E0B"/>
          </a:solidFill>
          <a:ln/>
        </p:spPr>
        <p:txBody>
          <a:bodyPr/>
          <a:lstStyle/>
          <a:p>
            <a:endParaRPr lang="en-GB"/>
          </a:p>
        </p:txBody>
      </p:sp>
      <p:sp>
        <p:nvSpPr>
          <p:cNvPr id="19" name="Text 17"/>
          <p:cNvSpPr/>
          <p:nvPr/>
        </p:nvSpPr>
        <p:spPr>
          <a:xfrm>
            <a:off x="777240" y="5532120"/>
            <a:ext cx="3657600" cy="228600"/>
          </a:xfrm>
          <a:prstGeom prst="rect">
            <a:avLst/>
          </a:prstGeom>
          <a:noFill/>
          <a:ln/>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THE GOTCHA</a:t>
            </a:r>
            <a:endParaRPr lang="en-US" sz="900" dirty="0"/>
          </a:p>
        </p:txBody>
      </p:sp>
      <p:sp>
        <p:nvSpPr>
          <p:cNvPr id="20" name="Text 18"/>
          <p:cNvSpPr/>
          <p:nvPr/>
        </p:nvSpPr>
        <p:spPr>
          <a:xfrm>
            <a:off x="777240" y="5760720"/>
            <a:ext cx="10789920" cy="5486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If you try SUM(COUNT(*)) without OVER(), you get a syntax error. The OVER() makes COUNT(*) a windowed aggregate, which can then be summed across the result set. Without it, SQL Server doesn't know how to nest the two aggregates.</a:t>
            </a:r>
            <a:endParaRPr lang="en-US" sz="1100" dirty="0"/>
          </a:p>
        </p:txBody>
      </p:sp>
      <p:sp>
        <p:nvSpPr>
          <p:cNvPr id="22" name="Shape 19"/>
          <p:cNvSpPr/>
          <p:nvPr/>
        </p:nvSpPr>
        <p:spPr>
          <a:xfrm>
            <a:off x="0" y="6583680"/>
            <a:ext cx="12191695" cy="18288"/>
          </a:xfrm>
          <a:prstGeom prst="rect">
            <a:avLst/>
          </a:prstGeom>
          <a:solidFill>
            <a:srgbClr val="E2E8F0"/>
          </a:solidFill>
          <a:ln/>
        </p:spPr>
        <p:txBody>
          <a:bodyPr/>
          <a:lstStyle/>
          <a:p>
            <a:endParaRPr lang="en-GB"/>
          </a:p>
        </p:txBody>
      </p:sp>
      <p:sp>
        <p:nvSpPr>
          <p:cNvPr id="23" name="Text 20"/>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24" name="Text 21"/>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365760"/>
          </a:xfrm>
          <a:prstGeom prst="rect">
            <a:avLst/>
          </a:prstGeom>
          <a:noFill/>
          <a:ln/>
        </p:spPr>
        <p:txBody>
          <a:bodyPr wrap="square" lIns="0" tIns="0" rIns="0" bIns="0" rtlCol="0" anchor="ctr"/>
          <a:lstStyle/>
          <a:p>
            <a:pPr marL="0" indent="0">
              <a:buNone/>
            </a:pPr>
            <a:r>
              <a:rPr lang="en-US" sz="1200" b="1" kern="0" spc="600" dirty="0">
                <a:solidFill>
                  <a:srgbClr val="06B6D4"/>
                </a:solidFill>
                <a:latin typeface="Calibri" pitchFamily="34" charset="0"/>
                <a:ea typeface="Calibri" pitchFamily="34" charset="-122"/>
                <a:cs typeface="Calibri" pitchFamily="34" charset="-120"/>
              </a:rPr>
              <a:t>TODAY'S TAKEAWAYS + A TEASE FOR NEXT WEEK</a:t>
            </a:r>
            <a:endParaRPr lang="en-US" sz="12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Calibri" pitchFamily="34" charset="0"/>
                <a:ea typeface="Calibri" pitchFamily="34" charset="-122"/>
                <a:cs typeface="Calibri" pitchFamily="34" charset="-120"/>
              </a:rPr>
              <a:t>Recap &amp; What's Next</a:t>
            </a:r>
            <a:endParaRPr lang="en-US" sz="3600" dirty="0"/>
          </a:p>
        </p:txBody>
      </p:sp>
      <p:sp>
        <p:nvSpPr>
          <p:cNvPr id="4" name="Shape 2"/>
          <p:cNvSpPr/>
          <p:nvPr/>
        </p:nvSpPr>
        <p:spPr>
          <a:xfrm>
            <a:off x="457200" y="1783080"/>
            <a:ext cx="6400800" cy="4572000"/>
          </a:xfrm>
          <a:prstGeom prst="rect">
            <a:avLst/>
          </a:prstGeom>
          <a:solidFill>
            <a:srgbClr val="FFFFFF"/>
          </a:solidFill>
          <a:ln w="12700">
            <a:solidFill>
              <a:srgbClr val="E2E8F0"/>
            </a:solidFill>
            <a:prstDash val="solid"/>
          </a:ln>
        </p:spPr>
        <p:txBody>
          <a:bodyPr/>
          <a:lstStyle/>
          <a:p>
            <a:endParaRPr lang="en-GB"/>
          </a:p>
        </p:txBody>
      </p:sp>
      <p:sp>
        <p:nvSpPr>
          <p:cNvPr id="5" name="Text 3"/>
          <p:cNvSpPr/>
          <p:nvPr/>
        </p:nvSpPr>
        <p:spPr>
          <a:xfrm>
            <a:off x="640080" y="1920240"/>
            <a:ext cx="603504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FIVE TAKEAWAYS</a:t>
            </a:r>
            <a:endParaRPr lang="en-US" sz="1000" dirty="0"/>
          </a:p>
        </p:txBody>
      </p:sp>
      <p:sp>
        <p:nvSpPr>
          <p:cNvPr id="6" name="Shape 4"/>
          <p:cNvSpPr/>
          <p:nvPr/>
        </p:nvSpPr>
        <p:spPr>
          <a:xfrm>
            <a:off x="777240" y="2331720"/>
            <a:ext cx="411480" cy="411480"/>
          </a:xfrm>
          <a:prstGeom prst="ellipse">
            <a:avLst/>
          </a:prstGeom>
          <a:solidFill>
            <a:srgbClr val="06B6D4"/>
          </a:solidFill>
          <a:ln/>
        </p:spPr>
        <p:txBody>
          <a:bodyPr/>
          <a:lstStyle/>
          <a:p>
            <a:endParaRPr lang="en-GB"/>
          </a:p>
        </p:txBody>
      </p:sp>
      <p:sp>
        <p:nvSpPr>
          <p:cNvPr id="7" name="Text 5"/>
          <p:cNvSpPr/>
          <p:nvPr/>
        </p:nvSpPr>
        <p:spPr>
          <a:xfrm>
            <a:off x="777240" y="233172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71600" y="2286000"/>
            <a:ext cx="530352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Profile before you query.</a:t>
            </a:r>
            <a:endParaRPr lang="en-US" sz="1400" dirty="0"/>
          </a:p>
        </p:txBody>
      </p:sp>
      <p:sp>
        <p:nvSpPr>
          <p:cNvPr id="9" name="Text 7"/>
          <p:cNvSpPr/>
          <p:nvPr/>
        </p:nvSpPr>
        <p:spPr>
          <a:xfrm>
            <a:off x="1371600" y="2606040"/>
            <a:ext cx="530352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Trust nothing until you've inspected it.</a:t>
            </a:r>
            <a:endParaRPr lang="en-US" sz="1100" dirty="0"/>
          </a:p>
        </p:txBody>
      </p:sp>
      <p:sp>
        <p:nvSpPr>
          <p:cNvPr id="10" name="Shape 8"/>
          <p:cNvSpPr/>
          <p:nvPr/>
        </p:nvSpPr>
        <p:spPr>
          <a:xfrm>
            <a:off x="777240" y="3108960"/>
            <a:ext cx="411480" cy="411480"/>
          </a:xfrm>
          <a:prstGeom prst="ellipse">
            <a:avLst/>
          </a:prstGeom>
          <a:solidFill>
            <a:srgbClr val="06B6D4"/>
          </a:solidFill>
          <a:ln/>
        </p:spPr>
        <p:txBody>
          <a:bodyPr/>
          <a:lstStyle/>
          <a:p>
            <a:endParaRPr lang="en-GB"/>
          </a:p>
        </p:txBody>
      </p:sp>
      <p:sp>
        <p:nvSpPr>
          <p:cNvPr id="11" name="Text 9"/>
          <p:cNvSpPr/>
          <p:nvPr/>
        </p:nvSpPr>
        <p:spPr>
          <a:xfrm>
            <a:off x="777240" y="310896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71600" y="3063240"/>
            <a:ext cx="530352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The four lenses.</a:t>
            </a:r>
            <a:endParaRPr lang="en-US" sz="1400" dirty="0"/>
          </a:p>
        </p:txBody>
      </p:sp>
      <p:sp>
        <p:nvSpPr>
          <p:cNvPr id="13" name="Text 11"/>
          <p:cNvSpPr/>
          <p:nvPr/>
        </p:nvSpPr>
        <p:spPr>
          <a:xfrm>
            <a:off x="1371600" y="3383280"/>
            <a:ext cx="530352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Shape, completeness, uniqueness, range.</a:t>
            </a:r>
            <a:endParaRPr lang="en-US" sz="1100" dirty="0"/>
          </a:p>
        </p:txBody>
      </p:sp>
      <p:sp>
        <p:nvSpPr>
          <p:cNvPr id="14" name="Shape 12"/>
          <p:cNvSpPr/>
          <p:nvPr/>
        </p:nvSpPr>
        <p:spPr>
          <a:xfrm>
            <a:off x="777240" y="3886200"/>
            <a:ext cx="411480" cy="411480"/>
          </a:xfrm>
          <a:prstGeom prst="ellipse">
            <a:avLst/>
          </a:prstGeom>
          <a:solidFill>
            <a:srgbClr val="06B6D4"/>
          </a:solidFill>
          <a:ln/>
        </p:spPr>
        <p:txBody>
          <a:bodyPr/>
          <a:lstStyle/>
          <a:p>
            <a:endParaRPr lang="en-GB"/>
          </a:p>
        </p:txBody>
      </p:sp>
      <p:sp>
        <p:nvSpPr>
          <p:cNvPr id="15" name="Text 13"/>
          <p:cNvSpPr/>
          <p:nvPr/>
        </p:nvSpPr>
        <p:spPr>
          <a:xfrm>
            <a:off x="777240" y="38862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371600" y="3840480"/>
            <a:ext cx="530352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Anomalies wear disguises.</a:t>
            </a:r>
            <a:endParaRPr lang="en-US" sz="1400" dirty="0"/>
          </a:p>
        </p:txBody>
      </p:sp>
      <p:sp>
        <p:nvSpPr>
          <p:cNvPr id="17" name="Text 15"/>
          <p:cNvSpPr/>
          <p:nvPr/>
        </p:nvSpPr>
        <p:spPr>
          <a:xfrm>
            <a:off x="1371600" y="4160520"/>
            <a:ext cx="530352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Statistical, format, sentinel, cross-field.</a:t>
            </a:r>
            <a:endParaRPr lang="en-US" sz="1100" dirty="0"/>
          </a:p>
        </p:txBody>
      </p:sp>
      <p:sp>
        <p:nvSpPr>
          <p:cNvPr id="18" name="Shape 16"/>
          <p:cNvSpPr/>
          <p:nvPr/>
        </p:nvSpPr>
        <p:spPr>
          <a:xfrm>
            <a:off x="777240" y="4663440"/>
            <a:ext cx="411480" cy="411480"/>
          </a:xfrm>
          <a:prstGeom prst="ellipse">
            <a:avLst/>
          </a:prstGeom>
          <a:solidFill>
            <a:srgbClr val="06B6D4"/>
          </a:solidFill>
          <a:ln/>
        </p:spPr>
        <p:txBody>
          <a:bodyPr/>
          <a:lstStyle/>
          <a:p>
            <a:endParaRPr lang="en-GB"/>
          </a:p>
        </p:txBody>
      </p:sp>
      <p:sp>
        <p:nvSpPr>
          <p:cNvPr id="19" name="Text 17"/>
          <p:cNvSpPr/>
          <p:nvPr/>
        </p:nvSpPr>
        <p:spPr>
          <a:xfrm>
            <a:off x="777240" y="46634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371600" y="4617720"/>
            <a:ext cx="530352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Repeat the profile.</a:t>
            </a:r>
            <a:endParaRPr lang="en-US" sz="1400" dirty="0"/>
          </a:p>
        </p:txBody>
      </p:sp>
      <p:sp>
        <p:nvSpPr>
          <p:cNvPr id="21" name="Text 19"/>
          <p:cNvSpPr/>
          <p:nvPr/>
        </p:nvSpPr>
        <p:spPr>
          <a:xfrm>
            <a:off x="1371600" y="4937760"/>
            <a:ext cx="530352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Data drifts. Schedule it.</a:t>
            </a:r>
            <a:endParaRPr lang="en-US" sz="1100" dirty="0"/>
          </a:p>
        </p:txBody>
      </p:sp>
      <p:sp>
        <p:nvSpPr>
          <p:cNvPr id="22" name="Shape 20"/>
          <p:cNvSpPr/>
          <p:nvPr/>
        </p:nvSpPr>
        <p:spPr>
          <a:xfrm>
            <a:off x="777240" y="5440680"/>
            <a:ext cx="411480" cy="411480"/>
          </a:xfrm>
          <a:prstGeom prst="ellipse">
            <a:avLst/>
          </a:prstGeom>
          <a:solidFill>
            <a:srgbClr val="06B6D4"/>
          </a:solidFill>
          <a:ln/>
        </p:spPr>
        <p:txBody>
          <a:bodyPr/>
          <a:lstStyle/>
          <a:p>
            <a:endParaRPr lang="en-GB"/>
          </a:p>
        </p:txBody>
      </p:sp>
      <p:sp>
        <p:nvSpPr>
          <p:cNvPr id="23" name="Text 21"/>
          <p:cNvSpPr/>
          <p:nvPr/>
        </p:nvSpPr>
        <p:spPr>
          <a:xfrm>
            <a:off x="777240" y="5440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371600" y="5394960"/>
            <a:ext cx="530352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AI is a partner, not a substitute.</a:t>
            </a:r>
            <a:endParaRPr lang="en-US" sz="1400" dirty="0"/>
          </a:p>
        </p:txBody>
      </p:sp>
      <p:sp>
        <p:nvSpPr>
          <p:cNvPr id="25" name="Text 23"/>
          <p:cNvSpPr/>
          <p:nvPr/>
        </p:nvSpPr>
        <p:spPr>
          <a:xfrm>
            <a:off x="1371600" y="5715000"/>
            <a:ext cx="530352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It drafts. You verify.</a:t>
            </a:r>
            <a:endParaRPr lang="en-US" sz="1100" dirty="0"/>
          </a:p>
        </p:txBody>
      </p:sp>
      <p:sp>
        <p:nvSpPr>
          <p:cNvPr id="26" name="Shape 24"/>
          <p:cNvSpPr/>
          <p:nvPr/>
        </p:nvSpPr>
        <p:spPr>
          <a:xfrm>
            <a:off x="7132320" y="1783080"/>
            <a:ext cx="4572000" cy="4572000"/>
          </a:xfrm>
          <a:prstGeom prst="rect">
            <a:avLst/>
          </a:prstGeom>
          <a:solidFill>
            <a:srgbClr val="0F172A"/>
          </a:solidFill>
          <a:ln/>
        </p:spPr>
        <p:txBody>
          <a:bodyPr/>
          <a:lstStyle/>
          <a:p>
            <a:endParaRPr lang="en-GB"/>
          </a:p>
        </p:txBody>
      </p:sp>
      <p:sp>
        <p:nvSpPr>
          <p:cNvPr id="27" name="Text 25"/>
          <p:cNvSpPr/>
          <p:nvPr/>
        </p:nvSpPr>
        <p:spPr>
          <a:xfrm>
            <a:off x="7315200" y="1965960"/>
            <a:ext cx="4206240" cy="274320"/>
          </a:xfrm>
          <a:prstGeom prst="rect">
            <a:avLst/>
          </a:prstGeom>
          <a:noFill/>
          <a:ln/>
        </p:spPr>
        <p:txBody>
          <a:bodyPr wrap="square" lIns="0" tIns="0" rIns="0" bIns="0" rtlCol="0" anchor="ctr"/>
          <a:lstStyle/>
          <a:p>
            <a:pPr marL="0" indent="0">
              <a:buNone/>
            </a:pPr>
            <a:r>
              <a:rPr lang="en-US" sz="1000" b="1" kern="0" spc="300" dirty="0">
                <a:solidFill>
                  <a:srgbClr val="06B6D4"/>
                </a:solidFill>
                <a:latin typeface="Calibri" pitchFamily="34" charset="0"/>
                <a:ea typeface="Calibri" pitchFamily="34" charset="-122"/>
                <a:cs typeface="Calibri" pitchFamily="34" charset="-120"/>
              </a:rPr>
              <a:t>30 MAY 2026  |  1:00 PM UK</a:t>
            </a:r>
            <a:endParaRPr lang="en-US" sz="1000" dirty="0"/>
          </a:p>
        </p:txBody>
      </p:sp>
      <p:sp>
        <p:nvSpPr>
          <p:cNvPr id="28" name="Text 26"/>
          <p:cNvSpPr/>
          <p:nvPr/>
        </p:nvSpPr>
        <p:spPr>
          <a:xfrm>
            <a:off x="7315200" y="2286000"/>
            <a:ext cx="4206240" cy="8229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Profiling for Data Quality</a:t>
            </a:r>
            <a:endParaRPr lang="en-US" sz="2200" dirty="0"/>
          </a:p>
        </p:txBody>
      </p:sp>
      <p:sp>
        <p:nvSpPr>
          <p:cNvPr id="29" name="Text 27"/>
          <p:cNvSpPr/>
          <p:nvPr/>
        </p:nvSpPr>
        <p:spPr>
          <a:xfrm>
            <a:off x="7315200" y="3200400"/>
            <a:ext cx="4206240" cy="54864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Today's profiling, turned into automated quality checks.</a:t>
            </a:r>
            <a:endParaRPr lang="en-US" sz="1300" dirty="0"/>
          </a:p>
        </p:txBody>
      </p:sp>
      <p:sp>
        <p:nvSpPr>
          <p:cNvPr id="30" name="Shape 28"/>
          <p:cNvSpPr/>
          <p:nvPr/>
        </p:nvSpPr>
        <p:spPr>
          <a:xfrm>
            <a:off x="7315200" y="3886200"/>
            <a:ext cx="914400" cy="36576"/>
          </a:xfrm>
          <a:prstGeom prst="rect">
            <a:avLst/>
          </a:prstGeom>
          <a:solidFill>
            <a:srgbClr val="F59E0B"/>
          </a:solidFill>
          <a:ln/>
        </p:spPr>
        <p:txBody>
          <a:bodyPr/>
          <a:lstStyle/>
          <a:p>
            <a:endParaRPr lang="en-GB"/>
          </a:p>
        </p:txBody>
      </p:sp>
      <p:sp>
        <p:nvSpPr>
          <p:cNvPr id="31" name="Text 29"/>
          <p:cNvSpPr/>
          <p:nvPr/>
        </p:nvSpPr>
        <p:spPr>
          <a:xfrm>
            <a:off x="7315200" y="4023360"/>
            <a:ext cx="4206240" cy="274320"/>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HOMEWORK</a:t>
            </a:r>
            <a:endParaRPr lang="en-US" sz="1000" dirty="0"/>
          </a:p>
        </p:txBody>
      </p:sp>
      <p:sp>
        <p:nvSpPr>
          <p:cNvPr id="32" name="Text 30"/>
          <p:cNvSpPr/>
          <p:nvPr/>
        </p:nvSpPr>
        <p:spPr>
          <a:xfrm>
            <a:off x="7315200" y="4343400"/>
            <a:ext cx="4206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Finish Exercises 5, 6, 7</a:t>
            </a:r>
            <a:endParaRPr lang="en-US" sz="1200" dirty="0"/>
          </a:p>
        </p:txBody>
      </p:sp>
      <p:sp>
        <p:nvSpPr>
          <p:cNvPr id="33" name="Text 31"/>
          <p:cNvSpPr/>
          <p:nvPr/>
        </p:nvSpPr>
        <p:spPr>
          <a:xfrm>
            <a:off x="7315200" y="4754880"/>
            <a:ext cx="4206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Read the cheat sheet</a:t>
            </a:r>
            <a:endParaRPr lang="en-US" sz="1200" dirty="0"/>
          </a:p>
        </p:txBody>
      </p:sp>
      <p:sp>
        <p:nvSpPr>
          <p:cNvPr id="34" name="Text 32"/>
          <p:cNvSpPr/>
          <p:nvPr/>
        </p:nvSpPr>
        <p:spPr>
          <a:xfrm>
            <a:off x="7315200" y="5166360"/>
            <a:ext cx="4206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Bring one profile finding from your own data</a:t>
            </a:r>
            <a:endParaRPr lang="en-US" sz="1200" dirty="0"/>
          </a:p>
        </p:txBody>
      </p:sp>
      <p:sp>
        <p:nvSpPr>
          <p:cNvPr id="36" name="Shape 33"/>
          <p:cNvSpPr/>
          <p:nvPr/>
        </p:nvSpPr>
        <p:spPr>
          <a:xfrm>
            <a:off x="0" y="6583680"/>
            <a:ext cx="12191695" cy="18288"/>
          </a:xfrm>
          <a:prstGeom prst="rect">
            <a:avLst/>
          </a:prstGeom>
          <a:solidFill>
            <a:srgbClr val="E2E8F0"/>
          </a:solidFill>
          <a:ln/>
        </p:spPr>
        <p:txBody>
          <a:bodyPr/>
          <a:lstStyle/>
          <a:p>
            <a:endParaRPr lang="en-GB"/>
          </a:p>
        </p:txBody>
      </p:sp>
      <p:sp>
        <p:nvSpPr>
          <p:cNvPr id="37" name="Text 34"/>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38" name="Text 35"/>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103120"/>
            <a:ext cx="11247120" cy="914400"/>
          </a:xfrm>
          <a:prstGeom prst="rect">
            <a:avLst/>
          </a:prstGeom>
          <a:noFill/>
          <a:ln/>
        </p:spPr>
        <p:txBody>
          <a:bodyPr wrap="square" lIns="0" tIns="0" rIns="0" bIns="0" rtlCol="0" anchor="ctr"/>
          <a:lstStyle/>
          <a:p>
            <a:pPr marL="0" indent="0" algn="ctr">
              <a:buNone/>
            </a:pPr>
            <a:r>
              <a:rPr lang="en-US" sz="8000" b="1" kern="0" spc="600" dirty="0">
                <a:solidFill>
                  <a:srgbClr val="FFFFFF"/>
                </a:solidFill>
                <a:latin typeface="Calibri" pitchFamily="34" charset="0"/>
                <a:ea typeface="Calibri" pitchFamily="34" charset="-122"/>
                <a:cs typeface="Calibri" pitchFamily="34" charset="-120"/>
              </a:rPr>
              <a:t>QUESTIONS?</a:t>
            </a:r>
            <a:endParaRPr lang="en-US" sz="8000" dirty="0"/>
          </a:p>
        </p:txBody>
      </p:sp>
      <p:sp>
        <p:nvSpPr>
          <p:cNvPr id="3" name="Shape 1"/>
          <p:cNvSpPr/>
          <p:nvPr/>
        </p:nvSpPr>
        <p:spPr>
          <a:xfrm>
            <a:off x="4754880" y="4119372"/>
            <a:ext cx="261257" cy="452628"/>
          </a:xfrm>
          <a:prstGeom prst="rect">
            <a:avLst/>
          </a:prstGeom>
          <a:solidFill>
            <a:srgbClr val="06B6D4"/>
          </a:solidFill>
          <a:ln/>
        </p:spPr>
        <p:txBody>
          <a:bodyPr/>
          <a:lstStyle/>
          <a:p>
            <a:endParaRPr lang="en-GB"/>
          </a:p>
        </p:txBody>
      </p:sp>
      <p:sp>
        <p:nvSpPr>
          <p:cNvPr id="4" name="Shape 2"/>
          <p:cNvSpPr/>
          <p:nvPr/>
        </p:nvSpPr>
        <p:spPr>
          <a:xfrm>
            <a:off x="5146766" y="3867912"/>
            <a:ext cx="261257" cy="704088"/>
          </a:xfrm>
          <a:prstGeom prst="rect">
            <a:avLst/>
          </a:prstGeom>
          <a:solidFill>
            <a:srgbClr val="06B6D4"/>
          </a:solidFill>
          <a:ln/>
        </p:spPr>
        <p:txBody>
          <a:bodyPr/>
          <a:lstStyle/>
          <a:p>
            <a:endParaRPr lang="en-GB"/>
          </a:p>
        </p:txBody>
      </p:sp>
      <p:sp>
        <p:nvSpPr>
          <p:cNvPr id="5" name="Shape 3"/>
          <p:cNvSpPr/>
          <p:nvPr/>
        </p:nvSpPr>
        <p:spPr>
          <a:xfrm>
            <a:off x="5538651" y="3616452"/>
            <a:ext cx="261257" cy="955548"/>
          </a:xfrm>
          <a:prstGeom prst="rect">
            <a:avLst/>
          </a:prstGeom>
          <a:solidFill>
            <a:srgbClr val="06B6D4"/>
          </a:solidFill>
          <a:ln/>
        </p:spPr>
        <p:txBody>
          <a:bodyPr/>
          <a:lstStyle/>
          <a:p>
            <a:endParaRPr lang="en-GB"/>
          </a:p>
        </p:txBody>
      </p:sp>
      <p:sp>
        <p:nvSpPr>
          <p:cNvPr id="6" name="Shape 4"/>
          <p:cNvSpPr/>
          <p:nvPr/>
        </p:nvSpPr>
        <p:spPr>
          <a:xfrm>
            <a:off x="5930537" y="3767328"/>
            <a:ext cx="261257" cy="804672"/>
          </a:xfrm>
          <a:prstGeom prst="rect">
            <a:avLst/>
          </a:prstGeom>
          <a:solidFill>
            <a:srgbClr val="06B6D4"/>
          </a:solidFill>
          <a:ln/>
        </p:spPr>
        <p:txBody>
          <a:bodyPr/>
          <a:lstStyle/>
          <a:p>
            <a:endParaRPr lang="en-GB"/>
          </a:p>
        </p:txBody>
      </p:sp>
      <p:sp>
        <p:nvSpPr>
          <p:cNvPr id="7" name="Shape 5"/>
          <p:cNvSpPr/>
          <p:nvPr/>
        </p:nvSpPr>
        <p:spPr>
          <a:xfrm>
            <a:off x="6322423" y="4018788"/>
            <a:ext cx="261257" cy="553212"/>
          </a:xfrm>
          <a:prstGeom prst="rect">
            <a:avLst/>
          </a:prstGeom>
          <a:solidFill>
            <a:srgbClr val="06B6D4"/>
          </a:solidFill>
          <a:ln/>
        </p:spPr>
        <p:txBody>
          <a:bodyPr/>
          <a:lstStyle/>
          <a:p>
            <a:endParaRPr lang="en-GB"/>
          </a:p>
        </p:txBody>
      </p:sp>
      <p:sp>
        <p:nvSpPr>
          <p:cNvPr id="8" name="Shape 6"/>
          <p:cNvSpPr/>
          <p:nvPr/>
        </p:nvSpPr>
        <p:spPr>
          <a:xfrm>
            <a:off x="6714309" y="4219956"/>
            <a:ext cx="261257" cy="352044"/>
          </a:xfrm>
          <a:prstGeom prst="rect">
            <a:avLst/>
          </a:prstGeom>
          <a:solidFill>
            <a:srgbClr val="06B6D4"/>
          </a:solidFill>
          <a:ln/>
        </p:spPr>
        <p:txBody>
          <a:bodyPr/>
          <a:lstStyle/>
          <a:p>
            <a:endParaRPr lang="en-GB"/>
          </a:p>
        </p:txBody>
      </p:sp>
      <p:sp>
        <p:nvSpPr>
          <p:cNvPr id="9" name="Shape 7"/>
          <p:cNvSpPr/>
          <p:nvPr/>
        </p:nvSpPr>
        <p:spPr>
          <a:xfrm>
            <a:off x="7106194" y="4370832"/>
            <a:ext cx="261257" cy="201168"/>
          </a:xfrm>
          <a:prstGeom prst="rect">
            <a:avLst/>
          </a:prstGeom>
          <a:solidFill>
            <a:srgbClr val="06B6D4"/>
          </a:solidFill>
          <a:ln/>
        </p:spPr>
        <p:txBody>
          <a:bodyPr/>
          <a:lstStyle/>
          <a:p>
            <a:endParaRPr lang="en-GB"/>
          </a:p>
        </p:txBody>
      </p:sp>
      <p:sp>
        <p:nvSpPr>
          <p:cNvPr id="10" name="Shape 8"/>
          <p:cNvSpPr/>
          <p:nvPr/>
        </p:nvSpPr>
        <p:spPr>
          <a:xfrm>
            <a:off x="4754880" y="4572000"/>
            <a:ext cx="2743200" cy="18288"/>
          </a:xfrm>
          <a:prstGeom prst="rect">
            <a:avLst/>
          </a:prstGeom>
          <a:solidFill>
            <a:srgbClr val="06B6D4"/>
          </a:solidFill>
          <a:ln/>
        </p:spPr>
        <p:txBody>
          <a:bodyPr/>
          <a:lstStyle/>
          <a:p>
            <a:endParaRPr lang="en-GB"/>
          </a:p>
        </p:txBody>
      </p:sp>
      <p:sp>
        <p:nvSpPr>
          <p:cNvPr id="11" name="Shape 9"/>
          <p:cNvSpPr/>
          <p:nvPr/>
        </p:nvSpPr>
        <p:spPr>
          <a:xfrm>
            <a:off x="5029200" y="3383280"/>
            <a:ext cx="1554480" cy="1554480"/>
          </a:xfrm>
          <a:prstGeom prst="ellipse">
            <a:avLst/>
          </a:prstGeom>
          <a:solidFill>
            <a:srgbClr val="0F172A">
              <a:alpha val="70000"/>
            </a:srgbClr>
          </a:solidFill>
          <a:ln w="38100">
            <a:solidFill>
              <a:srgbClr val="F59E0B"/>
            </a:solidFill>
            <a:prstDash val="solid"/>
          </a:ln>
        </p:spPr>
        <p:txBody>
          <a:bodyPr/>
          <a:lstStyle/>
          <a:p>
            <a:endParaRPr lang="en-GB"/>
          </a:p>
        </p:txBody>
      </p:sp>
      <p:sp>
        <p:nvSpPr>
          <p:cNvPr id="12" name="Shape 10"/>
          <p:cNvSpPr/>
          <p:nvPr/>
        </p:nvSpPr>
        <p:spPr>
          <a:xfrm>
            <a:off x="6400800" y="4754880"/>
            <a:ext cx="640080" cy="640080"/>
          </a:xfrm>
          <a:prstGeom prst="line">
            <a:avLst/>
          </a:prstGeom>
          <a:noFill/>
          <a:ln w="63500">
            <a:solidFill>
              <a:srgbClr val="F59E0B"/>
            </a:solidFill>
            <a:prstDash val="solid"/>
          </a:ln>
        </p:spPr>
        <p:txBody>
          <a:bodyPr/>
          <a:lstStyle/>
          <a:p>
            <a:endParaRPr lang="en-GB"/>
          </a:p>
        </p:txBody>
      </p:sp>
      <p:sp>
        <p:nvSpPr>
          <p:cNvPr id="13" name="Text 11"/>
          <p:cNvSpPr/>
          <p:nvPr/>
        </p:nvSpPr>
        <p:spPr>
          <a:xfrm>
            <a:off x="457200" y="5486400"/>
            <a:ext cx="11247120" cy="365760"/>
          </a:xfrm>
          <a:prstGeom prst="rect">
            <a:avLst/>
          </a:prstGeom>
          <a:noFill/>
          <a:ln/>
        </p:spPr>
        <p:txBody>
          <a:bodyPr wrap="square" lIns="0" tIns="0" rIns="0" bIns="0" rtlCol="0" anchor="ctr"/>
          <a:lstStyle/>
          <a:p>
            <a:pPr marL="0" indent="0" algn="ctr">
              <a:buNone/>
            </a:pPr>
            <a:r>
              <a:rPr lang="en-US" sz="1800" i="1" dirty="0">
                <a:solidFill>
                  <a:srgbClr val="CBD5E1"/>
                </a:solidFill>
                <a:latin typeface="Calibri" pitchFamily="34" charset="0"/>
                <a:ea typeface="Calibri" pitchFamily="34" charset="-122"/>
                <a:cs typeface="Calibri" pitchFamily="34" charset="-120"/>
              </a:rPr>
              <a:t>Drop them in chat or unmute.</a:t>
            </a:r>
            <a:endParaRPr lang="en-US" sz="1800" dirty="0"/>
          </a:p>
        </p:txBody>
      </p:sp>
      <p:sp>
        <p:nvSpPr>
          <p:cNvPr id="14" name="Text 12"/>
          <p:cNvSpPr/>
          <p:nvPr/>
        </p:nvSpPr>
        <p:spPr>
          <a:xfrm>
            <a:off x="457200" y="5943600"/>
            <a:ext cx="11247120" cy="365760"/>
          </a:xfrm>
          <a:prstGeom prst="rect">
            <a:avLst/>
          </a:prstGeom>
          <a:noFill/>
          <a:ln/>
        </p:spPr>
        <p:txBody>
          <a:bodyPr wrap="square" lIns="0" tIns="0" rIns="0" bIns="0" rtlCol="0" anchor="ctr"/>
          <a:lstStyle/>
          <a:p>
            <a:pPr marL="0" indent="0" algn="ctr">
              <a:buNone/>
            </a:pPr>
            <a:r>
              <a:rPr lang="en-US" sz="1400" dirty="0">
                <a:solidFill>
                  <a:srgbClr val="06B6D4"/>
                </a:solidFill>
                <a:latin typeface="Calibri" pitchFamily="34" charset="0"/>
                <a:ea typeface="Calibri" pitchFamily="34" charset="-122"/>
                <a:cs typeface="Calibri" pitchFamily="34" charset="-120"/>
              </a:rPr>
              <a:t>Thank you - see you next Saturday for Profiling for Data Quality.</a:t>
            </a:r>
            <a:endParaRPr lang="en-US" sz="1400" dirty="0"/>
          </a:p>
        </p:txBody>
      </p:sp>
      <p:sp>
        <p:nvSpPr>
          <p:cNvPr id="16" name="Shape 13"/>
          <p:cNvSpPr/>
          <p:nvPr/>
        </p:nvSpPr>
        <p:spPr>
          <a:xfrm>
            <a:off x="0" y="6583680"/>
            <a:ext cx="12191695" cy="18288"/>
          </a:xfrm>
          <a:prstGeom prst="rect">
            <a:avLst/>
          </a:prstGeom>
          <a:solidFill>
            <a:srgbClr val="E2E8F0"/>
          </a:solidFill>
          <a:ln/>
        </p:spPr>
        <p:txBody>
          <a:bodyPr/>
          <a:lstStyle/>
          <a:p>
            <a:endParaRPr lang="en-GB"/>
          </a:p>
        </p:txBody>
      </p:sp>
      <p:sp>
        <p:nvSpPr>
          <p:cNvPr id="17" name="Text 14"/>
          <p:cNvSpPr/>
          <p:nvPr/>
        </p:nvSpPr>
        <p:spPr>
          <a:xfrm>
            <a:off x="457200" y="660196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The AI Workshop  |  SQL Bootcamp - Week 10</a:t>
            </a:r>
            <a:endParaRPr lang="en-US" sz="900" dirty="0"/>
          </a:p>
        </p:txBody>
      </p:sp>
      <p:sp>
        <p:nvSpPr>
          <p:cNvPr id="18" name="Text 15"/>
          <p:cNvSpPr/>
          <p:nvPr/>
        </p:nvSpPr>
        <p:spPr>
          <a:xfrm>
            <a:off x="10789920" y="6601968"/>
            <a:ext cx="91440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6894</Words>
  <Application>Microsoft Office PowerPoint</Application>
  <PresentationFormat>Widescreen</PresentationFormat>
  <Paragraphs>648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AI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Profiling - Week 10</dc:title>
  <dc:subject>PptxGenJS Presentation</dc:subject>
  <dc:creator>Kelechi Odoemena</dc:creator>
  <cp:lastModifiedBy>Kelechi Odoemena</cp:lastModifiedBy>
  <cp:revision>2</cp:revision>
  <dcterms:created xsi:type="dcterms:W3CDTF">2026-05-23T09:11:13Z</dcterms:created>
  <dcterms:modified xsi:type="dcterms:W3CDTF">2026-05-23T09:36:11Z</dcterms:modified>
</cp:coreProperties>
</file>